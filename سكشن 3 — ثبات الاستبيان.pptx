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اسأل الطلاب: لو الاستبيان طلع غلط، مين يتحمل نتيجة القرار؟ ثم انتقل لخطة السكشن.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هذه الحالة هي الخيط الذي يربط السكاشن القادمة: الجزء (أ) سنستخدمه لاحقًا في المقارنة بين المجموعات، والجزء (ب) نبدأ به اليوم.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اطلب من الطلاب ملاحظة أن q4 مكتوبة عكس باقي العبارات: الموافقة عليها تعني اتجاهًا سلبيًا. سنرى أثر ذلك على الثبات في التمرين.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ابدأ بسؤال: لو الميزان أعطاك ثلاث قراءات مختلفة هل تثق فيه؟ الاستبيان أداة قياس مثل الميزان، والعينة الصغيرة اسمها عينة استطلاعية (Pilot) نختبر بها الأداة قبل التوزيع الكبير.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ركّز على رقم 0.70 كحد أدنى. الجدول للاسترشاد فقط، وتختلف الحدود قليلًا بين المراجع.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الخطوة 4 هي التي تُخرج جدول Item-Total Statistics. بدونها يظهر جدول ألفا فقط.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يدخل الطلاب البيانات بأنفسهم: في Variable View يعرّفون q1 إلى q6 (Numeric، Decimals = 0، Measure = Ordinal، ويكتبون نص العبارة في Label)، ثم يدخلون الصفوف العشرة في Data View. المقياس: 1 = لا أوافق بشدة حتى 5 = أوافق بشدة. المطلوب الثالث: Statistics ثم Scale if item deleted لتحديد السؤال الذي يرفع حذفه قيمة ألفا.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1 a (.627) | 2 c ضعيف | 3 c (q4) | 4 c (.828)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باقي العبارات حذفها يخفض ألفا (كل القيم أقل من .627)، إذن هي عبارات جيدة نحتفظ بها.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لو عكسنا ترميز q4 بدل حذفها تصبح ألفا 0.787. لن نطبق خطوات Recode اليوم. الدرس: عند تصميم الاستبيان انتبه للعبارات السلبية.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1 c (.888) | 2 d جيد | 3 c لا نحذف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حذف q4 يرفع ألفا من .888 إلى .899 فقط. فرق صغير لا يستحق خسارة عبارة تقيس جانبًا مهمًا. نحذف فقط عندما يكون الثبات ضعيفًا أو العبارة معكوسة.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1 b | 2 b | 3 a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1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8341"/>
            <a:ext cx="10566400" cy="4086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1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8341"/>
            <a:ext cx="10566400" cy="4086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346200"/>
            <a:ext cx="4165600" cy="416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4264" y="195834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5414264" y="2374900"/>
            <a:ext cx="596493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i="0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ثبات الاستبيان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5414264" y="3492500"/>
            <a:ext cx="5964936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860"/>
              </a:lnSpc>
              <a:buNone/>
            </a:pPr>
            <a:r>
              <a:rPr lang="ar-EG" sz="2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معامل ألفا كرونباخ: هل يمكن الوثوق في إجابات الاستبيان؟</a:t>
            </a:r>
            <a:endParaRPr lang="ar-EG" sz="2200" dirty="0"/>
          </a:p>
        </p:txBody>
      </p:sp>
      <p:sp>
        <p:nvSpPr>
          <p:cNvPr id="6" name="Shape 3"/>
          <p:cNvSpPr/>
          <p:nvPr/>
        </p:nvSpPr>
        <p:spPr>
          <a:xfrm>
            <a:off x="10617200" y="4422140"/>
            <a:ext cx="762000" cy="254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4"/>
          <p:cNvSpPr/>
          <p:nvPr/>
        </p:nvSpPr>
        <p:spPr>
          <a:xfrm>
            <a:off x="5414264" y="4650740"/>
            <a:ext cx="596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Horus University ·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450" y="1884680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أن نبدأ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68450" y="2352040"/>
            <a:ext cx="9810750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5520"/>
              </a:lnSpc>
              <a:buNone/>
            </a:pPr>
            <a:r>
              <a:rPr lang="ar-EG" sz="4800" b="1" i="0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قرار بملايين الجنيهات مبني على 6 أسئلة</a:t>
            </a:r>
            <a:endParaRPr lang="ar-EG" sz="4800" dirty="0"/>
          </a:p>
        </p:txBody>
      </p:sp>
      <p:sp>
        <p:nvSpPr>
          <p:cNvPr id="4" name="Text 2"/>
          <p:cNvSpPr/>
          <p:nvPr/>
        </p:nvSpPr>
        <p:spPr>
          <a:xfrm>
            <a:off x="1568450" y="4008120"/>
            <a:ext cx="98107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000"/>
              </a:lnSpc>
              <a:buNone/>
            </a:pPr>
            <a:r>
              <a:rPr lang="ar-EG" sz="20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الجامعة ستقرر تحويل مواد كاملة إلى أونلاين بناءً على رأي الطلاب. لو الاستبيان نفسه لا يقيس بثبات، فالقرار كله سيُبنى على أرقام لا يُعتمد عليها.</a:t>
            </a:r>
            <a:endParaRPr lang="ar-EG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6238241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08390" y="6238241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خطة السكشن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ماذا سنتعلم اليوم؟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517144" y="2098041"/>
            <a:ext cx="1015085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دراسة الحالة: استبيان التعليم الإلكتروني وعباراته الست</a:t>
            </a:r>
            <a:endParaRPr lang="ar-EG" sz="1800" dirty="0"/>
          </a:p>
        </p:txBody>
      </p:sp>
      <p:sp>
        <p:nvSpPr>
          <p:cNvPr id="5" name="Text 3"/>
          <p:cNvSpPr/>
          <p:nvPr/>
        </p:nvSpPr>
        <p:spPr>
          <a:xfrm>
            <a:off x="10871200" y="2104391"/>
            <a:ext cx="508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538095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144" y="2679700"/>
            <a:ext cx="1015085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لماذا نقيس ثبات الاستبيان قبل تحليله؟</a:t>
            </a:r>
            <a:endParaRPr lang="ar-EG" sz="1800" dirty="0"/>
          </a:p>
        </p:txBody>
      </p:sp>
      <p:sp>
        <p:nvSpPr>
          <p:cNvPr id="8" name="Text 6"/>
          <p:cNvSpPr/>
          <p:nvPr/>
        </p:nvSpPr>
        <p:spPr>
          <a:xfrm>
            <a:off x="10871200" y="2686050"/>
            <a:ext cx="508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119755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144" y="3261361"/>
            <a:ext cx="1015085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معامل ألفا كرونباخ وكيف نحكم على قيمته</a:t>
            </a:r>
            <a:endParaRPr lang="ar-EG" sz="1800" dirty="0"/>
          </a:p>
        </p:txBody>
      </p:sp>
      <p:sp>
        <p:nvSpPr>
          <p:cNvPr id="11" name="Text 9"/>
          <p:cNvSpPr/>
          <p:nvPr/>
        </p:nvSpPr>
        <p:spPr>
          <a:xfrm>
            <a:off x="10871200" y="3267711"/>
            <a:ext cx="508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370141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144" y="3843020"/>
            <a:ext cx="1015085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 ألفا في SPSS وقراءة جدول Item-Total Statistics</a:t>
            </a:r>
            <a:endParaRPr lang="ar-EG" sz="1800" dirty="0"/>
          </a:p>
        </p:txBody>
      </p:sp>
      <p:sp>
        <p:nvSpPr>
          <p:cNvPr id="14" name="Text 12"/>
          <p:cNvSpPr/>
          <p:nvPr/>
        </p:nvSpPr>
        <p:spPr>
          <a:xfrm>
            <a:off x="10871200" y="3849370"/>
            <a:ext cx="508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4283075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144" y="4424680"/>
            <a:ext cx="1015085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تمرينان تطبيقيان واختبار سريع</a:t>
            </a:r>
            <a:endParaRPr lang="ar-EG" sz="1800" dirty="0"/>
          </a:p>
        </p:txBody>
      </p:sp>
      <p:sp>
        <p:nvSpPr>
          <p:cNvPr id="17" name="Text 15"/>
          <p:cNvSpPr/>
          <p:nvPr/>
        </p:nvSpPr>
        <p:spPr>
          <a:xfrm>
            <a:off x="10871200" y="4431030"/>
            <a:ext cx="508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238241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08390" y="6238241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641600"/>
            <a:ext cx="457200" cy="157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8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2222500" y="347218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i="0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الحالة والثبات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80"/>
            <a:ext cx="91567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استبيان الجامعة، ولماذا نتأكد من ثباته قبل تحليله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39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08390" y="6238239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دراسة الحالة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تتوسع الجامعة في التعليم الإلكتروني؟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0714"/>
            <a:ext cx="3397250" cy="1979930"/>
          </a:xfrm>
          <a:prstGeom prst="roundRect">
            <a:avLst>
              <a:gd name="adj" fmla="val 497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15821"/>
            <a:ext cx="799465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الخطة</a:t>
            </a:r>
            <a:endParaRPr lang="ar-EG" sz="1400" dirty="0"/>
          </a:p>
        </p:txBody>
      </p:sp>
      <p:sp>
        <p:nvSpPr>
          <p:cNvPr id="6" name="Text 4"/>
          <p:cNvSpPr/>
          <p:nvPr/>
        </p:nvSpPr>
        <p:spPr>
          <a:xfrm>
            <a:off x="931469" y="2537461"/>
            <a:ext cx="307665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عينة صغيرة ثم كبيرة</a:t>
            </a:r>
            <a:endParaRPr lang="ar-EG" sz="1800" dirty="0"/>
          </a:p>
        </p:txBody>
      </p:sp>
      <p:sp>
        <p:nvSpPr>
          <p:cNvPr id="7" name="Text 5"/>
          <p:cNvSpPr/>
          <p:nvPr/>
        </p:nvSpPr>
        <p:spPr>
          <a:xfrm>
            <a:off x="931469" y="2912111"/>
            <a:ext cx="3076651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تجربة على 10 طلاب (عينة استطلاعية) للتأكد من الثبات، ثم التوزيع على 400 طالب.</a:t>
            </a:r>
            <a:endParaRPr lang="ar-EG" sz="1400" dirty="0"/>
          </a:p>
        </p:txBody>
      </p:sp>
      <p:sp>
        <p:nvSpPr>
          <p:cNvPr id="8" name="Shape 6"/>
          <p:cNvSpPr/>
          <p:nvPr/>
        </p:nvSpPr>
        <p:spPr>
          <a:xfrm>
            <a:off x="4397375" y="1910714"/>
            <a:ext cx="3397250" cy="1979930"/>
          </a:xfrm>
          <a:prstGeom prst="roundRect">
            <a:avLst>
              <a:gd name="adj" fmla="val 497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2480" y="2115821"/>
            <a:ext cx="703183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الأداة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4512869" y="2537461"/>
            <a:ext cx="307665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استبيان من جزأين</a:t>
            </a:r>
            <a:endParaRPr lang="ar-EG" sz="1800" dirty="0"/>
          </a:p>
        </p:txBody>
      </p:sp>
      <p:sp>
        <p:nvSpPr>
          <p:cNvPr id="11" name="Text 9"/>
          <p:cNvSpPr/>
          <p:nvPr/>
        </p:nvSpPr>
        <p:spPr>
          <a:xfrm>
            <a:off x="4512869" y="2912111"/>
            <a:ext cx="3076651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الجزء (أ): بيانات الطالب (النوع، الكلية، الفرقة). الجزء (ب): 6 عبارات اتجاه بمقياس ليكرت الخماسي.</a:t>
            </a:r>
            <a:endParaRPr lang="ar-EG" sz="1400" dirty="0"/>
          </a:p>
        </p:txBody>
      </p:sp>
      <p:sp>
        <p:nvSpPr>
          <p:cNvPr id="12" name="Shape 10"/>
          <p:cNvSpPr/>
          <p:nvPr/>
        </p:nvSpPr>
        <p:spPr>
          <a:xfrm>
            <a:off x="7978775" y="1910714"/>
            <a:ext cx="3397250" cy="1979930"/>
          </a:xfrm>
          <a:prstGeom prst="roundRect">
            <a:avLst>
              <a:gd name="adj" fmla="val 497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115821"/>
            <a:ext cx="723186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القرار</a:t>
            </a:r>
            <a:endParaRPr lang="ar-EG" sz="1400" dirty="0"/>
          </a:p>
        </p:txBody>
      </p:sp>
      <p:sp>
        <p:nvSpPr>
          <p:cNvPr id="14" name="Text 12"/>
          <p:cNvSpPr/>
          <p:nvPr/>
        </p:nvSpPr>
        <p:spPr>
          <a:xfrm>
            <a:off x="8094269" y="2537461"/>
            <a:ext cx="307665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إدارة الجامعة</a:t>
            </a:r>
            <a:endParaRPr lang="ar-EG" sz="1800" dirty="0"/>
          </a:p>
        </p:txBody>
      </p:sp>
      <p:sp>
        <p:nvSpPr>
          <p:cNvPr id="15" name="Text 13"/>
          <p:cNvSpPr/>
          <p:nvPr/>
        </p:nvSpPr>
        <p:spPr>
          <a:xfrm>
            <a:off x="8094269" y="2912111"/>
            <a:ext cx="3076651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تريد أن تعرف اتجاه الطلاب نحو التعليم الإلكتروني قبل تحويل بعض المواد إلى أونلاين.</a:t>
            </a:r>
            <a:endParaRPr lang="ar-EG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147821"/>
            <a:ext cx="10566400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2072" rIns="90972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سنعود إلى هذه الحالة في السكاشن القادمة: اليوم نختبر ثبات الجزء (ب)</a:t>
            </a:r>
            <a:endParaRPr lang="ar-EG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6238239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08390" y="6238239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دراسة الحالة · الجزء (ب)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العبارات الست التي سنقيسها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6739"/>
            <a:ext cx="10566400" cy="3011170"/>
          </a:xfrm>
          <a:custGeom>
            <a:avLst/>
            <a:gdLst/>
            <a:ahLst/>
            <a:cxnLst/>
            <a:rect l="l" t="t" r="r" b="b"/>
            <a:pathLst>
              <a:path w="10566400" h="301117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2960370"/>
                </a:lnTo>
                <a:arcTo hR="50800" wR="50800" stAng="0" swAng="5400000"/>
                <a:lnTo>
                  <a:pt x="50800" y="3011170"/>
                </a:lnTo>
                <a:arcTo hR="50800" wR="50800" stAng="5400000" swAng="5400000"/>
                <a:lnTo>
                  <a:pt x="0" y="2960370"/>
                </a:lnTo>
                <a:arcTo hR="44450" wR="50800" stAng="10800000" swAng="-5400000"/>
                <a:lnTo>
                  <a:pt x="10515600" y="300482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56739"/>
            <a:ext cx="10566400" cy="3011170"/>
          </a:xfrm>
          <a:custGeom>
            <a:avLst/>
            <a:gdLst/>
            <a:ahLst/>
            <a:cxnLst/>
            <a:rect l="l" t="t" r="r" b="b"/>
            <a:pathLst>
              <a:path w="10566400" h="3011170">
                <a:moveTo>
                  <a:pt x="50800" y="3011170"/>
                </a:moveTo>
                <a:lnTo>
                  <a:pt x="50800" y="301117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2960370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66899"/>
          <a:ext cx="10551160" cy="2995930"/>
        </p:xfrm>
        <a:graphic>
          <a:graphicData uri="http://schemas.openxmlformats.org/drawingml/2006/table">
            <a:tbl>
              <a:tblPr/>
              <a:tblGrid>
                <a:gridCol w="9285021"/>
                <a:gridCol w="1266139"/>
              </a:tblGrid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العبارة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الرمز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التعليم الإلكتروني يوفر وقتي ومجهودي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q1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أفهم المحاضرة المسجلة كما أفهمها في القاعة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أفضّل أن تُدرَّس بعض المواد أونلاين بالكامل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q3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أفضّل المحاضرات التقليدية على التعليم الإلكتروني (عبارة سلبية)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منصة الجامعة الإلكترونية سهلة الاستخدام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960"/>
                        </a:lnSpc>
                        <a:buNone/>
                      </a:pPr>
                      <a:r>
                        <a:rPr lang="ar-EG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أنصح زملائي بالمواد الإلكترونية</a:t>
                      </a:r>
                      <a:endParaRPr lang="ar-EG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q6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5808" y="5071111"/>
            <a:ext cx="10883392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= لا أوافق بشدة · 2 = لا أوافق · 3 = محايد · 4 = أوافق · 5 = أوافق بشدة</a:t>
            </a:r>
            <a:endParaRPr lang="ar-EG" sz="1400" dirty="0"/>
          </a:p>
        </p:txBody>
      </p:sp>
      <p:sp>
        <p:nvSpPr>
          <p:cNvPr id="8" name="Text 5"/>
          <p:cNvSpPr/>
          <p:nvPr/>
        </p:nvSpPr>
        <p:spPr>
          <a:xfrm>
            <a:off x="762000" y="6238239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08390" y="6238239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الفكرة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أداة القياس يجب أن تكون ثابتة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1514"/>
            <a:ext cx="5175250" cy="2924175"/>
          </a:xfrm>
          <a:prstGeom prst="roundRect">
            <a:avLst>
              <a:gd name="adj" fmla="val 336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17421"/>
            <a:ext cx="1084501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حالتنا</a:t>
            </a:r>
            <a:endParaRPr lang="ar-EG" sz="1400" dirty="0"/>
          </a:p>
        </p:txBody>
      </p:sp>
      <p:sp>
        <p:nvSpPr>
          <p:cNvPr id="6" name="Text 4"/>
          <p:cNvSpPr/>
          <p:nvPr/>
        </p:nvSpPr>
        <p:spPr>
          <a:xfrm>
            <a:off x="931977" y="2677161"/>
            <a:ext cx="48033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استبيان غير ثابت</a:t>
            </a:r>
            <a:endParaRPr lang="ar-EG" sz="2000" dirty="0"/>
          </a:p>
        </p:txBody>
      </p:sp>
      <p:sp>
        <p:nvSpPr>
          <p:cNvPr id="7" name="Text 5"/>
          <p:cNvSpPr/>
          <p:nvPr/>
        </p:nvSpPr>
        <p:spPr>
          <a:xfrm>
            <a:off x="931977" y="3121661"/>
            <a:ext cx="480334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لو الطالب المتحمس للتعليم الإلكتروني وافق على بعض العبارات ورفض عبارات مشابهة لها، فالعبارات لا تقيس الشيء نفسه.</a:t>
            </a:r>
            <a:endParaRPr lang="ar-EG" sz="1500" dirty="0"/>
          </a:p>
        </p:txBody>
      </p:sp>
      <p:sp>
        <p:nvSpPr>
          <p:cNvPr id="8" name="Text 6"/>
          <p:cNvSpPr/>
          <p:nvPr/>
        </p:nvSpPr>
        <p:spPr>
          <a:xfrm>
            <a:off x="931977" y="4077336"/>
            <a:ext cx="480334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هذا ما يكشفه اختبار الثبات قبل التوزيع على 400 طالب.</a:t>
            </a:r>
            <a:endParaRPr lang="ar-EG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961514"/>
            <a:ext cx="5175250" cy="2924175"/>
          </a:xfrm>
          <a:prstGeom prst="roundRect">
            <a:avLst>
              <a:gd name="adj" fmla="val 336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6680" y="2217421"/>
            <a:ext cx="1486932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من الحياة</a:t>
            </a:r>
            <a:endParaRPr lang="ar-EG" sz="1400" dirty="0"/>
          </a:p>
        </p:txBody>
      </p:sp>
      <p:sp>
        <p:nvSpPr>
          <p:cNvPr id="11" name="Text 9"/>
          <p:cNvSpPr/>
          <p:nvPr/>
        </p:nvSpPr>
        <p:spPr>
          <a:xfrm>
            <a:off x="6316777" y="2677161"/>
            <a:ext cx="48033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ميزان غير ثابت</a:t>
            </a:r>
            <a:endParaRPr lang="ar-EG" sz="2000" dirty="0"/>
          </a:p>
        </p:txBody>
      </p:sp>
      <p:sp>
        <p:nvSpPr>
          <p:cNvPr id="12" name="Text 10"/>
          <p:cNvSpPr/>
          <p:nvPr/>
        </p:nvSpPr>
        <p:spPr>
          <a:xfrm>
            <a:off x="6316777" y="3121661"/>
            <a:ext cx="480334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وقفت على الميزان ثلاث مرات في دقيقة واحدة فأعطاك:</a:t>
            </a:r>
            <a:endParaRPr lang="ar-EG" sz="1500" dirty="0"/>
          </a:p>
        </p:txBody>
      </p:sp>
      <p:sp>
        <p:nvSpPr>
          <p:cNvPr id="13" name="Text 11"/>
          <p:cNvSpPr/>
          <p:nvPr/>
        </p:nvSpPr>
        <p:spPr>
          <a:xfrm>
            <a:off x="6456680" y="3524886"/>
            <a:ext cx="78755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68 kg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45839" y="3524886"/>
            <a:ext cx="78755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75 kg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4997" y="3524886"/>
            <a:ext cx="78755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70 kg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6777" y="3984625"/>
            <a:ext cx="480334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وزنك لم يتغير، إذن الميزان لا يُعتمد عليه.</a:t>
            </a:r>
            <a:endParaRPr lang="ar-EG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6238239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08390" y="6238239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المقياس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معامل ألفا كرونباخ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7539"/>
            <a:ext cx="3937000" cy="2686050"/>
          </a:xfrm>
          <a:custGeom>
            <a:avLst/>
            <a:gdLst/>
            <a:ahLst/>
            <a:cxnLst/>
            <a:rect l="l" t="t" r="r" b="b"/>
            <a:pathLst>
              <a:path w="3937000" h="2686050">
                <a:moveTo>
                  <a:pt x="3886200" y="0"/>
                </a:moveTo>
                <a:lnTo>
                  <a:pt x="3886200" y="0"/>
                </a:lnTo>
                <a:arcTo hR="50800" wR="50800" stAng="16200000" swAng="5400000"/>
                <a:lnTo>
                  <a:pt x="3937000" y="2635250"/>
                </a:lnTo>
                <a:arcTo hR="50800" wR="50800" stAng="0" swAng="5400000"/>
                <a:lnTo>
                  <a:pt x="50800" y="2686050"/>
                </a:lnTo>
                <a:arcTo hR="50800" wR="50800" stAng="5400000" swAng="5400000"/>
                <a:lnTo>
                  <a:pt x="0" y="2635250"/>
                </a:lnTo>
                <a:arcTo hR="44450" wR="50800" stAng="10800000" swAng="-5400000"/>
                <a:lnTo>
                  <a:pt x="3886200" y="2679700"/>
                </a:lnTo>
                <a:arcTo hR="44450" wR="44450" stAng="5400000" swAng="-5400000"/>
                <a:lnTo>
                  <a:pt x="3930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7539"/>
            <a:ext cx="3937000" cy="2686050"/>
          </a:xfrm>
          <a:custGeom>
            <a:avLst/>
            <a:gdLst/>
            <a:ahLst/>
            <a:cxnLst/>
            <a:rect l="l" t="t" r="r" b="b"/>
            <a:pathLst>
              <a:path w="3937000" h="2686050">
                <a:moveTo>
                  <a:pt x="50800" y="2686050"/>
                </a:moveTo>
                <a:lnTo>
                  <a:pt x="50800" y="26860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886200" y="0"/>
                </a:lnTo>
                <a:arcTo hR="50800" wR="50800" stAng="16200000" swAng="5400000"/>
                <a:lnTo>
                  <a:pt x="39370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2635250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17699"/>
          <a:ext cx="3921760" cy="2670810"/>
        </p:xfrm>
        <a:graphic>
          <a:graphicData uri="http://schemas.openxmlformats.org/drawingml/2006/table">
            <a:tbl>
              <a:tblPr/>
              <a:tblGrid>
                <a:gridCol w="1764792"/>
                <a:gridCol w="2156968"/>
              </a:tblGrid>
              <a:tr h="44513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الحكم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قيمة ألفا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ممتاز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‎0.90 فأكثر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جيد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0.80 – 0.89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مقبول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0.70 – 0.79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ضعيف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0.60 – 0.69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غير مقبول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2100"/>
                        </a:lnSpc>
                        <a:buNone/>
                      </a:pPr>
                      <a:r>
                        <a:rPr lang="ar-EG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أقل من ‎0.60</a:t>
                      </a:r>
                      <a:endParaRPr lang="ar-EG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69510" y="1907539"/>
            <a:ext cx="64096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الثبات يعني أن عبارات الاستبيان متسقة: الطالب الموافق على عبارة يوافق غالبًا على العبارات المشابهة لها.</a:t>
            </a:r>
            <a:endParaRPr lang="ar-EG" sz="1600" dirty="0"/>
          </a:p>
        </p:txBody>
      </p:sp>
      <p:sp>
        <p:nvSpPr>
          <p:cNvPr id="8" name="Shape 5"/>
          <p:cNvSpPr/>
          <p:nvPr/>
        </p:nvSpPr>
        <p:spPr>
          <a:xfrm>
            <a:off x="5159375" y="2698114"/>
            <a:ext cx="6216650" cy="1397000"/>
          </a:xfrm>
          <a:prstGeom prst="roundRect">
            <a:avLst>
              <a:gd name="adj" fmla="val 704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09722" y="2903221"/>
            <a:ext cx="1961198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Cronbach's Alpha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90287" y="3337561"/>
            <a:ext cx="598063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يقيس الاتساق الداخلي لعبارات مقياس ليكرت، وقيمته بين 0 و 1. كلما اقتربت من 1 زاد الثبات.</a:t>
            </a:r>
            <a:endParaRPr lang="ar-EG" sz="1500" dirty="0"/>
          </a:p>
        </p:txBody>
      </p:sp>
      <p:sp>
        <p:nvSpPr>
          <p:cNvPr id="11" name="Text 8"/>
          <p:cNvSpPr/>
          <p:nvPr/>
        </p:nvSpPr>
        <p:spPr>
          <a:xfrm>
            <a:off x="812800" y="4847592"/>
            <a:ext cx="10566400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2072" rIns="90972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الحد الأدنى المقبول في أغلب الأبحاث: ‎0.70</a:t>
            </a:r>
            <a:endParaRPr lang="ar-EG" sz="1400" dirty="0"/>
          </a:p>
        </p:txBody>
      </p:sp>
      <p:sp>
        <p:nvSpPr>
          <p:cNvPr id="12" name="Text 9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641600"/>
            <a:ext cx="457200" cy="157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79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2222500" y="3472179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i="0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ألفا كرونباخ في SPSS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79"/>
            <a:ext cx="91567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خطوات التشغيل، ثم قراءة جدولي المخرجات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1642" y="812800"/>
            <a:ext cx="1417558" cy="289560"/>
          </a:xfrm>
          <a:custGeom>
            <a:avLst/>
            <a:gdLst/>
            <a:ahLst/>
            <a:cxnLst/>
            <a:rect l="l" t="t" r="r" b="b"/>
            <a:pathLst>
              <a:path w="1417558" h="289560">
                <a:moveTo>
                  <a:pt x="144780" y="0"/>
                </a:moveTo>
                <a:lnTo>
                  <a:pt x="1272778" y="0"/>
                </a:lnTo>
                <a:arcTo hR="144780" wR="144780" stAng="16200000" swAng="5400000"/>
                <a:lnTo>
                  <a:pt x="1417558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خطوات التشغيل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2039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 ألفا كرونباخ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3742"/>
            <a:ext cx="2387997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Reliability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02397" y="1983742"/>
            <a:ext cx="36075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64756" y="1983742"/>
            <a:ext cx="78755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53915" y="1983742"/>
            <a:ext cx="36075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16275" y="1983742"/>
            <a:ext cx="1000919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8762" y="2570479"/>
            <a:ext cx="104386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قائمة Analyze اختر Scale ثم Reliability Analysis.</a:t>
            </a:r>
            <a:endParaRPr lang="ar-EG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257047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8762" y="3002279"/>
            <a:ext cx="104386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انقل العبارات (q1 إلى q6) إلى خانة Items.</a:t>
            </a:r>
            <a:endParaRPr lang="ar-EG" sz="1600" dirty="0"/>
          </a:p>
        </p:txBody>
      </p:sp>
      <p:sp>
        <p:nvSpPr>
          <p:cNvPr id="12" name="Text 10"/>
          <p:cNvSpPr/>
          <p:nvPr/>
        </p:nvSpPr>
        <p:spPr>
          <a:xfrm>
            <a:off x="11074400" y="300227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8762" y="3434079"/>
            <a:ext cx="104386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تأكد أن Model مضبوط على Alpha.</a:t>
            </a:r>
            <a:endParaRPr lang="ar-EG" sz="1600" dirty="0"/>
          </a:p>
        </p:txBody>
      </p:sp>
      <p:sp>
        <p:nvSpPr>
          <p:cNvPr id="14" name="Text 12"/>
          <p:cNvSpPr/>
          <p:nvPr/>
        </p:nvSpPr>
        <p:spPr>
          <a:xfrm>
            <a:off x="11074400" y="343407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8762" y="3865879"/>
            <a:ext cx="104386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اضغط Statistics وفعّل Scale if item deleted، ثم Continue.</a:t>
            </a:r>
            <a:endParaRPr lang="ar-EG" sz="1600" dirty="0"/>
          </a:p>
        </p:txBody>
      </p:sp>
      <p:sp>
        <p:nvSpPr>
          <p:cNvPr id="16" name="Text 14"/>
          <p:cNvSpPr/>
          <p:nvPr/>
        </p:nvSpPr>
        <p:spPr>
          <a:xfrm>
            <a:off x="11074400" y="386587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8762" y="4297679"/>
            <a:ext cx="104386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اضغط OK لتظهر النتائج في نافذة Output.</a:t>
            </a:r>
            <a:endParaRPr lang="ar-EG" sz="1600" dirty="0"/>
          </a:p>
        </p:txBody>
      </p:sp>
      <p:sp>
        <p:nvSpPr>
          <p:cNvPr id="18" name="Text 16"/>
          <p:cNvSpPr/>
          <p:nvPr/>
        </p:nvSpPr>
        <p:spPr>
          <a:xfrm>
            <a:off x="11074400" y="429767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المخرجات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جدولان في نافذة Output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1517"/>
            <a:ext cx="3397250" cy="2025650"/>
          </a:xfrm>
          <a:prstGeom prst="roundRect">
            <a:avLst>
              <a:gd name="adj" fmla="val 485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3443" y="2166621"/>
            <a:ext cx="2494677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Alpha if Item Deleted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1469" y="2600964"/>
            <a:ext cx="307665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ألفا بعد حذف العبارة</a:t>
            </a:r>
            <a:endParaRPr lang="ar-EG" sz="1800" dirty="0"/>
          </a:p>
        </p:txBody>
      </p:sp>
      <p:sp>
        <p:nvSpPr>
          <p:cNvPr id="7" name="Text 5"/>
          <p:cNvSpPr/>
          <p:nvPr/>
        </p:nvSpPr>
        <p:spPr>
          <a:xfrm>
            <a:off x="931469" y="2988314"/>
            <a:ext cx="3076651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 ألفا لو حذفنا هذه العبارة فقط.</a:t>
            </a:r>
            <a:endParaRPr lang="ar-EG" sz="1400" dirty="0"/>
          </a:p>
        </p:txBody>
      </p:sp>
      <p:sp>
        <p:nvSpPr>
          <p:cNvPr id="8" name="Text 6"/>
          <p:cNvSpPr/>
          <p:nvPr/>
        </p:nvSpPr>
        <p:spPr>
          <a:xfrm>
            <a:off x="1021080" y="3449321"/>
            <a:ext cx="2987040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9743" tIns="2072" rIns="90972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أكبر من ألفا الحالية = حذفها يفيد</a:t>
            </a:r>
            <a:endParaRPr lang="ar-EG" sz="1400" dirty="0"/>
          </a:p>
        </p:txBody>
      </p:sp>
      <p:sp>
        <p:nvSpPr>
          <p:cNvPr id="9" name="Shape 7"/>
          <p:cNvSpPr/>
          <p:nvPr/>
        </p:nvSpPr>
        <p:spPr>
          <a:xfrm>
            <a:off x="4397375" y="1961517"/>
            <a:ext cx="3397250" cy="2025650"/>
          </a:xfrm>
          <a:prstGeom prst="roundRect">
            <a:avLst>
              <a:gd name="adj" fmla="val 485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1523" y="2166621"/>
            <a:ext cx="2387997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Corrected Item-Total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2869" y="2600964"/>
            <a:ext cx="307665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العبارة بالمقياس</a:t>
            </a:r>
            <a:endParaRPr lang="ar-EG" sz="1800" dirty="0"/>
          </a:p>
        </p:txBody>
      </p:sp>
      <p:sp>
        <p:nvSpPr>
          <p:cNvPr id="12" name="Text 10"/>
          <p:cNvSpPr/>
          <p:nvPr/>
        </p:nvSpPr>
        <p:spPr>
          <a:xfrm>
            <a:off x="4400550" y="2988314"/>
            <a:ext cx="3188970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تسير العبارة في اتجاه باقي العبارات؟</a:t>
            </a:r>
            <a:endParaRPr lang="ar-EG" sz="1400" dirty="0"/>
          </a:p>
        </p:txBody>
      </p:sp>
      <p:sp>
        <p:nvSpPr>
          <p:cNvPr id="13" name="Text 11"/>
          <p:cNvSpPr/>
          <p:nvPr/>
        </p:nvSpPr>
        <p:spPr>
          <a:xfrm>
            <a:off x="4602480" y="3449321"/>
            <a:ext cx="2987040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9743" tIns="2072" rIns="90972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أقل من ‎0.30 = عبارة ضعيفة</a:t>
            </a:r>
            <a:endParaRPr lang="ar-EG" sz="1400" dirty="0"/>
          </a:p>
        </p:txBody>
      </p:sp>
      <p:sp>
        <p:nvSpPr>
          <p:cNvPr id="14" name="Shape 12"/>
          <p:cNvSpPr/>
          <p:nvPr/>
        </p:nvSpPr>
        <p:spPr>
          <a:xfrm>
            <a:off x="7978775" y="1961517"/>
            <a:ext cx="3397250" cy="2025650"/>
          </a:xfrm>
          <a:prstGeom prst="roundRect">
            <a:avLst>
              <a:gd name="adj" fmla="val 485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9722" y="2166621"/>
            <a:ext cx="1961198" cy="33274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Cronbach's Alpha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81950" y="2600964"/>
            <a:ext cx="318897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 Reliability Statistics</a:t>
            </a:r>
            <a:endParaRPr lang="ar-EG" sz="1800" dirty="0"/>
          </a:p>
        </p:txBody>
      </p:sp>
      <p:sp>
        <p:nvSpPr>
          <p:cNvPr id="17" name="Text 15"/>
          <p:cNvSpPr/>
          <p:nvPr/>
        </p:nvSpPr>
        <p:spPr>
          <a:xfrm>
            <a:off x="8094269" y="2988314"/>
            <a:ext cx="3076651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 ألفا للمقياس كله وعدد العبارات.</a:t>
            </a:r>
            <a:endParaRPr lang="ar-EG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3449321"/>
            <a:ext cx="2987040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9743" tIns="2072" rIns="90972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نقارنها بـ ‎0.70</a:t>
            </a:r>
            <a:endParaRPr lang="ar-EG" sz="1400" dirty="0"/>
          </a:p>
        </p:txBody>
      </p:sp>
      <p:sp>
        <p:nvSpPr>
          <p:cNvPr id="19" name="Text 17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641600"/>
            <a:ext cx="457200" cy="157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79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2222500" y="3472179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i="0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تمارين تطبيقية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79"/>
            <a:ext cx="91567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استبيانان حقيقيان: واحد يحتاج تعديلًا وواحد جاهز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3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75"/>
              </a:lnSpc>
              <a:buNone/>
            </a:pPr>
            <a:r>
              <a:rPr lang="ar-EG" sz="1196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</a:t>
            </a:r>
            <a:endParaRPr lang="ar-EG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2604"/>
            <a:ext cx="10883392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062"/>
              </a:lnSpc>
              <a:buNone/>
            </a:pPr>
            <a:r>
              <a:rPr lang="ar-EG" sz="3532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اتجاهات الطلاب نحو التعليم الإلكتروني</a:t>
            </a:r>
            <a:endParaRPr lang="ar-EG" sz="3532" dirty="0"/>
          </a:p>
        </p:txBody>
      </p:sp>
      <p:sp>
        <p:nvSpPr>
          <p:cNvPr id="4" name="Shape 2"/>
          <p:cNvSpPr/>
          <p:nvPr/>
        </p:nvSpPr>
        <p:spPr>
          <a:xfrm>
            <a:off x="812800" y="1813483"/>
            <a:ext cx="10566400" cy="3522901"/>
          </a:xfrm>
          <a:custGeom>
            <a:avLst/>
            <a:gdLst/>
            <a:ahLst/>
            <a:cxnLst/>
            <a:rect l="l" t="t" r="r" b="b"/>
            <a:pathLst>
              <a:path w="10566400" h="3522901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3472101"/>
                </a:lnTo>
                <a:arcTo hR="50800" wR="50800" stAng="0" swAng="5400000"/>
                <a:lnTo>
                  <a:pt x="50800" y="3522901"/>
                </a:lnTo>
                <a:arcTo hR="50800" wR="50800" stAng="5400000" swAng="5400000"/>
                <a:lnTo>
                  <a:pt x="0" y="3472101"/>
                </a:lnTo>
                <a:arcTo hR="44450" wR="50800" stAng="10800000" swAng="-5400000"/>
                <a:lnTo>
                  <a:pt x="10515600" y="3516551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13483"/>
            <a:ext cx="10566400" cy="3522901"/>
          </a:xfrm>
          <a:custGeom>
            <a:avLst/>
            <a:gdLst/>
            <a:ahLst/>
            <a:cxnLst/>
            <a:rect l="l" t="t" r="r" b="b"/>
            <a:pathLst>
              <a:path w="10566400" h="3522901">
                <a:moveTo>
                  <a:pt x="50800" y="3522901"/>
                </a:moveTo>
                <a:lnTo>
                  <a:pt x="50800" y="352290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3472101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3643"/>
          <a:ext cx="10551160" cy="3507661"/>
        </p:xfrm>
        <a:graphic>
          <a:graphicData uri="http://schemas.openxmlformats.org/drawingml/2006/table">
            <a:tbl>
              <a:tblPr/>
              <a:tblGrid>
                <a:gridCol w="1655084"/>
                <a:gridCol w="1655084"/>
                <a:gridCol w="1655084"/>
                <a:gridCol w="1655084"/>
                <a:gridCol w="1655084"/>
                <a:gridCol w="1655084"/>
                <a:gridCol w="620656"/>
              </a:tblGrid>
              <a:tr h="843994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769"/>
                        </a:lnSpc>
                        <a:buNone/>
                      </a:pPr>
                      <a:r>
                        <a:rPr lang="ar-EG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أنصح زملائي بالمواد الإلكترونية (q6)</a:t>
                      </a:r>
                      <a:endParaRPr lang="ar-EG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769"/>
                        </a:lnSpc>
                        <a:buNone/>
                      </a:pPr>
                      <a:r>
                        <a:rPr lang="ar-EG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منصة الجامعة الإلكترونية سهلة الاستخدام (q5)</a:t>
                      </a:r>
                      <a:endParaRPr lang="ar-EG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769"/>
                        </a:lnSpc>
                        <a:buNone/>
                      </a:pPr>
                      <a:r>
                        <a:rPr lang="ar-EG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أفضّل المحاضرات التقليدية على التعليم الإلكتروني (q4)</a:t>
                      </a:r>
                      <a:endParaRPr lang="ar-EG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769"/>
                        </a:lnSpc>
                        <a:buNone/>
                      </a:pPr>
                      <a:r>
                        <a:rPr lang="ar-EG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أفضّل أن تُدرَّس بعض المواد أونلاين بالكامل (q3)</a:t>
                      </a:r>
                      <a:endParaRPr lang="ar-EG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769"/>
                        </a:lnSpc>
                        <a:buNone/>
                      </a:pPr>
                      <a:r>
                        <a:rPr lang="ar-EG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أفهم المحاضرة المسجلة كما أفهمها في القاعة (q2)</a:t>
                      </a:r>
                      <a:endParaRPr lang="ar-EG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769"/>
                        </a:lnSpc>
                        <a:buNone/>
                      </a:pPr>
                      <a:r>
                        <a:rPr lang="ar-EG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التعليم الإلكتروني يوفر وقتي ومجهودي (q1)</a:t>
                      </a:r>
                      <a:endParaRPr lang="ar-EG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6630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6630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66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769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12700" marB="127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5514181"/>
            <a:ext cx="10566400" cy="327819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</p:sp>
      <p:sp>
        <p:nvSpPr>
          <p:cNvPr id="8" name="Text 5"/>
          <p:cNvSpPr/>
          <p:nvPr/>
        </p:nvSpPr>
        <p:spPr>
          <a:xfrm>
            <a:off x="643890" y="5564981"/>
            <a:ext cx="10595610" cy="251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المطلوب: أدخل البيانات في SPSS ← احسب ألفا كرونباخ ← لو الثبات ضعيف استخرج Item-Total Statistics</a:t>
            </a:r>
            <a:endParaRPr lang="ar-EG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 · الأسئلة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شغّل التحليل ثم اختر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509524" y="1920242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 ألفا كرونباخ للمقياس ككل:</a:t>
            </a:r>
            <a:endParaRPr lang="ar-EG" sz="1600" dirty="0"/>
          </a:p>
        </p:txBody>
      </p:sp>
      <p:sp>
        <p:nvSpPr>
          <p:cNvPr id="5" name="Text 3"/>
          <p:cNvSpPr/>
          <p:nvPr/>
        </p:nvSpPr>
        <p:spPr>
          <a:xfrm>
            <a:off x="11049000" y="1907542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2329817"/>
            <a:ext cx="916067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9480" y="2406650"/>
            <a:ext cx="391557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.700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99937" y="23825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39992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497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.368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8240" y="238252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68295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.828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543" y="23825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96598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0103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.627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4846" y="238252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9524" y="2908300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الحكم على ثبات المقياس:</a:t>
            </a:r>
            <a:endParaRPr lang="ar-EG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8956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3317875"/>
            <a:ext cx="1008221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480" y="3394714"/>
            <a:ext cx="483711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مثالي</a:t>
            </a:r>
            <a:endParaRPr lang="ar-EG" sz="1400" dirty="0"/>
          </a:p>
        </p:txBody>
      </p:sp>
      <p:sp>
        <p:nvSpPr>
          <p:cNvPr id="22" name="Text 20"/>
          <p:cNvSpPr/>
          <p:nvPr/>
        </p:nvSpPr>
        <p:spPr>
          <a:xfrm>
            <a:off x="1492091" y="33705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32146" y="3317875"/>
            <a:ext cx="2136219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35651" y="3394714"/>
            <a:ext cx="1611709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ضعيف (أقل من ‎0.70)</a:t>
            </a:r>
            <a:endParaRPr lang="ar-EG" sz="1400" dirty="0"/>
          </a:p>
        </p:txBody>
      </p:sp>
      <p:sp>
        <p:nvSpPr>
          <p:cNvPr id="25" name="Text 23"/>
          <p:cNvSpPr/>
          <p:nvPr/>
        </p:nvSpPr>
        <p:spPr>
          <a:xfrm>
            <a:off x="3736261" y="3370579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76316" y="3317875"/>
            <a:ext cx="852011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821" y="3394714"/>
            <a:ext cx="327501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جيد</a:t>
            </a:r>
            <a:endParaRPr lang="ar-EG" sz="1400" dirty="0"/>
          </a:p>
        </p:txBody>
      </p:sp>
      <p:sp>
        <p:nvSpPr>
          <p:cNvPr id="28" name="Text 26"/>
          <p:cNvSpPr/>
          <p:nvPr/>
        </p:nvSpPr>
        <p:spPr>
          <a:xfrm>
            <a:off x="4696222" y="33705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36277" y="3317875"/>
            <a:ext cx="953294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9782" y="3394714"/>
            <a:ext cx="428784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ممتاز</a:t>
            </a:r>
            <a:endParaRPr lang="ar-EG" sz="1400" dirty="0"/>
          </a:p>
        </p:txBody>
      </p:sp>
      <p:sp>
        <p:nvSpPr>
          <p:cNvPr id="31" name="Text 29"/>
          <p:cNvSpPr/>
          <p:nvPr/>
        </p:nvSpPr>
        <p:spPr>
          <a:xfrm>
            <a:off x="5757466" y="3370579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9524" y="3896364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السؤال الذي يرفع حذفه قيمة ألفا أكثر:</a:t>
            </a:r>
            <a:endParaRPr lang="ar-EG" sz="1600" dirty="0"/>
          </a:p>
        </p:txBody>
      </p:sp>
      <p:sp>
        <p:nvSpPr>
          <p:cNvPr id="33" name="Text 31"/>
          <p:cNvSpPr/>
          <p:nvPr/>
        </p:nvSpPr>
        <p:spPr>
          <a:xfrm>
            <a:off x="11049000" y="3883664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975" y="4305939"/>
            <a:ext cx="770652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9480" y="4382771"/>
            <a:ext cx="24614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54522" y="43586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694577" y="4305939"/>
            <a:ext cx="770652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98082" y="4382771"/>
            <a:ext cx="24614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33124" y="435864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73179" y="4305939"/>
            <a:ext cx="770652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6684" y="4382771"/>
            <a:ext cx="24614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011726" y="43586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51781" y="4305939"/>
            <a:ext cx="770652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55286" y="4382771"/>
            <a:ext cx="24614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890328" y="435864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9524" y="4884421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 ألفا بعد حذف هذا السؤال:</a:t>
            </a:r>
            <a:endParaRPr lang="ar-EG" sz="1600" dirty="0"/>
          </a:p>
        </p:txBody>
      </p:sp>
      <p:sp>
        <p:nvSpPr>
          <p:cNvPr id="47" name="Text 45"/>
          <p:cNvSpPr/>
          <p:nvPr/>
        </p:nvSpPr>
        <p:spPr>
          <a:xfrm>
            <a:off x="11049000" y="487172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15975" y="5293996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9480" y="5370829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.952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404223" y="5346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844278" y="5293996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47783" y="5370829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.828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432526" y="53467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872581" y="5293996"/>
            <a:ext cx="916067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76086" y="5370829"/>
            <a:ext cx="391557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.749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456543" y="5346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896598" y="5293996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00103" y="5370829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.601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484846" y="53467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 · الحل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النتيجة الأولى: الثبات ضعيف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8342"/>
            <a:ext cx="6858000" cy="1905000"/>
          </a:xfrm>
          <a:prstGeom prst="roundRect">
            <a:avLst>
              <a:gd name="adj" fmla="val 5333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2212342"/>
            <a:ext cx="65405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القراءة</a:t>
            </a:r>
            <a:endParaRPr lang="ar-EG" sz="1800" dirty="0"/>
          </a:p>
        </p:txBody>
      </p:sp>
      <p:sp>
        <p:nvSpPr>
          <p:cNvPr id="6" name="Text 4"/>
          <p:cNvSpPr/>
          <p:nvPr/>
        </p:nvSpPr>
        <p:spPr>
          <a:xfrm>
            <a:off x="876300" y="2625092"/>
            <a:ext cx="6540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ألفا = ‎0.627، أقل من الحد المقبول ‎0.70، إذن ثبات المقياس ضعيف.</a:t>
            </a:r>
            <a:endParaRPr lang="ar-EG" sz="1600" dirty="0"/>
          </a:p>
        </p:txBody>
      </p:sp>
      <p:sp>
        <p:nvSpPr>
          <p:cNvPr id="7" name="Text 5"/>
          <p:cNvSpPr/>
          <p:nvPr/>
        </p:nvSpPr>
        <p:spPr>
          <a:xfrm>
            <a:off x="876300" y="3056892"/>
            <a:ext cx="65405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 نحذف عبارة عشوائيًا: نفتح جدول Item-Total Statistics لنعرف أي عبارة هي السبب.</a:t>
            </a:r>
            <a:endParaRPr lang="ar-EG" sz="1500" dirty="0"/>
          </a:p>
        </p:txBody>
      </p:sp>
      <p:sp>
        <p:nvSpPr>
          <p:cNvPr id="8" name="Text 6"/>
          <p:cNvSpPr/>
          <p:nvPr/>
        </p:nvSpPr>
        <p:spPr>
          <a:xfrm>
            <a:off x="8077200" y="2720342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Reliability Statistics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77200" y="3027679"/>
            <a:ext cx="3302000" cy="835660"/>
          </a:xfrm>
          <a:custGeom>
            <a:avLst/>
            <a:gdLst/>
            <a:ahLst/>
            <a:cxnLst/>
            <a:rect l="l" t="t" r="r" b="b"/>
            <a:pathLst>
              <a:path w="3302000" h="835660">
                <a:moveTo>
                  <a:pt x="3251200" y="0"/>
                </a:moveTo>
                <a:lnTo>
                  <a:pt x="3251200" y="0"/>
                </a:lnTo>
                <a:arcTo hR="50800" wR="50800" stAng="16200000" swAng="5400000"/>
                <a:lnTo>
                  <a:pt x="3302000" y="784860"/>
                </a:lnTo>
                <a:arcTo hR="50800" wR="50800" stAng="0" swAng="5400000"/>
                <a:lnTo>
                  <a:pt x="50800" y="835660"/>
                </a:lnTo>
                <a:arcTo hR="50800" wR="50800" stAng="5400000" swAng="5400000"/>
                <a:lnTo>
                  <a:pt x="0" y="784860"/>
                </a:lnTo>
                <a:arcTo hR="44450" wR="50800" stAng="10800000" swAng="-5400000"/>
                <a:lnTo>
                  <a:pt x="3251200" y="829310"/>
                </a:lnTo>
                <a:arcTo hR="44450" wR="44450" stAng="5400000" swAng="-5400000"/>
                <a:lnTo>
                  <a:pt x="3295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077200" y="3027679"/>
            <a:ext cx="3302000" cy="835660"/>
          </a:xfrm>
          <a:custGeom>
            <a:avLst/>
            <a:gdLst/>
            <a:ahLst/>
            <a:cxnLst/>
            <a:rect l="l" t="t" r="r" b="b"/>
            <a:pathLst>
              <a:path w="3302000" h="835660">
                <a:moveTo>
                  <a:pt x="50800" y="835660"/>
                </a:moveTo>
                <a:lnTo>
                  <a:pt x="50800" y="83566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251200" y="0"/>
                </a:lnTo>
                <a:arcTo hR="50800" wR="50800" stAng="16200000" swAng="5400000"/>
                <a:lnTo>
                  <a:pt x="33020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784860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7360" y="3037839"/>
          <a:ext cx="3286760" cy="820420"/>
        </p:xfrm>
        <a:graphic>
          <a:graphicData uri="http://schemas.openxmlformats.org/drawingml/2006/table">
            <a:tbl>
              <a:tblPr/>
              <a:tblGrid>
                <a:gridCol w="1972056"/>
                <a:gridCol w="1314704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Cronbach's Alpha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 of Items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.627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 · الحل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السبب؟ جدول Item-Total Statistics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214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Item-Total Statistics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189485"/>
            <a:ext cx="10566400" cy="2738120"/>
          </a:xfrm>
          <a:custGeom>
            <a:avLst/>
            <a:gdLst/>
            <a:ahLst/>
            <a:cxnLst/>
            <a:rect l="l" t="t" r="r" b="b"/>
            <a:pathLst>
              <a:path w="10566400" h="273812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2687320"/>
                </a:lnTo>
                <a:arcTo hR="50800" wR="50800" stAng="0" swAng="5400000"/>
                <a:lnTo>
                  <a:pt x="50800" y="2738120"/>
                </a:lnTo>
                <a:arcTo hR="50800" wR="50800" stAng="5400000" swAng="5400000"/>
                <a:lnTo>
                  <a:pt x="0" y="2687320"/>
                </a:lnTo>
                <a:arcTo hR="44450" wR="50800" stAng="10800000" swAng="-5400000"/>
                <a:lnTo>
                  <a:pt x="10515600" y="273177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89485"/>
            <a:ext cx="10566400" cy="2738120"/>
          </a:xfrm>
          <a:custGeom>
            <a:avLst/>
            <a:gdLst/>
            <a:ahLst/>
            <a:cxnLst/>
            <a:rect l="l" t="t" r="r" b="b"/>
            <a:pathLst>
              <a:path w="10566400" h="2738120">
                <a:moveTo>
                  <a:pt x="50800" y="2738120"/>
                </a:moveTo>
                <a:lnTo>
                  <a:pt x="50800" y="27381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2687320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9645"/>
          <a:ext cx="10551160" cy="2722880"/>
        </p:xfrm>
        <a:graphic>
          <a:graphicData uri="http://schemas.openxmlformats.org/drawingml/2006/table">
            <a:tbl>
              <a:tblPr/>
              <a:tblGrid>
                <a:gridCol w="844093"/>
                <a:gridCol w="2426767"/>
                <a:gridCol w="2426767"/>
                <a:gridCol w="2426767"/>
                <a:gridCol w="2426767"/>
              </a:tblGrid>
              <a:tr h="558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Scale Mean if Item Deleted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Scale Variance if Item Deleted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Corrected Item-Total Correlation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Cronbach's Alpha if Item Deleted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15.50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16.278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.660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.449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15.40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14.933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.829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.368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15.40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16.933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.570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.489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15.30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28.900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-.279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.828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20.322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.427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.562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15.30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22.233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.315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.601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156200"/>
            <a:ext cx="10566400" cy="33274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2072" rIns="90972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q4: الارتباط سالب (‎−.279)، وحذفها يرفع ألفا من ‎.627 إلى ‎.828 (أعلى قيمة في العمود)</a:t>
            </a:r>
            <a:endParaRPr lang="ar-EG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450" y="1743708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لماذا q4؟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568450" y="2211077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5280"/>
              </a:lnSpc>
              <a:buNone/>
            </a:pPr>
            <a:r>
              <a:rPr lang="ar-EG" sz="48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عبارة واحدة معكوسة تكفي لإسقاط الثبات</a:t>
            </a:r>
            <a:endParaRPr lang="ar-EG" sz="4800" dirty="0"/>
          </a:p>
        </p:txBody>
      </p:sp>
      <p:sp>
        <p:nvSpPr>
          <p:cNvPr id="4" name="Text 2"/>
          <p:cNvSpPr/>
          <p:nvPr/>
        </p:nvSpPr>
        <p:spPr>
          <a:xfrm>
            <a:off x="1568450" y="3806192"/>
            <a:ext cx="981075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900"/>
              </a:lnSpc>
              <a:buNone/>
            </a:pPr>
            <a:r>
              <a:rPr lang="ar-EG" sz="20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q4 «أفضّل المحاضرات التقليدية على التعليم الإلكتروني» مكتوبة بشكل سلبي: الطالب المتحمس يوافق على الخمس عبارات الأخرى ويرفضها. الحل: نحذفها، أو نعكس ترميزها (6 − القيمة).</a:t>
            </a:r>
            <a:endParaRPr lang="ar-EG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 · القرار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58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حذف q4 وبعده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7542"/>
            <a:ext cx="4648200" cy="1925320"/>
          </a:xfrm>
          <a:prstGeom prst="roundRect">
            <a:avLst>
              <a:gd name="adj" fmla="val 5277"/>
            </a:avLst>
          </a:prstGeom>
          <a:solidFill>
            <a:srgbClr val="14233A"/>
          </a:solidFill>
          <a:ln/>
        </p:spPr>
      </p:sp>
      <p:sp>
        <p:nvSpPr>
          <p:cNvPr id="5" name="Text 3"/>
          <p:cNvSpPr/>
          <p:nvPr/>
        </p:nvSpPr>
        <p:spPr>
          <a:xfrm>
            <a:off x="1057021" y="2212342"/>
            <a:ext cx="41597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.828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057021" y="3253742"/>
            <a:ext cx="415975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60"/>
              </a:lnSpc>
              <a:buNone/>
            </a:pPr>
            <a:r>
              <a:rPr lang="ar-EG" sz="16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عبارات · ثبات جيد</a:t>
            </a:r>
            <a:endParaRPr lang="ar-EG" sz="1600" dirty="0"/>
          </a:p>
        </p:txBody>
      </p:sp>
      <p:pic>
        <p:nvPicPr>
          <p:cNvPr id="7" name="Image 0" descr="arrow-lef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2679700"/>
            <a:ext cx="762000" cy="381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31000" y="1907542"/>
            <a:ext cx="4648200" cy="1925320"/>
          </a:xfrm>
          <a:prstGeom prst="roundRect">
            <a:avLst>
              <a:gd name="adj" fmla="val 5277"/>
            </a:avLst>
          </a:prstGeom>
          <a:solidFill>
            <a:srgbClr val="ECE8DE"/>
          </a:solidFill>
          <a:ln/>
        </p:spPr>
      </p:sp>
      <p:sp>
        <p:nvSpPr>
          <p:cNvPr id="9" name="Text 6"/>
          <p:cNvSpPr/>
          <p:nvPr/>
        </p:nvSpPr>
        <p:spPr>
          <a:xfrm>
            <a:off x="6975221" y="2212342"/>
            <a:ext cx="41597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.627</a:t>
            </a:r>
            <a:endParaRPr lang="en-US" sz="7000" dirty="0"/>
          </a:p>
        </p:txBody>
      </p:sp>
      <p:sp>
        <p:nvSpPr>
          <p:cNvPr id="10" name="Text 7"/>
          <p:cNvSpPr/>
          <p:nvPr/>
        </p:nvSpPr>
        <p:spPr>
          <a:xfrm>
            <a:off x="6975221" y="3253742"/>
            <a:ext cx="415975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60"/>
              </a:lnSpc>
              <a:buNone/>
            </a:pPr>
            <a:r>
              <a:rPr lang="ar-EG" sz="16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عبارات · ثبات ضعيف</a:t>
            </a:r>
            <a:endParaRPr lang="ar-EG" sz="1600" dirty="0"/>
          </a:p>
        </p:txBody>
      </p:sp>
      <p:sp>
        <p:nvSpPr>
          <p:cNvPr id="11" name="Text 8"/>
          <p:cNvSpPr/>
          <p:nvPr/>
        </p:nvSpPr>
        <p:spPr>
          <a:xfrm>
            <a:off x="815975" y="4090033"/>
            <a:ext cx="10560050" cy="686435"/>
          </a:xfrm>
          <a:prstGeom prst="roundRect">
            <a:avLst>
              <a:gd name="adj" fmla="val 1433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  <p:txBody>
          <a:bodyPr wrap="square" lIns="0" tIns="176277" rIns="176277" bIns="150877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نكتبها في البحث: «بلغ معامل ألفا كرونباخ ‎0.83 بعد حذف العبارة الرابعة، وهو ما يدل على ثبات جيد للمقياس».</a:t>
            </a:r>
            <a:endParaRPr lang="ar-EG" sz="1500" dirty="0"/>
          </a:p>
        </p:txBody>
      </p:sp>
      <p:sp>
        <p:nvSpPr>
          <p:cNvPr id="12" name="Text 9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2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58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تقييم الطلاب لمادة Computer Application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56742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أن يوزع القسم استمارة تقييم المادة على كل الطلاب، جرّبها على 8 طلاب (ليكرت الخماسي).</a:t>
            </a:r>
            <a:endParaRPr lang="ar-EG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336167"/>
            <a:ext cx="2667000" cy="2028190"/>
          </a:xfrm>
          <a:prstGeom prst="roundRect">
            <a:avLst>
              <a:gd name="adj" fmla="val 5009"/>
            </a:avLst>
          </a:prstGeom>
          <a:solidFill>
            <a:srgbClr val="FBEBD0"/>
          </a:solidFill>
          <a:ln/>
        </p:spPr>
      </p:sp>
      <p:sp>
        <p:nvSpPr>
          <p:cNvPr id="6" name="Text 4"/>
          <p:cNvSpPr/>
          <p:nvPr/>
        </p:nvSpPr>
        <p:spPr>
          <a:xfrm>
            <a:off x="975106" y="2564767"/>
            <a:ext cx="227609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lang="ar-EG" sz="1800" dirty="0"/>
          </a:p>
        </p:txBody>
      </p:sp>
      <p:sp>
        <p:nvSpPr>
          <p:cNvPr id="7" name="Text 5"/>
          <p:cNvSpPr/>
          <p:nvPr/>
        </p:nvSpPr>
        <p:spPr>
          <a:xfrm>
            <a:off x="988060" y="2977517"/>
            <a:ext cx="18313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واحسب ألفا.</a:t>
            </a:r>
            <a:endParaRPr lang="ar-EG" sz="1400" dirty="0"/>
          </a:p>
        </p:txBody>
      </p:sp>
      <p:sp>
        <p:nvSpPr>
          <p:cNvPr id="8" name="Text 6"/>
          <p:cNvSpPr/>
          <p:nvPr/>
        </p:nvSpPr>
        <p:spPr>
          <a:xfrm>
            <a:off x="2946400" y="297751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8060" y="3620133"/>
            <a:ext cx="18313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نحتاج حذف أي عبارة؟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2946400" y="362013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8682" y="2336167"/>
            <a:ext cx="3636518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الشرح في السكشن واضح</a:t>
            </a:r>
            <a:endParaRPr lang="ar-EG" sz="1300" dirty="0"/>
          </a:p>
        </p:txBody>
      </p:sp>
      <p:sp>
        <p:nvSpPr>
          <p:cNvPr id="12" name="Text 10"/>
          <p:cNvSpPr/>
          <p:nvPr/>
        </p:nvSpPr>
        <p:spPr>
          <a:xfrm>
            <a:off x="7366000" y="2340297"/>
            <a:ext cx="40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8682" y="2664458"/>
            <a:ext cx="3636518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التمارين مرتبطة بالمحاضرة</a:t>
            </a:r>
            <a:endParaRPr lang="ar-EG" sz="1300" dirty="0"/>
          </a:p>
        </p:txBody>
      </p:sp>
      <p:sp>
        <p:nvSpPr>
          <p:cNvPr id="14" name="Text 12"/>
          <p:cNvSpPr/>
          <p:nvPr/>
        </p:nvSpPr>
        <p:spPr>
          <a:xfrm>
            <a:off x="7366000" y="2668588"/>
            <a:ext cx="40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8682" y="2992760"/>
            <a:ext cx="3636518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الوقت كافٍ للتطبيق على SPSS</a:t>
            </a:r>
            <a:endParaRPr lang="ar-EG" sz="1300" dirty="0"/>
          </a:p>
        </p:txBody>
      </p:sp>
      <p:sp>
        <p:nvSpPr>
          <p:cNvPr id="16" name="Text 14"/>
          <p:cNvSpPr/>
          <p:nvPr/>
        </p:nvSpPr>
        <p:spPr>
          <a:xfrm>
            <a:off x="7366000" y="2996890"/>
            <a:ext cx="40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78682" y="3321050"/>
            <a:ext cx="3636518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المعيد يجيب عن الأسئلة</a:t>
            </a:r>
            <a:endParaRPr lang="ar-EG" sz="1300" dirty="0"/>
          </a:p>
        </p:txBody>
      </p:sp>
      <p:sp>
        <p:nvSpPr>
          <p:cNvPr id="18" name="Text 16"/>
          <p:cNvSpPr/>
          <p:nvPr/>
        </p:nvSpPr>
        <p:spPr>
          <a:xfrm>
            <a:off x="7366000" y="3325180"/>
            <a:ext cx="40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78682" y="3649352"/>
            <a:ext cx="3636518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أستطيع تطبيق ما تعلمته وحدي</a:t>
            </a:r>
            <a:endParaRPr lang="ar-EG" sz="1300" dirty="0"/>
          </a:p>
        </p:txBody>
      </p:sp>
      <p:sp>
        <p:nvSpPr>
          <p:cNvPr id="20" name="Text 18"/>
          <p:cNvSpPr/>
          <p:nvPr/>
        </p:nvSpPr>
        <p:spPr>
          <a:xfrm>
            <a:off x="7366000" y="3653470"/>
            <a:ext cx="406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77200" y="2336167"/>
            <a:ext cx="3302000" cy="3409950"/>
          </a:xfrm>
          <a:custGeom>
            <a:avLst/>
            <a:gdLst/>
            <a:ahLst/>
            <a:cxnLst/>
            <a:rect l="l" t="t" r="r" b="b"/>
            <a:pathLst>
              <a:path w="3302000" h="3409950">
                <a:moveTo>
                  <a:pt x="3251200" y="0"/>
                </a:moveTo>
                <a:lnTo>
                  <a:pt x="3251200" y="0"/>
                </a:lnTo>
                <a:arcTo hR="50800" wR="50800" stAng="16200000" swAng="5400000"/>
                <a:lnTo>
                  <a:pt x="3302000" y="3359150"/>
                </a:lnTo>
                <a:arcTo hR="50800" wR="50800" stAng="0" swAng="5400000"/>
                <a:lnTo>
                  <a:pt x="50800" y="3409950"/>
                </a:lnTo>
                <a:arcTo hR="50800" wR="50800" stAng="5400000" swAng="5400000"/>
                <a:lnTo>
                  <a:pt x="0" y="3359150"/>
                </a:lnTo>
                <a:arcTo hR="44450" wR="50800" stAng="10800000" swAng="-5400000"/>
                <a:lnTo>
                  <a:pt x="3251200" y="3403600"/>
                </a:lnTo>
                <a:arcTo hR="44450" wR="44450" stAng="5400000" swAng="-5400000"/>
                <a:lnTo>
                  <a:pt x="3295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77200" y="2336167"/>
            <a:ext cx="3302000" cy="3409950"/>
          </a:xfrm>
          <a:custGeom>
            <a:avLst/>
            <a:gdLst/>
            <a:ahLst/>
            <a:cxnLst/>
            <a:rect l="l" t="t" r="r" b="b"/>
            <a:pathLst>
              <a:path w="3302000" h="3409950">
                <a:moveTo>
                  <a:pt x="50800" y="3409950"/>
                </a:moveTo>
                <a:lnTo>
                  <a:pt x="50800" y="34099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251200" y="0"/>
                </a:lnTo>
                <a:arcTo hR="50800" wR="50800" stAng="16200000" swAng="5400000"/>
                <a:lnTo>
                  <a:pt x="33020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3359150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7360" y="2346327"/>
          <a:ext cx="3286760" cy="3394710"/>
        </p:xfrm>
        <a:graphic>
          <a:graphicData uri="http://schemas.openxmlformats.org/drawingml/2006/table">
            <a:tbl>
              <a:tblPr/>
              <a:tblGrid>
                <a:gridCol w="657352"/>
                <a:gridCol w="657352"/>
                <a:gridCol w="657352"/>
                <a:gridCol w="657352"/>
                <a:gridCol w="657352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2 · الأسئلة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58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شغّل التحليل ثم اختر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509524" y="1920242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 ألفا كرونباخ للاستمارة:</a:t>
            </a:r>
            <a:endParaRPr lang="ar-EG" sz="1600" dirty="0"/>
          </a:p>
        </p:txBody>
      </p:sp>
      <p:sp>
        <p:nvSpPr>
          <p:cNvPr id="5" name="Text 3"/>
          <p:cNvSpPr/>
          <p:nvPr/>
        </p:nvSpPr>
        <p:spPr>
          <a:xfrm>
            <a:off x="11049000" y="1907542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9480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.959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4223" y="2382527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44278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783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.888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32526" y="238252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72581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6086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.802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60829" y="2382527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00884" y="2329817"/>
            <a:ext cx="92035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4389" y="2406650"/>
            <a:ext cx="39584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.564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9133" y="238252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9524" y="2908300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الحكم على ثبات الاستمارة:</a:t>
            </a:r>
            <a:endParaRPr lang="ar-EG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8956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3317875"/>
            <a:ext cx="852011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480" y="3394708"/>
            <a:ext cx="327501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جيد</a:t>
            </a:r>
            <a:endParaRPr lang="ar-EG" sz="1400" dirty="0"/>
          </a:p>
        </p:txBody>
      </p:sp>
      <p:sp>
        <p:nvSpPr>
          <p:cNvPr id="22" name="Text 20"/>
          <p:cNvSpPr/>
          <p:nvPr/>
        </p:nvSpPr>
        <p:spPr>
          <a:xfrm>
            <a:off x="1335881" y="337058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75936" y="3317875"/>
            <a:ext cx="1011952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9441" y="3394708"/>
            <a:ext cx="48744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مقبول</a:t>
            </a:r>
            <a:endParaRPr lang="ar-EG" sz="1400" dirty="0"/>
          </a:p>
        </p:txBody>
      </p:sp>
      <p:sp>
        <p:nvSpPr>
          <p:cNvPr id="25" name="Text 23"/>
          <p:cNvSpPr/>
          <p:nvPr/>
        </p:nvSpPr>
        <p:spPr>
          <a:xfrm>
            <a:off x="2455783" y="337058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95838" y="3317875"/>
            <a:ext cx="101941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343" y="3394708"/>
            <a:ext cx="49490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ضعيف</a:t>
            </a:r>
            <a:endParaRPr lang="ar-EG" sz="1400" dirty="0"/>
          </a:p>
        </p:txBody>
      </p:sp>
      <p:sp>
        <p:nvSpPr>
          <p:cNvPr id="28" name="Text 26"/>
          <p:cNvSpPr/>
          <p:nvPr/>
        </p:nvSpPr>
        <p:spPr>
          <a:xfrm>
            <a:off x="3583146" y="337058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23201" y="3317875"/>
            <a:ext cx="1309449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26706" y="3394708"/>
            <a:ext cx="784939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غير مقبول</a:t>
            </a:r>
            <a:endParaRPr lang="ar-EG" sz="1400" dirty="0"/>
          </a:p>
        </p:txBody>
      </p:sp>
      <p:sp>
        <p:nvSpPr>
          <p:cNvPr id="31" name="Text 29"/>
          <p:cNvSpPr/>
          <p:nvPr/>
        </p:nvSpPr>
        <p:spPr>
          <a:xfrm>
            <a:off x="5000546" y="337058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9524" y="3896358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نحذف عبارة؟</a:t>
            </a:r>
            <a:endParaRPr lang="ar-EG" sz="1600" dirty="0"/>
          </a:p>
        </p:txBody>
      </p:sp>
      <p:sp>
        <p:nvSpPr>
          <p:cNvPr id="33" name="Text 31"/>
          <p:cNvSpPr/>
          <p:nvPr/>
        </p:nvSpPr>
        <p:spPr>
          <a:xfrm>
            <a:off x="11049000" y="388365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975" y="4305933"/>
            <a:ext cx="2001282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9480" y="4382777"/>
            <a:ext cx="147677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لا، الاستمارة جاهزة</a:t>
            </a:r>
            <a:endParaRPr lang="ar-EG" sz="1400" dirty="0"/>
          </a:p>
        </p:txBody>
      </p:sp>
      <p:sp>
        <p:nvSpPr>
          <p:cNvPr id="36" name="Text 34"/>
          <p:cNvSpPr/>
          <p:nvPr/>
        </p:nvSpPr>
        <p:spPr>
          <a:xfrm>
            <a:off x="2485152" y="435864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5207" y="4305933"/>
            <a:ext cx="1146969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28712" y="4382777"/>
            <a:ext cx="622459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نعم، q4</a:t>
            </a:r>
            <a:endParaRPr lang="ar-EG" sz="1400" dirty="0"/>
          </a:p>
        </p:txBody>
      </p:sp>
      <p:sp>
        <p:nvSpPr>
          <p:cNvPr id="39" name="Text 37"/>
          <p:cNvSpPr/>
          <p:nvPr/>
        </p:nvSpPr>
        <p:spPr>
          <a:xfrm>
            <a:off x="3740071" y="43586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80126" y="4305933"/>
            <a:ext cx="1146969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83631" y="4382777"/>
            <a:ext cx="622459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نعم، q1</a:t>
            </a:r>
            <a:endParaRPr lang="ar-EG" sz="1400" dirty="0"/>
          </a:p>
        </p:txBody>
      </p:sp>
      <p:sp>
        <p:nvSpPr>
          <p:cNvPr id="42" name="Text 40"/>
          <p:cNvSpPr/>
          <p:nvPr/>
        </p:nvSpPr>
        <p:spPr>
          <a:xfrm>
            <a:off x="4994989" y="435864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75"/>
              </a:lnSpc>
              <a:buNone/>
            </a:pPr>
            <a:r>
              <a:rPr lang="ar-EG" sz="1196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2 · الحل</a:t>
            </a:r>
            <a:endParaRPr lang="ar-EG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2759"/>
            <a:ext cx="10883392" cy="53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062"/>
              </a:lnSpc>
              <a:buNone/>
            </a:pPr>
            <a:r>
              <a:rPr lang="ar-EG" sz="3532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استمارة جاهزة للتوزيع</a:t>
            </a:r>
            <a:endParaRPr lang="ar-EG" sz="3532" dirty="0"/>
          </a:p>
        </p:txBody>
      </p:sp>
      <p:sp>
        <p:nvSpPr>
          <p:cNvPr id="4" name="Text 2"/>
          <p:cNvSpPr/>
          <p:nvPr/>
        </p:nvSpPr>
        <p:spPr>
          <a:xfrm>
            <a:off x="812800" y="1919610"/>
            <a:ext cx="6959600" cy="1009650"/>
          </a:xfrm>
          <a:prstGeom prst="roundRect">
            <a:avLst>
              <a:gd name="adj" fmla="val 10063"/>
            </a:avLst>
          </a:prstGeom>
          <a:solidFill>
            <a:srgbClr val="FBEBD0"/>
          </a:solidFill>
          <a:ln/>
        </p:spPr>
        <p:txBody>
          <a:bodyPr wrap="square" lIns="3770" tIns="198842" rIns="198842" bIns="173442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ألفا = ‎0.888 (ثبات جيد)، وكل العبارات ارتباطها موجب وأعلى من ‎0.30، إذن لا نحذف شيئًا.</a:t>
            </a:r>
            <a:endParaRPr lang="ar-EG" sz="1500" dirty="0"/>
          </a:p>
        </p:txBody>
      </p:sp>
      <p:sp>
        <p:nvSpPr>
          <p:cNvPr id="5" name="Text 3"/>
          <p:cNvSpPr/>
          <p:nvPr/>
        </p:nvSpPr>
        <p:spPr>
          <a:xfrm>
            <a:off x="8077200" y="1841103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Reliability Statistics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77200" y="2148446"/>
            <a:ext cx="3302000" cy="835660"/>
          </a:xfrm>
          <a:custGeom>
            <a:avLst/>
            <a:gdLst/>
            <a:ahLst/>
            <a:cxnLst/>
            <a:rect l="l" t="t" r="r" b="b"/>
            <a:pathLst>
              <a:path w="3302000" h="835660">
                <a:moveTo>
                  <a:pt x="3251200" y="0"/>
                </a:moveTo>
                <a:lnTo>
                  <a:pt x="3251200" y="0"/>
                </a:lnTo>
                <a:arcTo hR="50800" wR="50800" stAng="16200000" swAng="5400000"/>
                <a:lnTo>
                  <a:pt x="3302000" y="784860"/>
                </a:lnTo>
                <a:arcTo hR="50800" wR="50800" stAng="0" swAng="5400000"/>
                <a:lnTo>
                  <a:pt x="50800" y="835660"/>
                </a:lnTo>
                <a:arcTo hR="50800" wR="50800" stAng="5400000" swAng="5400000"/>
                <a:lnTo>
                  <a:pt x="0" y="784860"/>
                </a:lnTo>
                <a:arcTo hR="44450" wR="50800" stAng="10800000" swAng="-5400000"/>
                <a:lnTo>
                  <a:pt x="3251200" y="829310"/>
                </a:lnTo>
                <a:arcTo hR="44450" wR="44450" stAng="5400000" swAng="-5400000"/>
                <a:lnTo>
                  <a:pt x="3295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7" name="Shape 5"/>
          <p:cNvSpPr/>
          <p:nvPr/>
        </p:nvSpPr>
        <p:spPr>
          <a:xfrm>
            <a:off x="8077200" y="2148446"/>
            <a:ext cx="3302000" cy="835660"/>
          </a:xfrm>
          <a:custGeom>
            <a:avLst/>
            <a:gdLst/>
            <a:ahLst/>
            <a:cxnLst/>
            <a:rect l="l" t="t" r="r" b="b"/>
            <a:pathLst>
              <a:path w="3302000" h="835660">
                <a:moveTo>
                  <a:pt x="50800" y="835660"/>
                </a:moveTo>
                <a:lnTo>
                  <a:pt x="50800" y="83566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251200" y="0"/>
                </a:lnTo>
                <a:arcTo hR="50800" wR="50800" stAng="16200000" swAng="5400000"/>
                <a:lnTo>
                  <a:pt x="33020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784860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7360" y="2158606"/>
          <a:ext cx="3286760" cy="820420"/>
        </p:xfrm>
        <a:graphic>
          <a:graphicData uri="http://schemas.openxmlformats.org/drawingml/2006/table">
            <a:tbl>
              <a:tblPr/>
              <a:tblGrid>
                <a:gridCol w="1972056"/>
                <a:gridCol w="1314704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Cronbach's Alpha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 of Items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.888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3212703"/>
            <a:ext cx="10883392" cy="251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Item-Total Statistics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2800" y="3515122"/>
            <a:ext cx="10566400" cy="2326878"/>
          </a:xfrm>
          <a:custGeom>
            <a:avLst/>
            <a:gdLst/>
            <a:ahLst/>
            <a:cxnLst/>
            <a:rect l="l" t="t" r="r" b="b"/>
            <a:pathLst>
              <a:path w="10566400" h="2326878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2276078"/>
                </a:lnTo>
                <a:arcTo hR="50800" wR="50800" stAng="0" swAng="5400000"/>
                <a:lnTo>
                  <a:pt x="50800" y="2326878"/>
                </a:lnTo>
                <a:arcTo hR="50800" wR="50800" stAng="5400000" swAng="5400000"/>
                <a:lnTo>
                  <a:pt x="0" y="2276078"/>
                </a:lnTo>
                <a:arcTo hR="44450" wR="50800" stAng="10800000" swAng="-5400000"/>
                <a:lnTo>
                  <a:pt x="10515600" y="2320528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1" name="Shape 8"/>
          <p:cNvSpPr/>
          <p:nvPr/>
        </p:nvSpPr>
        <p:spPr>
          <a:xfrm>
            <a:off x="812800" y="3515122"/>
            <a:ext cx="10566400" cy="2326878"/>
          </a:xfrm>
          <a:custGeom>
            <a:avLst/>
            <a:gdLst/>
            <a:ahLst/>
            <a:cxnLst/>
            <a:rect l="l" t="t" r="r" b="b"/>
            <a:pathLst>
              <a:path w="10566400" h="2326878">
                <a:moveTo>
                  <a:pt x="50800" y="2326878"/>
                </a:moveTo>
                <a:lnTo>
                  <a:pt x="50800" y="232687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40640" wR="50800" stAng="0" swAng="-5400000"/>
                <a:lnTo>
                  <a:pt x="50800" y="10160"/>
                </a:lnTo>
                <a:arcTo hR="40640" wR="40640" stAng="16200000" swAng="-5400000"/>
                <a:lnTo>
                  <a:pt x="10160" y="2276078"/>
                </a:lnTo>
                <a:arcTo hR="50800" wR="4064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25282"/>
          <a:ext cx="10551160" cy="2311638"/>
        </p:xfrm>
        <a:graphic>
          <a:graphicData uri="http://schemas.openxmlformats.org/drawingml/2006/table">
            <a:tbl>
              <a:tblPr/>
              <a:tblGrid>
                <a:gridCol w="844093"/>
                <a:gridCol w="2426767"/>
                <a:gridCol w="2426767"/>
                <a:gridCol w="2426767"/>
                <a:gridCol w="2426767"/>
              </a:tblGrid>
              <a:tr h="544116">
                <a:tc>
                  <a:txBody>
                    <a:bodyPr/>
                    <a:lstStyle/>
                    <a:p>
                      <a:pPr indent="0" marL="0">
                        <a:lnSpc>
                          <a:spcPts val="1617"/>
                        </a:lnSpc>
                        <a:buNone/>
                      </a:pP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Scale Mean if Item Deleted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Scale Variance if Item Deleted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Corrected Item-Total Correlation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Cronbach's Alpha if Item Deleted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53457">
                <a:tc>
                  <a:txBody>
                    <a:bodyPr/>
                    <a:lstStyle/>
                    <a:p>
                      <a:pPr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q1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12.75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13.357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.959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.802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3457">
                <a:tc>
                  <a:txBody>
                    <a:bodyPr/>
                    <a:lstStyle/>
                    <a:p>
                      <a:pPr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q2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12.50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17.143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.751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.858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53536">
                <a:tc>
                  <a:txBody>
                    <a:bodyPr/>
                    <a:lstStyle/>
                    <a:p>
                      <a:pPr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q3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13.13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18.125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.689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.872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3536">
                <a:tc>
                  <a:txBody>
                    <a:bodyPr/>
                    <a:lstStyle/>
                    <a:p>
                      <a:pPr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q4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12.88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20.982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.565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.899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53536">
                <a:tc>
                  <a:txBody>
                    <a:bodyPr/>
                    <a:lstStyle/>
                    <a:p>
                      <a:pPr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q5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12.75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15.929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.735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17"/>
                        </a:lnSpc>
                        <a:buNone/>
                      </a:pPr>
                      <a:r>
                        <a:rPr lang="en-US" sz="115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.864</a:t>
                      </a:r>
                      <a:endParaRPr lang="en-US" sz="115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اختبر نفسك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58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ثلاثة أسئلة سريعة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509524" y="1920242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باحث حصل على ألفا = ‎0.45. ماذا يفعل؟</a:t>
            </a:r>
            <a:endParaRPr lang="ar-EG" sz="1600" dirty="0"/>
          </a:p>
        </p:txBody>
      </p:sp>
      <p:sp>
        <p:nvSpPr>
          <p:cNvPr id="5" name="Text 3"/>
          <p:cNvSpPr/>
          <p:nvPr/>
        </p:nvSpPr>
        <p:spPr>
          <a:xfrm>
            <a:off x="11049000" y="1907542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5975" y="2329817"/>
            <a:ext cx="2073831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9480" y="2406650"/>
            <a:ext cx="1549321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يزيد عدد الطلاب فقط</a:t>
            </a:r>
            <a:endParaRPr lang="ar-EG" sz="1400" dirty="0"/>
          </a:p>
        </p:txBody>
      </p:sp>
      <p:sp>
        <p:nvSpPr>
          <p:cNvPr id="8" name="Text 6"/>
          <p:cNvSpPr/>
          <p:nvPr/>
        </p:nvSpPr>
        <p:spPr>
          <a:xfrm>
            <a:off x="2557701" y="238252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97756" y="2329817"/>
            <a:ext cx="2390934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7592" y="2406650"/>
            <a:ext cx="1870093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يراجع العبارات قبل التوزيع</a:t>
            </a:r>
            <a:endParaRPr lang="ar-EG" sz="1400" dirty="0"/>
          </a:p>
        </p:txBody>
      </p:sp>
      <p:sp>
        <p:nvSpPr>
          <p:cNvPr id="11" name="Text 9"/>
          <p:cNvSpPr/>
          <p:nvPr/>
        </p:nvSpPr>
        <p:spPr>
          <a:xfrm>
            <a:off x="5056584" y="2382527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96639" y="2329817"/>
            <a:ext cx="1450340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0145" y="2406650"/>
            <a:ext cx="925830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ينشر النتائج</a:t>
            </a:r>
            <a:endParaRPr lang="ar-EG" sz="1400" dirty="0"/>
          </a:p>
        </p:txBody>
      </p:sp>
      <p:sp>
        <p:nvSpPr>
          <p:cNvPr id="14" name="Text 12"/>
          <p:cNvSpPr/>
          <p:nvPr/>
        </p:nvSpPr>
        <p:spPr>
          <a:xfrm>
            <a:off x="6614875" y="238252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9524" y="2908300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Corrected Item-Total سالب لعبارة يعني:</a:t>
            </a:r>
            <a:endParaRPr lang="ar-EG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8956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975" y="3317875"/>
            <a:ext cx="1624886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480" y="3394708"/>
            <a:ext cx="110037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خطأ في SPSS</a:t>
            </a:r>
            <a:endParaRPr lang="ar-EG" sz="1400" dirty="0"/>
          </a:p>
        </p:txBody>
      </p:sp>
      <p:sp>
        <p:nvSpPr>
          <p:cNvPr id="19" name="Text 17"/>
          <p:cNvSpPr/>
          <p:nvPr/>
        </p:nvSpPr>
        <p:spPr>
          <a:xfrm>
            <a:off x="2108756" y="337058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8811" y="3317875"/>
            <a:ext cx="2373868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9159" y="3394708"/>
            <a:ext cx="1852515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عبارة تسير عكس الباقي</a:t>
            </a:r>
            <a:endParaRPr lang="ar-EG" sz="1400" dirty="0"/>
          </a:p>
        </p:txBody>
      </p:sp>
      <p:sp>
        <p:nvSpPr>
          <p:cNvPr id="22" name="Text 20"/>
          <p:cNvSpPr/>
          <p:nvPr/>
        </p:nvSpPr>
        <p:spPr>
          <a:xfrm>
            <a:off x="4590574" y="3370585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30629" y="3317875"/>
            <a:ext cx="1461135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4134" y="3394708"/>
            <a:ext cx="936625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عبارة ممتازة</a:t>
            </a:r>
            <a:endParaRPr lang="ar-EG" sz="1400" dirty="0"/>
          </a:p>
        </p:txBody>
      </p:sp>
      <p:sp>
        <p:nvSpPr>
          <p:cNvPr id="25" name="Text 23"/>
          <p:cNvSpPr/>
          <p:nvPr/>
        </p:nvSpPr>
        <p:spPr>
          <a:xfrm>
            <a:off x="6159659" y="337058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9524" y="3896358"/>
            <a:ext cx="104124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ألفا كرونباخ يُحسب على:</a:t>
            </a:r>
            <a:endParaRPr lang="ar-EG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3883658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5975" y="4305933"/>
            <a:ext cx="1789748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480" y="4382777"/>
            <a:ext cx="1265238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النوع: ذكر / أنثى</a:t>
            </a:r>
            <a:endParaRPr lang="ar-EG" sz="1400" dirty="0"/>
          </a:p>
        </p:txBody>
      </p:sp>
      <p:sp>
        <p:nvSpPr>
          <p:cNvPr id="30" name="Text 28"/>
          <p:cNvSpPr/>
          <p:nvPr/>
        </p:nvSpPr>
        <p:spPr>
          <a:xfrm>
            <a:off x="2273618" y="435864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13673" y="4305933"/>
            <a:ext cx="175609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7177" y="4382777"/>
            <a:ext cx="123158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رقم الطالب (ID)</a:t>
            </a:r>
            <a:endParaRPr lang="ar-EG" sz="1400" dirty="0"/>
          </a:p>
        </p:txBody>
      </p:sp>
      <p:sp>
        <p:nvSpPr>
          <p:cNvPr id="33" name="Text 31"/>
          <p:cNvSpPr/>
          <p:nvPr/>
        </p:nvSpPr>
        <p:spPr>
          <a:xfrm>
            <a:off x="4137660" y="43586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7715" y="4305933"/>
            <a:ext cx="2092643" cy="38481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220" y="4382777"/>
            <a:ext cx="1568132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عبارات مقياس ليكرت</a:t>
            </a:r>
            <a:endParaRPr lang="ar-EG" sz="1400" dirty="0"/>
          </a:p>
        </p:txBody>
      </p:sp>
      <p:sp>
        <p:nvSpPr>
          <p:cNvPr id="36" name="Text 34"/>
          <p:cNvSpPr/>
          <p:nvPr/>
        </p:nvSpPr>
        <p:spPr>
          <a:xfrm>
            <a:off x="6338253" y="435864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الخلاصة</a:t>
            </a:r>
            <a:endParaRPr lang="ar-EG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7758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i="0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الذي يجب أن تتذكره؟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8342"/>
            <a:ext cx="3386614" cy="2263775"/>
          </a:xfrm>
          <a:prstGeom prst="roundRect">
            <a:avLst>
              <a:gd name="adj" fmla="val 4488"/>
            </a:avLst>
          </a:prstGeom>
          <a:solidFill>
            <a:srgbClr val="2E3C52"/>
          </a:solidFill>
          <a:ln/>
        </p:spPr>
      </p:sp>
      <p:sp>
        <p:nvSpPr>
          <p:cNvPr id="5" name="Text 3"/>
          <p:cNvSpPr/>
          <p:nvPr/>
        </p:nvSpPr>
        <p:spPr>
          <a:xfrm>
            <a:off x="3589814" y="221234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0442" y="2694942"/>
            <a:ext cx="29649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العبارة الضعيفة</a:t>
            </a:r>
            <a:endParaRPr lang="ar-EG" sz="2000" dirty="0"/>
          </a:p>
        </p:txBody>
      </p:sp>
      <p:sp>
        <p:nvSpPr>
          <p:cNvPr id="7" name="Text 5"/>
          <p:cNvSpPr/>
          <p:nvPr/>
        </p:nvSpPr>
        <p:spPr>
          <a:xfrm>
            <a:off x="980442" y="3139442"/>
            <a:ext cx="296497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سالب أو ألفا بعد الحذف أعلى من الحالية: غالبًا عبارة معكوسة نحذفها أو نعكسها.</a:t>
            </a:r>
            <a:endParaRPr lang="ar-EG" sz="1500" dirty="0"/>
          </a:p>
        </p:txBody>
      </p:sp>
      <p:sp>
        <p:nvSpPr>
          <p:cNvPr id="8" name="Shape 6"/>
          <p:cNvSpPr/>
          <p:nvPr/>
        </p:nvSpPr>
        <p:spPr>
          <a:xfrm>
            <a:off x="4402614" y="1958342"/>
            <a:ext cx="3386693" cy="2263775"/>
          </a:xfrm>
          <a:prstGeom prst="roundRect">
            <a:avLst>
              <a:gd name="adj" fmla="val 4488"/>
            </a:avLst>
          </a:prstGeom>
          <a:solidFill>
            <a:srgbClr val="2E3C52"/>
          </a:solidFill>
          <a:ln/>
        </p:spPr>
      </p:sp>
      <p:sp>
        <p:nvSpPr>
          <p:cNvPr id="9" name="Text 7"/>
          <p:cNvSpPr/>
          <p:nvPr/>
        </p:nvSpPr>
        <p:spPr>
          <a:xfrm>
            <a:off x="7179707" y="221234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0253" y="2694942"/>
            <a:ext cx="2965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ألفا ‎0.70 فأكثر</a:t>
            </a:r>
            <a:endParaRPr lang="ar-EG" sz="2000" dirty="0"/>
          </a:p>
        </p:txBody>
      </p:sp>
      <p:sp>
        <p:nvSpPr>
          <p:cNvPr id="11" name="Text 9"/>
          <p:cNvSpPr/>
          <p:nvPr/>
        </p:nvSpPr>
        <p:spPr>
          <a:xfrm>
            <a:off x="4570253" y="3139442"/>
            <a:ext cx="296505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Analyze › Scale › Reliability Analysis، ونحكم على القيمة مقابل ‎0.70.</a:t>
            </a:r>
            <a:endParaRPr lang="ar-EG" sz="1500" dirty="0"/>
          </a:p>
        </p:txBody>
      </p:sp>
      <p:sp>
        <p:nvSpPr>
          <p:cNvPr id="12" name="Shape 10"/>
          <p:cNvSpPr/>
          <p:nvPr/>
        </p:nvSpPr>
        <p:spPr>
          <a:xfrm>
            <a:off x="7992507" y="1958342"/>
            <a:ext cx="3386693" cy="2263775"/>
          </a:xfrm>
          <a:prstGeom prst="roundRect">
            <a:avLst>
              <a:gd name="adj" fmla="val 4488"/>
            </a:avLst>
          </a:prstGeom>
          <a:solidFill>
            <a:srgbClr val="2E3C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9600" y="221234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0146" y="2694942"/>
            <a:ext cx="2965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الثبات أولًا</a:t>
            </a:r>
            <a:endParaRPr lang="ar-EG" sz="2000" dirty="0"/>
          </a:p>
        </p:txBody>
      </p:sp>
      <p:sp>
        <p:nvSpPr>
          <p:cNvPr id="15" name="Text 13"/>
          <p:cNvSpPr/>
          <p:nvPr/>
        </p:nvSpPr>
        <p:spPr>
          <a:xfrm>
            <a:off x="8160146" y="3139442"/>
            <a:ext cx="296505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نتأكد من ثبات الاستبيان على عينة صغيرة قبل توزيعه وتحليله.</a:t>
            </a:r>
            <a:endParaRPr lang="ar-EG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6238242"/>
            <a:ext cx="2448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08390" y="6238242"/>
            <a:ext cx="26708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سكشن 3</a:t>
            </a:r>
            <a:endParaRPr lang="ar-EG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سكشن 3 — ثبات الاستبيان">
  <a:themeElements>
    <a:clrScheme name="سكشن 3 — ثبات الاستبيان">
      <a:dk1>
        <a:srgbClr val="14233A"/>
      </a:dk1>
      <a:lt1>
        <a:srgbClr val="F6F4EF"/>
      </a:lt1>
      <a:dk2>
        <a:srgbClr val="4D5767"/>
      </a:dk2>
      <a:lt2>
        <a:srgbClr val="DFDFDD"/>
      </a:lt2>
      <a:accent1>
        <a:srgbClr val="1E5AA8"/>
      </a:accent1>
      <a:accent2>
        <a:srgbClr val="E9A23B"/>
      </a:accent2>
      <a:accent3>
        <a:srgbClr val="B9CCE6"/>
      </a:accent3>
      <a:accent4>
        <a:srgbClr val="9A5B00"/>
      </a:accent4>
      <a:accent5>
        <a:srgbClr val="FBEBD0"/>
      </a:accent5>
      <a:accent6>
        <a:srgbClr val="DCE7F5"/>
      </a:accent6>
      <a:hlink>
        <a:srgbClr val="0563C1"/>
      </a:hlink>
      <a:folHlink>
        <a:srgbClr val="954F72"/>
      </a:folHlink>
    </a:clrScheme>
    <a:fontScheme name="سكشن 3 — ثبات الاستبيان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سكشن 3 — ثبات الاستبيان</dc:title>
  <dc:subject/>
  <dc:creator/>
  <cp:lastModifiedBy/>
  <cp:revision>1</cp:revision>
  <dcterms:created xsi:type="dcterms:W3CDTF">2026-10-18T13:57:29Z</dcterms:created>
  <dcterms:modified xsi:type="dcterms:W3CDTF">2026-10-18T13:57:29Z</dcterms:modified>
</cp:coreProperties>
</file>