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اسأل الطلاب: هل متوسط 3.7 من عينة صغيرة كافٍ لنبني عليه قرار تحويل مواد كاملة إلى أونلاين؟ اسمع الإجابات ثم قل: اختبار الفروض هو الأداة التي تحسم ذلك.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درجة الاتجاه تُحسب في SPSS من Transform ثم Compute Variable بمتوسط q1 و q2 و q3 و q5 و q6. في التمارين اليوم نعطي الدرجة جاهزة حتى نركز على الاختبار. الجزء (أ) من الاستبيان (النوع، الكلية) نحتفظ به لسكشن المقارنة بين مجموعتين مستقلتين.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الفرض العدمي دائمًا فيه علامة يساوي، والبديل فيه لا يساوي. نبدأ دائمًا بافتراض أنه لا يوجد فرق، والبيانات هي التي تقنعنا بالعكس.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Sig هي احتمال أن نرى فرقًا بهذا الحجم لو كان الفرض العدمي صحيحًا. كلما صغرت، قلّ احتمال أن يكون الفرق صدفة. ملاحظة للمعيد: إحصائيًا الأدق أن نقول «لا نرفض الفرض العدمي» بدل «نقبله»، لكننا نلتزم بصياغة المحاضرة.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Test Value هي أهم خانة: لو نسيتها يقارن SPSS المتوسط بالصفر. مستوى الثقة في Options يغيّر فترة الثقة فقط، ونحن نستخدمه لنعرف α.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Test Value = 20، ومستوى الثقة 95% يعني α = 0.05. اطلب من الطلاب كتابة الفروض قبل تشغيل SPSS.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اقرأ مع الطلاب عمود Sig. (2-tailed) فقط للقرار. SPSS الحديث يضيف أيضًا جدول One-Sample Effect Sizes (يظهر في المحاضرة) ولا نحتاجه هنا.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لماذا 3؟ لأنها منتصف مقياس ليكرت (محايد). لو المتوسط أعلى من 3 معنويًا فالطلاب مؤيدون، ولو أقل معنويًا فهم معارضون.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الاختبار يقول هل يوجد فرق، وإشارة Mean Difference تقول اتجاهه. فترة الثقة (.33 إلى 1.04) كلها موجبة ولا تحتوي الصفر، وهذا يتفق مع رفض الفرض العدمي.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الفكرة: SPSS يحسب الفرق لكل شخص (قبل − بعد) ثم يختبر هل متوسط هذه الفروق يساوي صفرًا. لذلك يجب أن يكون الشخص نفسه في الصف نفسه.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تصحيح: في جدول المحاضرة رقم «بعد» للموظف الخامس 18، لكن مخرجات SPSS في الحل (Sig = 0.178) محسوبة على 24. كتبنا 24 هنا حتى يحصل الطلاب على نفس الحل. بالرقم 18 تكون Sig = 0.115 والقرار نفسه.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SPSS يطبع أيضًا جدول Paired Samples Correlations (الارتباط بين قبل وبعد = .868) ولا نستخدمه في القرار. Mean = قبل − بعد = 1.5 موجب، أي أن الأخطاء قلّت.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لماذا مترابطتان؟ لأنهم نفس الطلاب الثمانية في القياسين. لاحظ أن مستوى الثقة هنا 99%، أي α = 0.01.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SPSS يطرح Variable1 − Variable2 بالترتيب الذي أدخلناه. لو وضعنا att_after أولًا تصبح الإشارة موجبة والقرار نفسه. للإدارة: «تجربة الدراسة أونلاين لمدة أسبوعين حسّنت اتجاه الطلاب بشكل معنوي».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هذا أكثر خطأ شائع في الامتحان: الطالب يقارن دائمًا بـ 0.05. في مثال 2 القادم مستوى الثقة 99%.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الإجابات: 1: أ | 2: ج | 3: ب | 4: ج. مستوى الثقة نقرؤه من عنوان فترة الثقة (99%)، إذن α = 1%.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الإجابات: 5: ج | 6: أ | 7: أ. Sig = 0.064 أكبر من α = 0.01، إذن نقبل الفرض العدمي. لاحظ: لو كانت الثقة 95% لكانت 0.064 أيضًا أكبر من 0.05.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الإجابات: 1: أ | 2: ب | 3: ج. في المحاضرة يظهر أيضًا جدول Paired Samples Correlations (r = .905، Sig = .013): لا تخلط بين Sig الارتباط و Sig الاختبار.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الإجابات: 4: ب | 5: ب. Sig = 0.012 أصغر من α = 0.05، إذن نرفض الفرض العدمي: يوجد فرق معنوي بين قبل وبعد.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1346200"/>
            <a:ext cx="4165600" cy="4165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14264" y="1682849"/>
            <a:ext cx="596493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  <p:sp>
        <p:nvSpPr>
          <p:cNvPr id="4" name="Text 1"/>
          <p:cNvSpPr/>
          <p:nvPr/>
        </p:nvSpPr>
        <p:spPr>
          <a:xfrm>
            <a:off x="5414264" y="2099370"/>
            <a:ext cx="5964936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6768"/>
              </a:lnSpc>
              <a:buNone/>
            </a:pPr>
            <a:r>
              <a:rPr lang="ar-EG" sz="565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اختبارات الفروض للمتوسط</a:t>
            </a:r>
            <a:endParaRPr lang="ar-EG" sz="5650" dirty="0"/>
          </a:p>
        </p:txBody>
      </p:sp>
      <p:sp>
        <p:nvSpPr>
          <p:cNvPr id="5" name="Text 2"/>
          <p:cNvSpPr/>
          <p:nvPr/>
        </p:nvSpPr>
        <p:spPr>
          <a:xfrm>
            <a:off x="5414264" y="4131370"/>
            <a:ext cx="5964936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860"/>
              </a:lnSpc>
              <a:buNone/>
            </a:pPr>
            <a:r>
              <a:rPr lang="ar-EG" sz="2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هل الفرق حقيقي أم مجرد صدفة؟</a:t>
            </a:r>
            <a:endParaRPr lang="ar-EG" sz="2200" dirty="0"/>
          </a:p>
        </p:txBody>
      </p:sp>
      <p:sp>
        <p:nvSpPr>
          <p:cNvPr id="6" name="Shape 3"/>
          <p:cNvSpPr/>
          <p:nvPr/>
        </p:nvSpPr>
        <p:spPr>
          <a:xfrm>
            <a:off x="10617200" y="4697710"/>
            <a:ext cx="762000" cy="25400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7" name="Text 4"/>
          <p:cNvSpPr/>
          <p:nvPr/>
        </p:nvSpPr>
        <p:spPr>
          <a:xfrm>
            <a:off x="5414264" y="4926310"/>
            <a:ext cx="596493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Horus University · 2026/2027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68450" y="1917700"/>
            <a:ext cx="98107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قبل أن نبدأ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1568450" y="2385020"/>
            <a:ext cx="9810750" cy="726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5023"/>
              </a:lnSpc>
              <a:buNone/>
            </a:pPr>
            <a:r>
              <a:rPr lang="ar-EG" sz="435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‎3.7 من 5: هل الطلاب مؤيدون فعلًا؟</a:t>
            </a:r>
            <a:endParaRPr lang="ar-EG" sz="4350" dirty="0"/>
          </a:p>
        </p:txBody>
      </p:sp>
      <p:sp>
        <p:nvSpPr>
          <p:cNvPr id="4" name="Text 2"/>
          <p:cNvSpPr/>
          <p:nvPr/>
        </p:nvSpPr>
        <p:spPr>
          <a:xfrm>
            <a:off x="1568450" y="3340001"/>
            <a:ext cx="981075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3000"/>
              </a:lnSpc>
              <a:buNone/>
            </a:pPr>
            <a:r>
              <a:rPr lang="ar-EG" sz="20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سألنا 12 طالبًا عن التعليم الإلكتروني فكان متوسط اتجاههم ‎3.7، أعلى من المحايد 3. لكن لو سألنا 12 طالبًا غيرهم قد نحصل على ‎2.9.</a:t>
            </a:r>
            <a:endParaRPr lang="ar-EG" sz="2000" dirty="0"/>
          </a:p>
        </p:txBody>
      </p:sp>
      <p:sp>
        <p:nvSpPr>
          <p:cNvPr id="5" name="Text 3"/>
          <p:cNvSpPr/>
          <p:nvPr/>
        </p:nvSpPr>
        <p:spPr>
          <a:xfrm>
            <a:off x="1568450" y="4356001"/>
            <a:ext cx="981075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730"/>
              </a:lnSpc>
              <a:buNone/>
            </a:pPr>
            <a:r>
              <a:rPr lang="ar-EG" sz="18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قبل أن نقول للإدارة «الطلاب مؤيدون» نحتاج اختبارًا يجيب: هل الفرق حقيقي أم صدفة؟</a:t>
            </a:r>
            <a:endParaRPr lang="ar-EG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خطة السكشن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ماذا سنتعلم اليوم؟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517144" y="2097980"/>
            <a:ext cx="1015085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الفرض الإحصائي: الفرض العدمي والفرض البديل وقاعدة القرار</a:t>
            </a:r>
            <a:endParaRPr lang="ar-EG" sz="1800" dirty="0"/>
          </a:p>
        </p:txBody>
      </p:sp>
      <p:sp>
        <p:nvSpPr>
          <p:cNvPr id="5" name="Text 3"/>
          <p:cNvSpPr/>
          <p:nvPr/>
        </p:nvSpPr>
        <p:spPr>
          <a:xfrm>
            <a:off x="10871200" y="2104330"/>
            <a:ext cx="5080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12800" y="2538016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7144" y="2680891"/>
            <a:ext cx="1015085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اختبار عينة واحدة One Sample T-Test</a:t>
            </a:r>
            <a:endParaRPr lang="ar-EG" sz="1800" dirty="0"/>
          </a:p>
        </p:txBody>
      </p:sp>
      <p:sp>
        <p:nvSpPr>
          <p:cNvPr id="8" name="Text 6"/>
          <p:cNvSpPr/>
          <p:nvPr/>
        </p:nvSpPr>
        <p:spPr>
          <a:xfrm>
            <a:off x="10871200" y="2687241"/>
            <a:ext cx="5080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2800" y="3120926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7144" y="3263801"/>
            <a:ext cx="1015085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اختبار عينتين مترابطتين Paired Samples T-Test</a:t>
            </a:r>
            <a:endParaRPr lang="ar-EG" sz="1800" dirty="0"/>
          </a:p>
        </p:txBody>
      </p:sp>
      <p:sp>
        <p:nvSpPr>
          <p:cNvPr id="11" name="Text 9"/>
          <p:cNvSpPr/>
          <p:nvPr/>
        </p:nvSpPr>
        <p:spPr>
          <a:xfrm>
            <a:off x="10871200" y="3270151"/>
            <a:ext cx="5080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2800" y="3703836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144" y="3846711"/>
            <a:ext cx="1015085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تطبيق على دراسة الحالة: اتجاه الطلاب نحو التعليم الإلكتروني</a:t>
            </a:r>
            <a:endParaRPr lang="ar-EG" sz="1800" dirty="0"/>
          </a:p>
        </p:txBody>
      </p:sp>
      <p:sp>
        <p:nvSpPr>
          <p:cNvPr id="14" name="Text 12"/>
          <p:cNvSpPr/>
          <p:nvPr/>
        </p:nvSpPr>
        <p:spPr>
          <a:xfrm>
            <a:off x="10871200" y="3853061"/>
            <a:ext cx="5080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2800" y="4286746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144" y="4429621"/>
            <a:ext cx="1015085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قراءة المخرجات: أسئلة اختيار من متعدد</a:t>
            </a:r>
            <a:endParaRPr lang="ar-EG" sz="1800" dirty="0"/>
          </a:p>
        </p:txBody>
      </p:sp>
      <p:sp>
        <p:nvSpPr>
          <p:cNvPr id="17" name="Text 15"/>
          <p:cNvSpPr/>
          <p:nvPr/>
        </p:nvSpPr>
        <p:spPr>
          <a:xfrm>
            <a:off x="10871200" y="4435971"/>
            <a:ext cx="5080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2362200"/>
            <a:ext cx="457200" cy="213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22500" y="1795760"/>
            <a:ext cx="91567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2222500" y="3472160"/>
            <a:ext cx="91567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7200"/>
              </a:lnSpc>
              <a:buNone/>
            </a:pPr>
            <a:r>
              <a:rPr lang="ar-EG" sz="6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الفرض الإحصائي</a:t>
            </a:r>
            <a:endParaRPr lang="ar-EG" sz="6000" dirty="0"/>
          </a:p>
        </p:txBody>
      </p:sp>
      <p:sp>
        <p:nvSpPr>
          <p:cNvPr id="5" name="Text 2"/>
          <p:cNvSpPr/>
          <p:nvPr/>
        </p:nvSpPr>
        <p:spPr>
          <a:xfrm>
            <a:off x="2222500" y="4538960"/>
            <a:ext cx="91567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20"/>
              </a:lnSpc>
              <a:buNone/>
            </a:pPr>
            <a:r>
              <a:rPr lang="ar-EG" sz="18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ادعاء نختبره، وقاعدة واحدة للحكم عليه</a:t>
            </a:r>
            <a:endParaRPr lang="ar-EG" sz="1800" dirty="0"/>
          </a:p>
        </p:txBody>
      </p:sp>
      <p:sp>
        <p:nvSpPr>
          <p:cNvPr id="6" name="Text 3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دراسة الحالة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من الثبات إلى القرار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10655"/>
            <a:ext cx="3397250" cy="1982291"/>
          </a:xfrm>
          <a:prstGeom prst="roundRect">
            <a:avLst>
              <a:gd name="adj" fmla="val 496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2350" y="2117030"/>
            <a:ext cx="118883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أسئلة الإدارة</a:t>
            </a:r>
            <a:endParaRPr lang="ar-EG" sz="1400" dirty="0"/>
          </a:p>
        </p:txBody>
      </p:sp>
      <p:sp>
        <p:nvSpPr>
          <p:cNvPr id="6" name="Text 4"/>
          <p:cNvSpPr/>
          <p:nvPr/>
        </p:nvSpPr>
        <p:spPr>
          <a:xfrm>
            <a:off x="932815" y="2538611"/>
            <a:ext cx="307403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سؤالان اليوم</a:t>
            </a:r>
            <a:endParaRPr lang="ar-EG" sz="1800" dirty="0"/>
          </a:p>
        </p:txBody>
      </p:sp>
      <p:sp>
        <p:nvSpPr>
          <p:cNvPr id="7" name="Text 5"/>
          <p:cNvSpPr/>
          <p:nvPr/>
        </p:nvSpPr>
        <p:spPr>
          <a:xfrm>
            <a:off x="932815" y="2913261"/>
            <a:ext cx="3074035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969"/>
              </a:lnSpc>
              <a:buNone/>
            </a:pPr>
            <a:r>
              <a:rPr lang="ar-EG" sz="135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هل اتجاه الطلاب يختلف عن المحايد؟ وهل تجربة الدراسة أونلاين غيّرت رأيهم؟</a:t>
            </a:r>
            <a:endParaRPr lang="ar-EG" sz="1350" dirty="0"/>
          </a:p>
        </p:txBody>
      </p:sp>
      <p:sp>
        <p:nvSpPr>
          <p:cNvPr id="8" name="Shape 6"/>
          <p:cNvSpPr/>
          <p:nvPr/>
        </p:nvSpPr>
        <p:spPr>
          <a:xfrm>
            <a:off x="4397375" y="1910655"/>
            <a:ext cx="3397250" cy="1982291"/>
          </a:xfrm>
          <a:prstGeom prst="roundRect">
            <a:avLst>
              <a:gd name="adj" fmla="val 496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3750" y="2117030"/>
            <a:ext cx="776982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المتغير</a:t>
            </a:r>
            <a:endParaRPr lang="ar-EG" sz="1400" dirty="0"/>
          </a:p>
        </p:txBody>
      </p:sp>
      <p:sp>
        <p:nvSpPr>
          <p:cNvPr id="10" name="Text 8"/>
          <p:cNvSpPr/>
          <p:nvPr/>
        </p:nvSpPr>
        <p:spPr>
          <a:xfrm>
            <a:off x="4514215" y="2538611"/>
            <a:ext cx="307403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درجة الاتجاه</a:t>
            </a:r>
            <a:endParaRPr lang="ar-EG" sz="1800" dirty="0"/>
          </a:p>
        </p:txBody>
      </p:sp>
      <p:sp>
        <p:nvSpPr>
          <p:cNvPr id="11" name="Text 9"/>
          <p:cNvSpPr/>
          <p:nvPr/>
        </p:nvSpPr>
        <p:spPr>
          <a:xfrm>
            <a:off x="4514215" y="2913261"/>
            <a:ext cx="3074035" cy="798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متوسط إجابات الطالب على العبارات الخمس، من 1 إلى 5. متغير كمي (Scale)، و3 تعني محايد.</a:t>
            </a:r>
            <a:endParaRPr lang="ar-EG" sz="1400" dirty="0"/>
          </a:p>
        </p:txBody>
      </p:sp>
      <p:sp>
        <p:nvSpPr>
          <p:cNvPr id="12" name="Shape 10"/>
          <p:cNvSpPr/>
          <p:nvPr/>
        </p:nvSpPr>
        <p:spPr>
          <a:xfrm>
            <a:off x="7978775" y="1910655"/>
            <a:ext cx="3397250" cy="1982291"/>
          </a:xfrm>
          <a:prstGeom prst="roundRect">
            <a:avLst>
              <a:gd name="adj" fmla="val 496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85150" y="2117030"/>
            <a:ext cx="1174552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وصلنا إليه</a:t>
            </a:r>
            <a:endParaRPr lang="ar-EG" sz="1400" dirty="0"/>
          </a:p>
        </p:txBody>
      </p:sp>
      <p:sp>
        <p:nvSpPr>
          <p:cNvPr id="14" name="Text 12"/>
          <p:cNvSpPr/>
          <p:nvPr/>
        </p:nvSpPr>
        <p:spPr>
          <a:xfrm>
            <a:off x="8095615" y="2538611"/>
            <a:ext cx="307403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استبيان ثابت</a:t>
            </a:r>
            <a:endParaRPr lang="ar-EG" sz="1800" dirty="0"/>
          </a:p>
        </p:txBody>
      </p:sp>
      <p:sp>
        <p:nvSpPr>
          <p:cNvPr id="15" name="Text 13"/>
          <p:cNvSpPr/>
          <p:nvPr/>
        </p:nvSpPr>
        <p:spPr>
          <a:xfrm>
            <a:off x="8095615" y="2913261"/>
            <a:ext cx="3074035" cy="798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في سكشن 3 حذفنا q4 فأصبح ثبات العبارات الخمس جيدًا (ألفا = ‎.828)، ثم وُزّع الاستبيان على الطلاب.</a:t>
            </a:r>
            <a:endParaRPr lang="ar-EG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150122"/>
            <a:ext cx="10566400" cy="332680"/>
          </a:xfrm>
          <a:prstGeom prst="roundRect">
            <a:avLst>
              <a:gd name="adj" fmla="val 50000"/>
            </a:avLst>
          </a:prstGeom>
          <a:solidFill>
            <a:srgbClr val="FBEBD0"/>
          </a:solidFill>
          <a:ln/>
        </p:spPr>
        <p:txBody>
          <a:bodyPr wrap="none" lIns="0" tIns="2081" rIns="90981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نجيب عن السؤالين باختبار T: عينة واحدة، ثم عينتان مترابطتان</a:t>
            </a:r>
            <a:endParaRPr lang="ar-EG" sz="1400" dirty="0"/>
          </a:p>
        </p:txBody>
      </p:sp>
      <p:sp>
        <p:nvSpPr>
          <p:cNvPr id="17" name="Text 15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التعريف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هو الفرض الإحصائي؟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495808" y="1907480"/>
            <a:ext cx="10883392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ادعاء أو تخمين حول معلمة من معالم المجتمع (مثل المتوسط ‎μ)، والمطلوب اختبار صحة هذا الادعاء.</a:t>
            </a:r>
            <a:endParaRPr lang="ar-EG" sz="1600" dirty="0"/>
          </a:p>
        </p:txBody>
      </p:sp>
      <p:sp>
        <p:nvSpPr>
          <p:cNvPr id="5" name="Shape 3"/>
          <p:cNvSpPr/>
          <p:nvPr/>
        </p:nvSpPr>
        <p:spPr>
          <a:xfrm>
            <a:off x="815975" y="2469455"/>
            <a:ext cx="5175250" cy="2368352"/>
          </a:xfrm>
          <a:prstGeom prst="roundRect">
            <a:avLst>
              <a:gd name="adj" fmla="val 4156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92030" y="2701230"/>
            <a:ext cx="467420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06399" y="3135511"/>
            <a:ext cx="48530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الفرض البديل</a:t>
            </a:r>
            <a:endParaRPr lang="ar-EG" sz="2000" dirty="0"/>
          </a:p>
        </p:txBody>
      </p:sp>
      <p:sp>
        <p:nvSpPr>
          <p:cNvPr id="8" name="Text 6"/>
          <p:cNvSpPr/>
          <p:nvPr/>
        </p:nvSpPr>
        <p:spPr>
          <a:xfrm>
            <a:off x="906399" y="3554611"/>
            <a:ext cx="4853051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يوجد فرق أو تغيّر حقيقي. هو عكس الفرض العدمي.</a:t>
            </a:r>
            <a:endParaRPr lang="ar-EG" sz="1400" dirty="0"/>
          </a:p>
        </p:txBody>
      </p:sp>
      <p:sp>
        <p:nvSpPr>
          <p:cNvPr id="9" name="Text 7"/>
          <p:cNvSpPr/>
          <p:nvPr/>
        </p:nvSpPr>
        <p:spPr>
          <a:xfrm>
            <a:off x="1047750" y="4273352"/>
            <a:ext cx="4711700" cy="332680"/>
          </a:xfrm>
          <a:prstGeom prst="roundRect">
            <a:avLst>
              <a:gd name="adj" fmla="val 50000"/>
            </a:avLst>
          </a:prstGeom>
          <a:solidFill>
            <a:srgbClr val="FBEBD0"/>
          </a:solidFill>
          <a:ln/>
        </p:spPr>
        <p:txBody>
          <a:bodyPr wrap="none" lIns="0" tIns="2081" rIns="90981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في حالتنا: متوسط الاتجاه ≠ 3</a:t>
            </a:r>
            <a:endParaRPr lang="ar-EG" sz="1400" dirty="0"/>
          </a:p>
        </p:txBody>
      </p:sp>
      <p:sp>
        <p:nvSpPr>
          <p:cNvPr id="10" name="Shape 8"/>
          <p:cNvSpPr/>
          <p:nvPr/>
        </p:nvSpPr>
        <p:spPr>
          <a:xfrm>
            <a:off x="6200775" y="2469455"/>
            <a:ext cx="5175250" cy="2368352"/>
          </a:xfrm>
          <a:prstGeom prst="roundRect">
            <a:avLst>
              <a:gd name="adj" fmla="val 4156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76830" y="2701230"/>
            <a:ext cx="467420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91199" y="3135511"/>
            <a:ext cx="48530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الفرض العدمي</a:t>
            </a:r>
            <a:endParaRPr lang="ar-EG" sz="2000" dirty="0"/>
          </a:p>
        </p:txBody>
      </p:sp>
      <p:sp>
        <p:nvSpPr>
          <p:cNvPr id="13" name="Text 11"/>
          <p:cNvSpPr/>
          <p:nvPr/>
        </p:nvSpPr>
        <p:spPr>
          <a:xfrm>
            <a:off x="6291199" y="3554611"/>
            <a:ext cx="4853051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لا يوجد فرق أو تغيّر. الفرق بين العينة والمجتمع ناتج عن الصدفة، ولا فرق حقيقي.</a:t>
            </a:r>
            <a:endParaRPr lang="ar-EG" sz="1400" dirty="0"/>
          </a:p>
        </p:txBody>
      </p:sp>
      <p:sp>
        <p:nvSpPr>
          <p:cNvPr id="14" name="Text 12"/>
          <p:cNvSpPr/>
          <p:nvPr/>
        </p:nvSpPr>
        <p:spPr>
          <a:xfrm>
            <a:off x="6432550" y="4273352"/>
            <a:ext cx="4711700" cy="332680"/>
          </a:xfrm>
          <a:prstGeom prst="roundRect">
            <a:avLst>
              <a:gd name="adj" fmla="val 50000"/>
            </a:avLst>
          </a:prstGeom>
          <a:solidFill>
            <a:srgbClr val="FBEBD0"/>
          </a:solidFill>
          <a:ln/>
        </p:spPr>
        <p:txBody>
          <a:bodyPr wrap="none" lIns="0" tIns="2081" rIns="90981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في حالتنا: متوسط الاتجاه = 3</a:t>
            </a:r>
            <a:endParaRPr lang="ar-EG" sz="1400" dirty="0"/>
          </a:p>
        </p:txBody>
      </p:sp>
      <p:sp>
        <p:nvSpPr>
          <p:cNvPr id="15" name="Text 13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خطوات الاختبار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ثلاث خطوات وقاعدة قرار واحدة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58280"/>
            <a:ext cx="4826000" cy="1444526"/>
          </a:xfrm>
          <a:prstGeom prst="roundRect">
            <a:avLst>
              <a:gd name="adj" fmla="val 7033"/>
            </a:avLst>
          </a:prstGeom>
          <a:solidFill>
            <a:srgbClr val="FBEBD0"/>
          </a:solidFill>
          <a:ln/>
        </p:spPr>
      </p:sp>
      <p:sp>
        <p:nvSpPr>
          <p:cNvPr id="5" name="Text 3"/>
          <p:cNvSpPr/>
          <p:nvPr/>
        </p:nvSpPr>
        <p:spPr>
          <a:xfrm>
            <a:off x="4434681" y="2161480"/>
            <a:ext cx="100091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Sig ≥ α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83412" y="2583061"/>
            <a:ext cx="455218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25"/>
              </a:lnSpc>
              <a:buNone/>
            </a:pPr>
            <a:r>
              <a:rPr lang="ar-EG" sz="17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قبول الفرض العدمي ورفض البديل</a:t>
            </a:r>
            <a:endParaRPr lang="ar-EG" sz="1700" dirty="0"/>
          </a:p>
        </p:txBody>
      </p:sp>
      <p:sp>
        <p:nvSpPr>
          <p:cNvPr id="7" name="Text 5"/>
          <p:cNvSpPr/>
          <p:nvPr/>
        </p:nvSpPr>
        <p:spPr>
          <a:xfrm>
            <a:off x="883412" y="2941836"/>
            <a:ext cx="4552188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الفرق الذي نراه في العينة يمكن أن يكون صدفة.</a:t>
            </a:r>
            <a:endParaRPr lang="ar-EG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555206"/>
            <a:ext cx="4826000" cy="1444526"/>
          </a:xfrm>
          <a:prstGeom prst="roundRect">
            <a:avLst>
              <a:gd name="adj" fmla="val 7033"/>
            </a:avLst>
          </a:prstGeom>
          <a:solidFill>
            <a:srgbClr val="DDEFE3"/>
          </a:solidFill>
          <a:ln/>
        </p:spPr>
      </p:sp>
      <p:sp>
        <p:nvSpPr>
          <p:cNvPr id="9" name="Text 7"/>
          <p:cNvSpPr/>
          <p:nvPr/>
        </p:nvSpPr>
        <p:spPr>
          <a:xfrm>
            <a:off x="4434681" y="3758406"/>
            <a:ext cx="100091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Sig &lt; 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3412" y="4179987"/>
            <a:ext cx="455218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25"/>
              </a:lnSpc>
              <a:buNone/>
            </a:pPr>
            <a:r>
              <a:rPr lang="ar-EG" sz="1700" b="1" dirty="0">
                <a:solidFill>
                  <a:srgbClr val="2E7D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رفض الفرض العدمي وقبول البديل</a:t>
            </a:r>
            <a:endParaRPr lang="ar-EG" sz="1700" dirty="0"/>
          </a:p>
        </p:txBody>
      </p:sp>
      <p:sp>
        <p:nvSpPr>
          <p:cNvPr id="11" name="Text 9"/>
          <p:cNvSpPr/>
          <p:nvPr/>
        </p:nvSpPr>
        <p:spPr>
          <a:xfrm>
            <a:off x="883412" y="4538762"/>
            <a:ext cx="4552188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الفرق حقيقي (معنوي)، وليس صدفة.</a:t>
            </a:r>
            <a:endParaRPr lang="ar-EG" sz="1400" dirty="0"/>
          </a:p>
        </p:txBody>
      </p:sp>
      <p:sp>
        <p:nvSpPr>
          <p:cNvPr id="12" name="Text 10"/>
          <p:cNvSpPr/>
          <p:nvPr/>
        </p:nvSpPr>
        <p:spPr>
          <a:xfrm>
            <a:off x="5845810" y="1958280"/>
            <a:ext cx="510159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تعريف الفروض (‎H0 و ‎H1)</a:t>
            </a:r>
            <a:endParaRPr lang="ar-EG" sz="1600" dirty="0"/>
          </a:p>
        </p:txBody>
      </p:sp>
      <p:sp>
        <p:nvSpPr>
          <p:cNvPr id="13" name="Text 11"/>
          <p:cNvSpPr/>
          <p:nvPr/>
        </p:nvSpPr>
        <p:spPr>
          <a:xfrm>
            <a:off x="11074400" y="19582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45810" y="2390080"/>
            <a:ext cx="510159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التطبيق على برنامج SPSS</a:t>
            </a:r>
            <a:endParaRPr lang="ar-EG" sz="1600" dirty="0"/>
          </a:p>
        </p:txBody>
      </p:sp>
      <p:sp>
        <p:nvSpPr>
          <p:cNvPr id="15" name="Text 13"/>
          <p:cNvSpPr/>
          <p:nvPr/>
        </p:nvSpPr>
        <p:spPr>
          <a:xfrm>
            <a:off x="11074400" y="23900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45810" y="2821880"/>
            <a:ext cx="510159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مقارنة قيمة ‎Sig مع مستوى المعنوية ‎α</a:t>
            </a:r>
            <a:endParaRPr lang="ar-EG" sz="1600" dirty="0"/>
          </a:p>
        </p:txBody>
      </p:sp>
      <p:sp>
        <p:nvSpPr>
          <p:cNvPr id="17" name="Text 15"/>
          <p:cNvSpPr/>
          <p:nvPr/>
        </p:nvSpPr>
        <p:spPr>
          <a:xfrm>
            <a:off x="11074400" y="28218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94400" y="3279080"/>
            <a:ext cx="5384800" cy="871141"/>
          </a:xfrm>
          <a:prstGeom prst="roundRect">
            <a:avLst>
              <a:gd name="adj" fmla="val 11663"/>
            </a:avLst>
          </a:prstGeom>
          <a:solidFill>
            <a:srgbClr val="DCE7F5"/>
          </a:solidFill>
          <a:ln/>
        </p:spPr>
        <p:txBody>
          <a:bodyPr wrap="square" lIns="0" tIns="148042" rIns="148042" bIns="122642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مستوى المعنوية ‎α = 1 − مستوى الثقة. ثقة 95% تعني ‎α = 0.05، وثقة 99% تعني ‎α = 0.01.</a:t>
            </a:r>
            <a:endParaRPr lang="ar-EG" sz="1400" dirty="0"/>
          </a:p>
        </p:txBody>
      </p:sp>
      <p:sp>
        <p:nvSpPr>
          <p:cNvPr id="19" name="Text 17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07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2362200"/>
            <a:ext cx="457200" cy="213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22500" y="1795760"/>
            <a:ext cx="91567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2222500" y="3472160"/>
            <a:ext cx="91567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7200"/>
              </a:lnSpc>
              <a:buNone/>
            </a:pPr>
            <a:r>
              <a:rPr lang="ar-EG" sz="6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اختبار عينة واحدة</a:t>
            </a:r>
            <a:endParaRPr lang="ar-EG" sz="6000" dirty="0"/>
          </a:p>
        </p:txBody>
      </p:sp>
      <p:sp>
        <p:nvSpPr>
          <p:cNvPr id="5" name="Text 2"/>
          <p:cNvSpPr/>
          <p:nvPr/>
        </p:nvSpPr>
        <p:spPr>
          <a:xfrm>
            <a:off x="2222500" y="4538960"/>
            <a:ext cx="91567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20"/>
              </a:lnSpc>
              <a:buNone/>
            </a:pPr>
            <a:r>
              <a:rPr lang="ar-EG" sz="18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هل متوسط المجتمع يساوي قيمة معينة؟</a:t>
            </a:r>
            <a:endParaRPr lang="ar-EG" sz="1800" dirty="0"/>
          </a:p>
        </p:txBody>
      </p:sp>
      <p:sp>
        <p:nvSpPr>
          <p:cNvPr id="6" name="Text 3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08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95842" y="812800"/>
            <a:ext cx="1783358" cy="289520"/>
          </a:xfrm>
          <a:custGeom>
            <a:avLst/>
            <a:gdLst/>
            <a:ahLst/>
            <a:cxnLst/>
            <a:rect l="l" t="t" r="r" b="b"/>
            <a:pathLst>
              <a:path w="1783358" h="289520">
                <a:moveTo>
                  <a:pt x="144760" y="0"/>
                </a:moveTo>
                <a:lnTo>
                  <a:pt x="1638598" y="0"/>
                </a:lnTo>
                <a:arcTo hR="144760" wR="144760" stAng="16200000" swAng="5400000"/>
                <a:lnTo>
                  <a:pt x="1783358" y="144760"/>
                </a:lnTo>
                <a:arcTo hR="144760" wR="144760" stAng="0" swAng="5400000"/>
                <a:lnTo>
                  <a:pt x="144760" y="289520"/>
                </a:lnTo>
                <a:arcTo hR="144760" wR="144760" stAng="5400000" swAng="5400000"/>
                <a:lnTo>
                  <a:pt x="0" y="144760"/>
                </a:lnTo>
                <a:arcTo hR="144760" wR="14476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 Sample T-Test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2039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متى نستخدمه؟ وكيف؟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034480"/>
            <a:ext cx="2067917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 Sample T-Test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82317" y="2034480"/>
            <a:ext cx="36075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444677" y="2034480"/>
            <a:ext cx="164107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Compare Means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187355" y="2034480"/>
            <a:ext cx="36075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›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49714" y="2034480"/>
            <a:ext cx="100091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Analyze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6110" y="25195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أدخل البيانات في SPSS ثم اختر المسار أعلاه.</a:t>
            </a:r>
            <a:endParaRPr lang="ar-EG" sz="1400" dirty="0"/>
          </a:p>
        </p:txBody>
      </p:sp>
      <p:sp>
        <p:nvSpPr>
          <p:cNvPr id="10" name="Text 8"/>
          <p:cNvSpPr/>
          <p:nvPr/>
        </p:nvSpPr>
        <p:spPr>
          <a:xfrm>
            <a:off x="7162800" y="25195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6110" y="29513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انقل المتغير إلى خانة Test Variable(s).</a:t>
            </a:r>
            <a:endParaRPr lang="ar-EG" sz="1400" dirty="0"/>
          </a:p>
        </p:txBody>
      </p:sp>
      <p:sp>
        <p:nvSpPr>
          <p:cNvPr id="12" name="Text 10"/>
          <p:cNvSpPr/>
          <p:nvPr/>
        </p:nvSpPr>
        <p:spPr>
          <a:xfrm>
            <a:off x="7162800" y="29513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26110" y="33831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اكتب القيمة الافتراضية الموجودة في السؤال في خانة Test Value.</a:t>
            </a:r>
            <a:endParaRPr lang="ar-EG" sz="1400" dirty="0"/>
          </a:p>
        </p:txBody>
      </p:sp>
      <p:sp>
        <p:nvSpPr>
          <p:cNvPr id="14" name="Text 12"/>
          <p:cNvSpPr/>
          <p:nvPr/>
        </p:nvSpPr>
        <p:spPr>
          <a:xfrm>
            <a:off x="7162800" y="33831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6110" y="38149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لتحديد مستوى الثقة اضغط Options واكتب قيمته.</a:t>
            </a:r>
            <a:endParaRPr lang="ar-EG" sz="1400" dirty="0"/>
          </a:p>
        </p:txBody>
      </p:sp>
      <p:sp>
        <p:nvSpPr>
          <p:cNvPr id="16" name="Text 14"/>
          <p:cNvSpPr/>
          <p:nvPr/>
        </p:nvSpPr>
        <p:spPr>
          <a:xfrm>
            <a:off x="7162800" y="38149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6110" y="42467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اضغط Continue ثم OK.</a:t>
            </a:r>
            <a:endParaRPr lang="ar-EG" sz="1400" dirty="0"/>
          </a:p>
        </p:txBody>
      </p:sp>
      <p:sp>
        <p:nvSpPr>
          <p:cNvPr id="18" name="Text 16"/>
          <p:cNvSpPr/>
          <p:nvPr/>
        </p:nvSpPr>
        <p:spPr>
          <a:xfrm>
            <a:off x="7162800" y="42467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26375" y="2037655"/>
            <a:ext cx="3549650" cy="2311202"/>
          </a:xfrm>
          <a:prstGeom prst="roundRect">
            <a:avLst>
              <a:gd name="adj" fmla="val 4259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65567" y="2269430"/>
            <a:ext cx="317868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متى نستخدمه؟</a:t>
            </a:r>
            <a:endParaRPr lang="ar-EG" sz="1800" dirty="0"/>
          </a:p>
        </p:txBody>
      </p:sp>
      <p:sp>
        <p:nvSpPr>
          <p:cNvPr id="21" name="Text 19"/>
          <p:cNvSpPr/>
          <p:nvPr/>
        </p:nvSpPr>
        <p:spPr>
          <a:xfrm>
            <a:off x="7965567" y="2682180"/>
            <a:ext cx="3178683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عندما نقارن متوسط متغير كمي واحد بقيمة افتراضية ‎μ0 مذكورة في السؤال.</a:t>
            </a:r>
            <a:endParaRPr lang="ar-EG" sz="1400" dirty="0"/>
          </a:p>
        </p:txBody>
      </p:sp>
      <p:sp>
        <p:nvSpPr>
          <p:cNvPr id="22" name="Text 20"/>
          <p:cNvSpPr/>
          <p:nvPr/>
        </p:nvSpPr>
        <p:spPr>
          <a:xfrm>
            <a:off x="9823252" y="3324721"/>
            <a:ext cx="132099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H0: μ = μ0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823252" y="3784402"/>
            <a:ext cx="132099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H1: μ ≠ μ0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09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E8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التطبيق على SPSS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اختبار عينة واحدة خطوة بخطوة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1455"/>
            <a:ext cx="3380284" cy="2368550"/>
          </a:xfrm>
          <a:prstGeom prst="roundRect">
            <a:avLst>
              <a:gd name="adj" fmla="val 415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5" name="Image 0" descr="Options dialog with Confidence Interval Percentage 95">    </p:cNvPr>
          <p:cNvPicPr>
            <a:picLocks noChangeAspect="1"/>
          </p:cNvPicPr>
          <p:nvPr/>
        </p:nvPicPr>
        <p:blipFill>
          <a:blip r:embed="rId1"/>
          <a:srcRect l="0" r="0" t="-1362" b="-1362"/>
          <a:stretch/>
        </p:blipFill>
        <p:spPr>
          <a:xfrm>
            <a:off x="982067" y="2066230"/>
            <a:ext cx="3048000" cy="215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3393" y="4460180"/>
            <a:ext cx="3069641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من Options اكتب مستوى الثقة ثم Continue</a:t>
            </a:r>
            <a:endParaRPr lang="ar-EG" sz="1400" dirty="0"/>
          </a:p>
        </p:txBody>
      </p:sp>
      <p:sp>
        <p:nvSpPr>
          <p:cNvPr id="7" name="Text 4"/>
          <p:cNvSpPr/>
          <p:nvPr/>
        </p:nvSpPr>
        <p:spPr>
          <a:xfrm>
            <a:off x="3894634" y="4460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05809" y="1961455"/>
            <a:ext cx="3380383" cy="2368550"/>
          </a:xfrm>
          <a:prstGeom prst="roundRect">
            <a:avLst>
              <a:gd name="adj" fmla="val 415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9" name="Image 1" descr="One-Sample T Test dialog with Test Value 20">    </p:cNvPr>
          <p:cNvPicPr>
            <a:picLocks noChangeAspect="1"/>
          </p:cNvPicPr>
          <p:nvPr/>
        </p:nvPicPr>
        <p:blipFill>
          <a:blip r:embed="rId2"/>
          <a:srcRect l="0" r="0" t="-22787" b="-22787"/>
          <a:stretch/>
        </p:blipFill>
        <p:spPr>
          <a:xfrm>
            <a:off x="4572000" y="2066230"/>
            <a:ext cx="3048000" cy="2159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13224" y="4460180"/>
            <a:ext cx="3069743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انقل المتغير إلى Test Variable(s) واكتب Test Value</a:t>
            </a:r>
            <a:endParaRPr lang="ar-EG" sz="1400" dirty="0"/>
          </a:p>
        </p:txBody>
      </p:sp>
      <p:sp>
        <p:nvSpPr>
          <p:cNvPr id="11" name="Text 7"/>
          <p:cNvSpPr/>
          <p:nvPr/>
        </p:nvSpPr>
        <p:spPr>
          <a:xfrm>
            <a:off x="7484566" y="4460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995741" y="1961455"/>
            <a:ext cx="3380284" cy="2368550"/>
          </a:xfrm>
          <a:prstGeom prst="roundRect">
            <a:avLst>
              <a:gd name="adj" fmla="val 415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13" name="Image 2" descr="Analyze menu, Compare Means, One-Sample T Test">    </p:cNvPr>
          <p:cNvPicPr>
            <a:picLocks noChangeAspect="1"/>
          </p:cNvPicPr>
          <p:nvPr/>
        </p:nvPicPr>
        <p:blipFill>
          <a:blip r:embed="rId3"/>
          <a:srcRect l="0" r="0" t="-8598" b="-8598"/>
          <a:stretch/>
        </p:blipFill>
        <p:spPr>
          <a:xfrm>
            <a:off x="8161834" y="2066230"/>
            <a:ext cx="3048000" cy="2159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903159" y="4460180"/>
            <a:ext cx="3069641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Analyze › Compare Means › One-Sample T Test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1074400" y="4460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 1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ساعات التدريب الشهرية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495808" y="1882080"/>
            <a:ext cx="10883392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الشركة تستهدف 20 ساعة تدريب شهريًا لكل موظف. البيانات التالية هي ساعات التدريب الشهرية لعينة من 10 موظفين تم اختيارهم عشوائيًا.</a:t>
            </a:r>
            <a:endParaRPr lang="ar-EG" sz="1500" dirty="0"/>
          </a:p>
        </p:txBody>
      </p:sp>
      <p:sp>
        <p:nvSpPr>
          <p:cNvPr id="5" name="Shape 3"/>
          <p:cNvSpPr/>
          <p:nvPr/>
        </p:nvSpPr>
        <p:spPr>
          <a:xfrm>
            <a:off x="812800" y="2663130"/>
            <a:ext cx="10566400" cy="727670"/>
          </a:xfrm>
          <a:custGeom>
            <a:avLst/>
            <a:gdLst/>
            <a:ahLst/>
            <a:cxnLst/>
            <a:rect l="l" t="t" r="r" b="b"/>
            <a:pathLst>
              <a:path w="10566400" h="727670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676870"/>
                </a:lnTo>
                <a:arcTo hR="50800" wR="50800" stAng="0" swAng="5400000"/>
                <a:lnTo>
                  <a:pt x="50800" y="727670"/>
                </a:lnTo>
                <a:arcTo hR="50800" wR="50800" stAng="5400000" swAng="5400000"/>
                <a:lnTo>
                  <a:pt x="0" y="676870"/>
                </a:lnTo>
                <a:arcTo hR="44450" wR="50800" stAng="10800000" swAng="-5400000"/>
                <a:lnTo>
                  <a:pt x="10515600" y="721320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2663130"/>
            <a:ext cx="10566400" cy="727670"/>
          </a:xfrm>
          <a:custGeom>
            <a:avLst/>
            <a:gdLst/>
            <a:ahLst/>
            <a:cxnLst/>
            <a:rect l="l" t="t" r="r" b="b"/>
            <a:pathLst>
              <a:path w="10566400" h="727670">
                <a:moveTo>
                  <a:pt x="50800" y="727670"/>
                </a:moveTo>
                <a:lnTo>
                  <a:pt x="50800" y="72767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67687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675830"/>
          <a:ext cx="10547350" cy="708620"/>
        </p:xfrm>
        <a:graphic>
          <a:graphicData uri="http://schemas.openxmlformats.org/drawingml/2006/table">
            <a:tbl>
              <a:tblPr/>
              <a:tblGrid>
                <a:gridCol w="738315"/>
                <a:gridCol w="738315"/>
                <a:gridCol w="738315"/>
                <a:gridCol w="738315"/>
                <a:gridCol w="738315"/>
                <a:gridCol w="738315"/>
                <a:gridCol w="738315"/>
                <a:gridCol w="738315"/>
                <a:gridCol w="738315"/>
                <a:gridCol w="738315"/>
                <a:gridCol w="3164205"/>
              </a:tblGrid>
              <a:tr h="35431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7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820"/>
                        </a:lnSpc>
                        <a:buNone/>
                      </a:pPr>
                      <a:r>
                        <a:rPr lang="ar-EG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الموظف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5431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ساعات التدريب (hours)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12800" y="3619401"/>
            <a:ext cx="10566400" cy="1527175"/>
          </a:xfrm>
          <a:prstGeom prst="roundRect">
            <a:avLst>
              <a:gd name="adj" fmla="val 6653"/>
            </a:avLst>
          </a:prstGeom>
          <a:solidFill>
            <a:srgbClr val="FBEBD0"/>
          </a:solidFill>
          <a:ln/>
        </p:spPr>
      </p:sp>
      <p:sp>
        <p:nvSpPr>
          <p:cNvPr id="9" name="Text 6"/>
          <p:cNvSpPr/>
          <p:nvPr/>
        </p:nvSpPr>
        <p:spPr>
          <a:xfrm>
            <a:off x="711200" y="3822601"/>
            <a:ext cx="1046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25"/>
              </a:lnSpc>
              <a:buNone/>
            </a:pPr>
            <a:r>
              <a:rPr lang="ar-EG" sz="17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المطلوب</a:t>
            </a:r>
            <a:endParaRPr lang="ar-EG" sz="1700" dirty="0"/>
          </a:p>
        </p:txBody>
      </p:sp>
      <p:sp>
        <p:nvSpPr>
          <p:cNvPr id="10" name="Text 7"/>
          <p:cNvSpPr/>
          <p:nvPr/>
        </p:nvSpPr>
        <p:spPr>
          <a:xfrm>
            <a:off x="724154" y="4206776"/>
            <a:ext cx="10020046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أدخل البيانات في SPSS في متغير واحد اسمه hours.</a:t>
            </a:r>
            <a:endParaRPr lang="ar-EG" sz="1400" dirty="0"/>
          </a:p>
        </p:txBody>
      </p:sp>
      <p:sp>
        <p:nvSpPr>
          <p:cNvPr id="11" name="Text 8"/>
          <p:cNvSpPr/>
          <p:nvPr/>
        </p:nvSpPr>
        <p:spPr>
          <a:xfrm>
            <a:off x="10871200" y="4206776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24154" y="4638576"/>
            <a:ext cx="10020046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هل يختلف متوسط ساعات التدريب الشهرية معنويًا عن 20 ساعة عند مستوى ثقة ‎0.95؟</a:t>
            </a:r>
            <a:endParaRPr lang="ar-EG" sz="1400" dirty="0"/>
          </a:p>
        </p:txBody>
      </p:sp>
      <p:sp>
        <p:nvSpPr>
          <p:cNvPr id="13" name="Text 10"/>
          <p:cNvSpPr/>
          <p:nvPr/>
        </p:nvSpPr>
        <p:spPr>
          <a:xfrm>
            <a:off x="10871200" y="4638576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 1 · الحل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الفرق صدفة: الهدف متحقق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364232" y="1903313"/>
            <a:ext cx="2691408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885"/>
              </a:lnSpc>
              <a:buNone/>
            </a:pPr>
            <a:r>
              <a:rPr lang="ar-EG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الفرض البديل: توجد فروق معنوية</a:t>
            </a:r>
            <a:endParaRPr lang="ar-EG" sz="1300" dirty="0"/>
          </a:p>
        </p:txBody>
      </p:sp>
      <p:sp>
        <p:nvSpPr>
          <p:cNvPr id="5" name="Text 3"/>
          <p:cNvSpPr/>
          <p:nvPr/>
        </p:nvSpPr>
        <p:spPr>
          <a:xfrm>
            <a:off x="3157240" y="1856680"/>
            <a:ext cx="132099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H1: μ ≠ 20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478238" y="1903313"/>
            <a:ext cx="2773164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885"/>
              </a:lnSpc>
              <a:buNone/>
            </a:pPr>
            <a:r>
              <a:rPr lang="ar-EG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الفرض العدمي: لا توجد فروق معنوية</a:t>
            </a:r>
            <a:endParaRPr lang="ar-EG" sz="1300" dirty="0"/>
          </a:p>
        </p:txBody>
      </p:sp>
      <p:sp>
        <p:nvSpPr>
          <p:cNvPr id="7" name="Text 5"/>
          <p:cNvSpPr/>
          <p:nvPr/>
        </p:nvSpPr>
        <p:spPr>
          <a:xfrm>
            <a:off x="7353002" y="1856680"/>
            <a:ext cx="132099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H0: μ = 20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2800" y="2392561"/>
            <a:ext cx="4185920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Statistics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2800" y="265668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4013200" y="0"/>
                </a:moveTo>
                <a:lnTo>
                  <a:pt x="4013200" y="0"/>
                </a:lnTo>
                <a:arcTo hR="50800" wR="50800" stAng="16200000" swAng="5400000"/>
                <a:lnTo>
                  <a:pt x="4064000" y="768350"/>
                </a:lnTo>
                <a:arcTo hR="50800" wR="50800" stAng="0" swAng="5400000"/>
                <a:lnTo>
                  <a:pt x="50800" y="819150"/>
                </a:lnTo>
                <a:arcTo hR="50800" wR="50800" stAng="5400000" swAng="5400000"/>
                <a:lnTo>
                  <a:pt x="0" y="768350"/>
                </a:lnTo>
                <a:arcTo hR="44450" wR="50800" stAng="10800000" swAng="-5400000"/>
                <a:lnTo>
                  <a:pt x="4013200" y="812800"/>
                </a:lnTo>
                <a:arcTo hR="44450" wR="44450" stAng="5400000" swAng="-5400000"/>
                <a:lnTo>
                  <a:pt x="4057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8"/>
          <p:cNvSpPr/>
          <p:nvPr/>
        </p:nvSpPr>
        <p:spPr>
          <a:xfrm>
            <a:off x="812800" y="265668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50800" y="819150"/>
                </a:moveTo>
                <a:lnTo>
                  <a:pt x="50800" y="8191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013200" y="0"/>
                </a:lnTo>
                <a:arcTo hR="50800" wR="50800" stAng="16200000" swAng="5400000"/>
                <a:lnTo>
                  <a:pt x="4064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683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669381"/>
          <a:ext cx="4044950" cy="800100"/>
        </p:xfrm>
        <a:graphic>
          <a:graphicData uri="http://schemas.openxmlformats.org/drawingml/2006/table">
            <a:tbl>
              <a:tblPr/>
              <a:tblGrid>
                <a:gridCol w="889889"/>
                <a:gridCol w="404495"/>
                <a:gridCol w="808990"/>
                <a:gridCol w="970788"/>
                <a:gridCol w="970788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hours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20.40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4.926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1.558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080000" y="2392561"/>
            <a:ext cx="6488176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Test </a:t>
            </a:r>
            <a:r>
              <a:rPr lang="en-US" sz="1200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Test Value = 20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80000" y="2656681"/>
            <a:ext cx="6299200" cy="819150"/>
          </a:xfrm>
          <a:custGeom>
            <a:avLst/>
            <a:gdLst/>
            <a:ahLst/>
            <a:cxnLst/>
            <a:rect l="l" t="t" r="r" b="b"/>
            <a:pathLst>
              <a:path w="6299200" h="819150">
                <a:moveTo>
                  <a:pt x="6248400" y="0"/>
                </a:moveTo>
                <a:lnTo>
                  <a:pt x="6248400" y="0"/>
                </a:lnTo>
                <a:arcTo hR="50800" wR="50800" stAng="16200000" swAng="5400000"/>
                <a:lnTo>
                  <a:pt x="6299200" y="768350"/>
                </a:lnTo>
                <a:arcTo hR="50800" wR="50800" stAng="0" swAng="5400000"/>
                <a:lnTo>
                  <a:pt x="50800" y="819150"/>
                </a:lnTo>
                <a:arcTo hR="50800" wR="50800" stAng="5400000" swAng="5400000"/>
                <a:lnTo>
                  <a:pt x="0" y="768350"/>
                </a:lnTo>
                <a:arcTo hR="44450" wR="50800" stAng="10800000" swAng="-5400000"/>
                <a:lnTo>
                  <a:pt x="6248400" y="812800"/>
                </a:lnTo>
                <a:arcTo hR="44450" wR="44450" stAng="5400000" swAng="-5400000"/>
                <a:lnTo>
                  <a:pt x="62928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4" name="Shape 11"/>
          <p:cNvSpPr/>
          <p:nvPr/>
        </p:nvSpPr>
        <p:spPr>
          <a:xfrm>
            <a:off x="5080000" y="2656681"/>
            <a:ext cx="6299200" cy="819150"/>
          </a:xfrm>
          <a:custGeom>
            <a:avLst/>
            <a:gdLst/>
            <a:ahLst/>
            <a:cxnLst/>
            <a:rect l="l" t="t" r="r" b="b"/>
            <a:pathLst>
              <a:path w="6299200" h="819150">
                <a:moveTo>
                  <a:pt x="50800" y="819150"/>
                </a:moveTo>
                <a:lnTo>
                  <a:pt x="50800" y="8191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6248400" y="0"/>
                </a:lnTo>
                <a:arcTo hR="50800" wR="50800" stAng="16200000" swAng="5400000"/>
                <a:lnTo>
                  <a:pt x="62992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683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2700" y="2669381"/>
          <a:ext cx="6280150" cy="800100"/>
        </p:xfrm>
        <a:graphic>
          <a:graphicData uri="http://schemas.openxmlformats.org/drawingml/2006/table">
            <a:tbl>
              <a:tblPr/>
              <a:tblGrid>
                <a:gridCol w="1057055"/>
                <a:gridCol w="621797"/>
                <a:gridCol w="497438"/>
                <a:gridCol w="1057055"/>
                <a:gridCol w="1057055"/>
                <a:gridCol w="994875"/>
                <a:gridCol w="994875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 Difference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Lower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Upper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hours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.257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.803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.400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-3.12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3.92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812800" y="3679031"/>
            <a:ext cx="10566400" cy="1010245"/>
          </a:xfrm>
          <a:prstGeom prst="roundRect">
            <a:avLst>
              <a:gd name="adj" fmla="val 10057"/>
            </a:avLst>
          </a:prstGeom>
          <a:solidFill>
            <a:srgbClr val="FBEBD0"/>
          </a:solidFill>
          <a:ln/>
        </p:spPr>
      </p:sp>
      <p:sp>
        <p:nvSpPr>
          <p:cNvPr id="17" name="Text 13"/>
          <p:cNvSpPr/>
          <p:nvPr/>
        </p:nvSpPr>
        <p:spPr>
          <a:xfrm>
            <a:off x="711200" y="3882231"/>
            <a:ext cx="1046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25"/>
              </a:lnSpc>
              <a:buNone/>
            </a:pPr>
            <a:r>
              <a:rPr lang="ar-EG" sz="17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‎Sig = 0.803 أكبر من ‎α = 0.05: قبول الفرض العدمي ورفض الفرض البديل</a:t>
            </a:r>
            <a:endParaRPr lang="ar-EG" sz="1700" dirty="0"/>
          </a:p>
        </p:txBody>
      </p:sp>
      <p:sp>
        <p:nvSpPr>
          <p:cNvPr id="18" name="Text 14"/>
          <p:cNvSpPr/>
          <p:nvPr/>
        </p:nvSpPr>
        <p:spPr>
          <a:xfrm>
            <a:off x="711200" y="4228306"/>
            <a:ext cx="104648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متوسط ساعات التدريب (‎20.4) لا يختلف معنويًا عن 20 ساعة؛ الفرق ‎0.4 ساعة يمكن أن يكون صدفة.</a:t>
            </a:r>
            <a:endParaRPr lang="ar-EG" sz="1400" dirty="0"/>
          </a:p>
        </p:txBody>
      </p:sp>
      <p:sp>
        <p:nvSpPr>
          <p:cNvPr id="19" name="Text 15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12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6" grpId="0" animBg="1"/>
      <p:bldP spid="17" grpId="0" animBg="1"/>
      <p:bldP spid="1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تطبيق على الحالة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هل الطلاب محايدون تجاه التعليم الإلكتروني؟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495808" y="1882080"/>
            <a:ext cx="10883392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10"/>
              </a:lnSpc>
              <a:buNone/>
            </a:pPr>
            <a:r>
              <a:rPr lang="ar-EG" sz="145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الإدارة تسأل: هل اتجاه الطلاب يختلف عن المحايد (3)؟ اخترنا عشوائيًا 12 طالبًا ممن أجابوا الاستبيان، وهذه درجة اتجاه كل منهم.</a:t>
            </a:r>
            <a:endParaRPr lang="ar-EG" sz="1450" dirty="0"/>
          </a:p>
        </p:txBody>
      </p:sp>
      <p:sp>
        <p:nvSpPr>
          <p:cNvPr id="5" name="Shape 3"/>
          <p:cNvSpPr/>
          <p:nvPr/>
        </p:nvSpPr>
        <p:spPr>
          <a:xfrm>
            <a:off x="812800" y="2386905"/>
            <a:ext cx="10566400" cy="942280"/>
          </a:xfrm>
          <a:custGeom>
            <a:avLst/>
            <a:gdLst/>
            <a:ahLst/>
            <a:cxnLst/>
            <a:rect l="l" t="t" r="r" b="b"/>
            <a:pathLst>
              <a:path w="10566400" h="942280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891480"/>
                </a:lnTo>
                <a:arcTo hR="50800" wR="50800" stAng="0" swAng="5400000"/>
                <a:lnTo>
                  <a:pt x="50800" y="942280"/>
                </a:lnTo>
                <a:arcTo hR="50800" wR="50800" stAng="5400000" swAng="5400000"/>
                <a:lnTo>
                  <a:pt x="0" y="891480"/>
                </a:lnTo>
                <a:arcTo hR="44450" wR="50800" stAng="10800000" swAng="-5400000"/>
                <a:lnTo>
                  <a:pt x="10515600" y="935930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2386905"/>
            <a:ext cx="10566400" cy="942280"/>
          </a:xfrm>
          <a:custGeom>
            <a:avLst/>
            <a:gdLst/>
            <a:ahLst/>
            <a:cxnLst/>
            <a:rect l="l" t="t" r="r" b="b"/>
            <a:pathLst>
              <a:path w="10566400" h="942280">
                <a:moveTo>
                  <a:pt x="50800" y="942280"/>
                </a:moveTo>
                <a:lnTo>
                  <a:pt x="50800" y="94228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89148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399605"/>
          <a:ext cx="10547350" cy="923230"/>
        </p:xfrm>
        <a:graphic>
          <a:graphicData uri="http://schemas.openxmlformats.org/drawingml/2006/table">
            <a:tbl>
              <a:tblPr/>
              <a:tblGrid>
                <a:gridCol w="620432"/>
                <a:gridCol w="620432"/>
                <a:gridCol w="620432"/>
                <a:gridCol w="620432"/>
                <a:gridCol w="620432"/>
                <a:gridCol w="620432"/>
                <a:gridCol w="620432"/>
                <a:gridCol w="620432"/>
                <a:gridCol w="620432"/>
                <a:gridCol w="620432"/>
                <a:gridCol w="620432"/>
                <a:gridCol w="620432"/>
                <a:gridCol w="3102162"/>
              </a:tblGrid>
              <a:tr h="35431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12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11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8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7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765"/>
                        </a:lnSpc>
                        <a:buNone/>
                      </a:pPr>
                      <a:r>
                        <a:rPr lang="ar-EG" sz="12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الطالب</a:t>
                      </a:r>
                      <a:endParaRPr lang="ar-EG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56892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3.4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4.6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3.2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3.8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3.0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4.4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3.6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4.0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2.8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3.4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4.2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5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3.8</a:t>
                      </a:r>
                      <a:endParaRPr lang="en-US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765"/>
                        </a:lnSpc>
                        <a:buNone/>
                      </a:pPr>
                      <a:r>
                        <a:rPr lang="ar-EG" sz="12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درجة الاتجاه نحو التعليم الإلكتروني (attitude)</a:t>
                      </a:r>
                      <a:endParaRPr lang="ar-EG" sz="12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12800" y="3557786"/>
            <a:ext cx="10566400" cy="1527175"/>
          </a:xfrm>
          <a:prstGeom prst="roundRect">
            <a:avLst>
              <a:gd name="adj" fmla="val 6653"/>
            </a:avLst>
          </a:prstGeom>
          <a:solidFill>
            <a:srgbClr val="FBEBD0"/>
          </a:solidFill>
          <a:ln/>
        </p:spPr>
      </p:sp>
      <p:sp>
        <p:nvSpPr>
          <p:cNvPr id="9" name="Text 6"/>
          <p:cNvSpPr/>
          <p:nvPr/>
        </p:nvSpPr>
        <p:spPr>
          <a:xfrm>
            <a:off x="711200" y="3760986"/>
            <a:ext cx="1046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25"/>
              </a:lnSpc>
              <a:buNone/>
            </a:pPr>
            <a:r>
              <a:rPr lang="ar-EG" sz="17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المطلوب</a:t>
            </a:r>
            <a:endParaRPr lang="ar-EG" sz="1700" dirty="0"/>
          </a:p>
        </p:txBody>
      </p:sp>
      <p:sp>
        <p:nvSpPr>
          <p:cNvPr id="10" name="Text 7"/>
          <p:cNvSpPr/>
          <p:nvPr/>
        </p:nvSpPr>
        <p:spPr>
          <a:xfrm>
            <a:off x="724154" y="4145161"/>
            <a:ext cx="10020046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عرّف المتغير attitude في Variable View (Scale، Decimals = 1) وأدخل الدرجات.</a:t>
            </a:r>
            <a:endParaRPr lang="ar-EG" sz="1400" dirty="0"/>
          </a:p>
        </p:txBody>
      </p:sp>
      <p:sp>
        <p:nvSpPr>
          <p:cNvPr id="11" name="Text 8"/>
          <p:cNvSpPr/>
          <p:nvPr/>
        </p:nvSpPr>
        <p:spPr>
          <a:xfrm>
            <a:off x="10871200" y="41451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24154" y="4576961"/>
            <a:ext cx="10020046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اختبر عند مستوى ثقة 95%: هل متوسط الاتجاه يختلف عن 3؟ وماذا نقول للإدارة؟</a:t>
            </a:r>
            <a:endParaRPr lang="ar-EG" sz="1400" dirty="0"/>
          </a:p>
        </p:txBody>
      </p:sp>
      <p:sp>
        <p:nvSpPr>
          <p:cNvPr id="13" name="Text 10"/>
          <p:cNvSpPr/>
          <p:nvPr/>
        </p:nvSpPr>
        <p:spPr>
          <a:xfrm>
            <a:off x="10871200" y="45769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تطبيق 1 · الحل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الطلاب ليسوا محايدين: اتجاههم إيجابي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269518" y="1903313"/>
            <a:ext cx="3259693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885"/>
              </a:lnSpc>
              <a:buNone/>
            </a:pPr>
            <a:r>
              <a:rPr lang="ar-EG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الفرض البديل: الاتجاه يختلف عن المحايد</a:t>
            </a:r>
            <a:endParaRPr lang="ar-EG" sz="1300" dirty="0"/>
          </a:p>
        </p:txBody>
      </p:sp>
      <p:sp>
        <p:nvSpPr>
          <p:cNvPr id="5" name="Text 3"/>
          <p:cNvSpPr/>
          <p:nvPr/>
        </p:nvSpPr>
        <p:spPr>
          <a:xfrm>
            <a:off x="3630811" y="1856680"/>
            <a:ext cx="121433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H1: μ ≠ 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845149" y="1903313"/>
            <a:ext cx="2257921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885"/>
              </a:lnSpc>
              <a:buNone/>
            </a:pPr>
            <a:r>
              <a:rPr lang="ar-EG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الفرض العدمي: الاتجاه محايد</a:t>
            </a:r>
            <a:endParaRPr lang="ar-EG" sz="1300" dirty="0"/>
          </a:p>
        </p:txBody>
      </p:sp>
      <p:sp>
        <p:nvSpPr>
          <p:cNvPr id="7" name="Text 5"/>
          <p:cNvSpPr/>
          <p:nvPr/>
        </p:nvSpPr>
        <p:spPr>
          <a:xfrm>
            <a:off x="7204670" y="1856680"/>
            <a:ext cx="121433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H0: μ = 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2800" y="2583061"/>
            <a:ext cx="4185920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Statistics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2800" y="284718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4013200" y="0"/>
                </a:moveTo>
                <a:lnTo>
                  <a:pt x="4013200" y="0"/>
                </a:lnTo>
                <a:arcTo hR="50800" wR="50800" stAng="16200000" swAng="5400000"/>
                <a:lnTo>
                  <a:pt x="4064000" y="768350"/>
                </a:lnTo>
                <a:arcTo hR="50800" wR="50800" stAng="0" swAng="5400000"/>
                <a:lnTo>
                  <a:pt x="50800" y="819150"/>
                </a:lnTo>
                <a:arcTo hR="50800" wR="50800" stAng="5400000" swAng="5400000"/>
                <a:lnTo>
                  <a:pt x="0" y="768350"/>
                </a:lnTo>
                <a:arcTo hR="44450" wR="50800" stAng="10800000" swAng="-5400000"/>
                <a:lnTo>
                  <a:pt x="4013200" y="812800"/>
                </a:lnTo>
                <a:arcTo hR="44450" wR="44450" stAng="5400000" swAng="-5400000"/>
                <a:lnTo>
                  <a:pt x="4057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8"/>
          <p:cNvSpPr/>
          <p:nvPr/>
        </p:nvSpPr>
        <p:spPr>
          <a:xfrm>
            <a:off x="812800" y="284718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50800" y="819150"/>
                </a:moveTo>
                <a:lnTo>
                  <a:pt x="50800" y="8191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013200" y="0"/>
                </a:lnTo>
                <a:arcTo hR="50800" wR="50800" stAng="16200000" swAng="5400000"/>
                <a:lnTo>
                  <a:pt x="4064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683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859881"/>
          <a:ext cx="4044950" cy="800100"/>
        </p:xfrm>
        <a:graphic>
          <a:graphicData uri="http://schemas.openxmlformats.org/drawingml/2006/table">
            <a:tbl>
              <a:tblPr/>
              <a:tblGrid>
                <a:gridCol w="889889"/>
                <a:gridCol w="404495"/>
                <a:gridCol w="808990"/>
                <a:gridCol w="970788"/>
                <a:gridCol w="970788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attitude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3.68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.556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.160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080000" y="2392561"/>
            <a:ext cx="6488176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Test </a:t>
            </a:r>
            <a:r>
              <a:rPr lang="en-US" sz="1200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Test Value = 3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80000" y="2656681"/>
            <a:ext cx="6299200" cy="1009650"/>
          </a:xfrm>
          <a:custGeom>
            <a:avLst/>
            <a:gdLst/>
            <a:ahLst/>
            <a:cxnLst/>
            <a:rect l="l" t="t" r="r" b="b"/>
            <a:pathLst>
              <a:path w="6299200" h="1009650">
                <a:moveTo>
                  <a:pt x="6248400" y="0"/>
                </a:moveTo>
                <a:lnTo>
                  <a:pt x="6248400" y="0"/>
                </a:lnTo>
                <a:arcTo hR="50800" wR="50800" stAng="16200000" swAng="5400000"/>
                <a:lnTo>
                  <a:pt x="6299200" y="958850"/>
                </a:lnTo>
                <a:arcTo hR="50800" wR="50800" stAng="0" swAng="5400000"/>
                <a:lnTo>
                  <a:pt x="50800" y="1009650"/>
                </a:lnTo>
                <a:arcTo hR="50800" wR="50800" stAng="5400000" swAng="5400000"/>
                <a:lnTo>
                  <a:pt x="0" y="958850"/>
                </a:lnTo>
                <a:arcTo hR="44450" wR="50800" stAng="10800000" swAng="-5400000"/>
                <a:lnTo>
                  <a:pt x="6248400" y="1003300"/>
                </a:lnTo>
                <a:arcTo hR="44450" wR="44450" stAng="5400000" swAng="-5400000"/>
                <a:lnTo>
                  <a:pt x="62928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4" name="Shape 11"/>
          <p:cNvSpPr/>
          <p:nvPr/>
        </p:nvSpPr>
        <p:spPr>
          <a:xfrm>
            <a:off x="5080000" y="2656681"/>
            <a:ext cx="6299200" cy="1009650"/>
          </a:xfrm>
          <a:custGeom>
            <a:avLst/>
            <a:gdLst/>
            <a:ahLst/>
            <a:cxnLst/>
            <a:rect l="l" t="t" r="r" b="b"/>
            <a:pathLst>
              <a:path w="6299200" h="1009650">
                <a:moveTo>
                  <a:pt x="50800" y="1009650"/>
                </a:moveTo>
                <a:lnTo>
                  <a:pt x="50800" y="10096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6248400" y="0"/>
                </a:lnTo>
                <a:arcTo hR="50800" wR="50800" stAng="16200000" swAng="5400000"/>
                <a:lnTo>
                  <a:pt x="62992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9588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2700" y="2669381"/>
          <a:ext cx="6280150" cy="990600"/>
        </p:xfrm>
        <a:graphic>
          <a:graphicData uri="http://schemas.openxmlformats.org/drawingml/2006/table">
            <a:tbl>
              <a:tblPr/>
              <a:tblGrid>
                <a:gridCol w="1057055"/>
                <a:gridCol w="621797"/>
                <a:gridCol w="497438"/>
                <a:gridCol w="1057055"/>
                <a:gridCol w="1057055"/>
                <a:gridCol w="994875"/>
                <a:gridCol w="994875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 Difference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Lower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Upper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attitude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4.260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.001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.683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.33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1.04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812800" y="3869531"/>
            <a:ext cx="10566400" cy="1010245"/>
          </a:xfrm>
          <a:prstGeom prst="roundRect">
            <a:avLst>
              <a:gd name="adj" fmla="val 10057"/>
            </a:avLst>
          </a:prstGeom>
          <a:solidFill>
            <a:srgbClr val="DDEFE3"/>
          </a:solidFill>
          <a:ln/>
        </p:spPr>
      </p:sp>
      <p:sp>
        <p:nvSpPr>
          <p:cNvPr id="17" name="Text 13"/>
          <p:cNvSpPr/>
          <p:nvPr/>
        </p:nvSpPr>
        <p:spPr>
          <a:xfrm>
            <a:off x="711200" y="4072731"/>
            <a:ext cx="1046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25"/>
              </a:lnSpc>
              <a:buNone/>
            </a:pPr>
            <a:r>
              <a:rPr lang="ar-EG" sz="1700" b="1" dirty="0">
                <a:solidFill>
                  <a:srgbClr val="2E7D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‎Sig = 0.001 أصغر من ‎α = 0.05: رفض الفرض العدمي وقبول الفرض البديل</a:t>
            </a:r>
            <a:endParaRPr lang="ar-EG" sz="1700" dirty="0"/>
          </a:p>
        </p:txBody>
      </p:sp>
      <p:sp>
        <p:nvSpPr>
          <p:cNvPr id="18" name="Text 14"/>
          <p:cNvSpPr/>
          <p:nvPr/>
        </p:nvSpPr>
        <p:spPr>
          <a:xfrm>
            <a:off x="711200" y="4418806"/>
            <a:ext cx="104648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Mean Difference موجب (‎3.68 أعلى من 3)، إذن الاتجاه إيجابي. للإدارة: «اتجاه الطلاب نحو التعليم الإلكتروني إيجابي بشكل معنوي».</a:t>
            </a:r>
            <a:endParaRPr lang="ar-EG" sz="1400" dirty="0"/>
          </a:p>
        </p:txBody>
      </p:sp>
      <p:sp>
        <p:nvSpPr>
          <p:cNvPr id="19" name="Text 15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14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6" grpId="0" animBg="1"/>
      <p:bldP spid="17" grpId="0" animBg="1"/>
      <p:bldP spid="1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2362200"/>
            <a:ext cx="457200" cy="213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22500" y="1795760"/>
            <a:ext cx="91567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2222500" y="3472160"/>
            <a:ext cx="91567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7200"/>
              </a:lnSpc>
              <a:buNone/>
            </a:pPr>
            <a:r>
              <a:rPr lang="ar-EG" sz="6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عينتان مترابطتان</a:t>
            </a:r>
            <a:endParaRPr lang="ar-EG" sz="6000" dirty="0"/>
          </a:p>
        </p:txBody>
      </p:sp>
      <p:sp>
        <p:nvSpPr>
          <p:cNvPr id="5" name="Text 2"/>
          <p:cNvSpPr/>
          <p:nvPr/>
        </p:nvSpPr>
        <p:spPr>
          <a:xfrm>
            <a:off x="2222500" y="4538960"/>
            <a:ext cx="91567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20"/>
              </a:lnSpc>
              <a:buNone/>
            </a:pPr>
            <a:r>
              <a:rPr lang="ar-EG" sz="18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نفس الأفراد قبل وبعد: هل حدث تغيّر؟</a:t>
            </a:r>
            <a:endParaRPr lang="ar-EG" sz="1800" dirty="0"/>
          </a:p>
        </p:txBody>
      </p:sp>
      <p:sp>
        <p:nvSpPr>
          <p:cNvPr id="6" name="Text 3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30023" y="812800"/>
            <a:ext cx="2149177" cy="289520"/>
          </a:xfrm>
          <a:custGeom>
            <a:avLst/>
            <a:gdLst/>
            <a:ahLst/>
            <a:cxnLst/>
            <a:rect l="l" t="t" r="r" b="b"/>
            <a:pathLst>
              <a:path w="2149177" h="289520">
                <a:moveTo>
                  <a:pt x="144760" y="0"/>
                </a:moveTo>
                <a:lnTo>
                  <a:pt x="2004417" y="0"/>
                </a:lnTo>
                <a:arcTo hR="144760" wR="144760" stAng="16200000" swAng="5400000"/>
                <a:lnTo>
                  <a:pt x="2149177" y="144760"/>
                </a:lnTo>
                <a:arcTo hR="144760" wR="144760" stAng="0" swAng="5400000"/>
                <a:lnTo>
                  <a:pt x="144760" y="289520"/>
                </a:lnTo>
                <a:arcTo hR="144760" wR="144760" stAng="5400000" swAng="5400000"/>
                <a:lnTo>
                  <a:pt x="0" y="144760"/>
                </a:lnTo>
                <a:arcTo hR="144760" wR="14476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T-Test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2039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متى نستخدمه؟ وكيف؟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034480"/>
            <a:ext cx="2494657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Paired-Samples T Test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409057" y="2034480"/>
            <a:ext cx="36075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871416" y="2034480"/>
            <a:ext cx="164107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Compare Means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14095" y="2034480"/>
            <a:ext cx="36075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›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076454" y="2034480"/>
            <a:ext cx="100091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Analyze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6110" y="25195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أدخل البيانات في عمودين (قبل، بعد): كل صف شخص واحد.</a:t>
            </a:r>
            <a:endParaRPr lang="ar-EG" sz="1400" dirty="0"/>
          </a:p>
        </p:txBody>
      </p:sp>
      <p:sp>
        <p:nvSpPr>
          <p:cNvPr id="10" name="Text 8"/>
          <p:cNvSpPr/>
          <p:nvPr/>
        </p:nvSpPr>
        <p:spPr>
          <a:xfrm>
            <a:off x="7162800" y="25195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6110" y="29513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اختر المسار أعلاه وانقل المتغيرين إلى Paired Variables.</a:t>
            </a:r>
            <a:endParaRPr lang="ar-EG" sz="1400" dirty="0"/>
          </a:p>
        </p:txBody>
      </p:sp>
      <p:sp>
        <p:nvSpPr>
          <p:cNvPr id="12" name="Text 10"/>
          <p:cNvSpPr/>
          <p:nvPr/>
        </p:nvSpPr>
        <p:spPr>
          <a:xfrm>
            <a:off x="7162800" y="29513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26110" y="33831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لتحديد مستوى الثقة اضغط Options واكتب قيمته.</a:t>
            </a:r>
            <a:endParaRPr lang="ar-EG" sz="1400" dirty="0"/>
          </a:p>
        </p:txBody>
      </p:sp>
      <p:sp>
        <p:nvSpPr>
          <p:cNvPr id="14" name="Text 12"/>
          <p:cNvSpPr/>
          <p:nvPr/>
        </p:nvSpPr>
        <p:spPr>
          <a:xfrm>
            <a:off x="7162800" y="33831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6110" y="38149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اضغط Continue ثم OK.</a:t>
            </a:r>
            <a:endParaRPr lang="ar-EG" sz="1400" dirty="0"/>
          </a:p>
        </p:txBody>
      </p:sp>
      <p:sp>
        <p:nvSpPr>
          <p:cNvPr id="16" name="Text 14"/>
          <p:cNvSpPr/>
          <p:nvPr/>
        </p:nvSpPr>
        <p:spPr>
          <a:xfrm>
            <a:off x="7162800" y="38149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26375" y="2037655"/>
            <a:ext cx="3549650" cy="2311202"/>
          </a:xfrm>
          <a:prstGeom prst="roundRect">
            <a:avLst>
              <a:gd name="adj" fmla="val 4259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65567" y="2269430"/>
            <a:ext cx="317868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متى نستخدمه؟</a:t>
            </a:r>
            <a:endParaRPr lang="ar-EG" sz="1800" dirty="0"/>
          </a:p>
        </p:txBody>
      </p:sp>
      <p:sp>
        <p:nvSpPr>
          <p:cNvPr id="19" name="Text 17"/>
          <p:cNvSpPr/>
          <p:nvPr/>
        </p:nvSpPr>
        <p:spPr>
          <a:xfrm>
            <a:off x="7965567" y="2682180"/>
            <a:ext cx="3178683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عندما نقيس نفس الأفراد مرتين (قبل وبعد) ونريد أن نعرف هل تغيّر المتوسط.</a:t>
            </a:r>
            <a:endParaRPr lang="ar-EG" sz="1400" dirty="0"/>
          </a:p>
        </p:txBody>
      </p:sp>
      <p:sp>
        <p:nvSpPr>
          <p:cNvPr id="20" name="Text 18"/>
          <p:cNvSpPr/>
          <p:nvPr/>
        </p:nvSpPr>
        <p:spPr>
          <a:xfrm>
            <a:off x="9716492" y="3324721"/>
            <a:ext cx="142775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H0: μ1 = μ2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716492" y="3784402"/>
            <a:ext cx="142775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H1: μ1 ≠ μ2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CE8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التطبيق على SPSS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عينتان مترابطتان خطوة بخطوة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1455"/>
            <a:ext cx="3380284" cy="2368550"/>
          </a:xfrm>
          <a:prstGeom prst="roundRect">
            <a:avLst>
              <a:gd name="adj" fmla="val 415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5" name="Image 0" descr="Options dialog with Confidence Interval Percentage 95">    </p:cNvPr>
          <p:cNvPicPr>
            <a:picLocks noChangeAspect="1"/>
          </p:cNvPicPr>
          <p:nvPr/>
        </p:nvPicPr>
        <p:blipFill>
          <a:blip r:embed="rId1"/>
          <a:srcRect l="0" r="0" t="-3599" b="-3599"/>
          <a:stretch/>
        </p:blipFill>
        <p:spPr>
          <a:xfrm>
            <a:off x="982067" y="2066230"/>
            <a:ext cx="3048000" cy="215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3393" y="4460180"/>
            <a:ext cx="3069641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من Options اكتب مستوى الثقة ثم Continue</a:t>
            </a:r>
            <a:endParaRPr lang="ar-EG" sz="1400" dirty="0"/>
          </a:p>
        </p:txBody>
      </p:sp>
      <p:sp>
        <p:nvSpPr>
          <p:cNvPr id="7" name="Text 4"/>
          <p:cNvSpPr/>
          <p:nvPr/>
        </p:nvSpPr>
        <p:spPr>
          <a:xfrm>
            <a:off x="3894634" y="4460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05809" y="1961455"/>
            <a:ext cx="3380383" cy="2368550"/>
          </a:xfrm>
          <a:prstGeom prst="roundRect">
            <a:avLst>
              <a:gd name="adj" fmla="val 415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9" name="Image 1" descr="Paired-Samples T Test dialog with before as Variable1 and after as Variable2">    </p:cNvPr>
          <p:cNvPicPr>
            <a:picLocks noChangeAspect="1"/>
          </p:cNvPicPr>
          <p:nvPr/>
        </p:nvPicPr>
        <p:blipFill>
          <a:blip r:embed="rId2"/>
          <a:srcRect l="0" r="0" t="-14352" b="-14352"/>
          <a:stretch/>
        </p:blipFill>
        <p:spPr>
          <a:xfrm>
            <a:off x="4572000" y="2066230"/>
            <a:ext cx="3048000" cy="2159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13224" y="4460180"/>
            <a:ext cx="3069743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انقل «قبل» إلى Variable1 و«بعد» إلى Variable2</a:t>
            </a:r>
            <a:endParaRPr lang="ar-EG" sz="1400" dirty="0"/>
          </a:p>
        </p:txBody>
      </p:sp>
      <p:sp>
        <p:nvSpPr>
          <p:cNvPr id="11" name="Text 7"/>
          <p:cNvSpPr/>
          <p:nvPr/>
        </p:nvSpPr>
        <p:spPr>
          <a:xfrm>
            <a:off x="7484566" y="4460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995741" y="1961455"/>
            <a:ext cx="3380284" cy="2368550"/>
          </a:xfrm>
          <a:prstGeom prst="roundRect">
            <a:avLst>
              <a:gd name="adj" fmla="val 415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13" name="Image 2" descr="Analyze menu, Compare Means, Paired-Samples T Test">    </p:cNvPr>
          <p:cNvPicPr>
            <a:picLocks noChangeAspect="1"/>
          </p:cNvPicPr>
          <p:nvPr/>
        </p:nvPicPr>
        <p:blipFill>
          <a:blip r:embed="rId3"/>
          <a:srcRect l="-3039" r="-3039" t="0" b="0"/>
          <a:stretch/>
        </p:blipFill>
        <p:spPr>
          <a:xfrm>
            <a:off x="8161834" y="2066230"/>
            <a:ext cx="3048000" cy="2159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903159" y="4460180"/>
            <a:ext cx="3069641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Analyze › Compare Means › Paired-Samples T Test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1074400" y="4460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17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 3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برنامج جديد لإدارة المهام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613156" y="1907480"/>
            <a:ext cx="6854444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تريد إدارة إحدى الشركات معرفة هل يقلل برنامج تنظيمي جديد لإدارة المهام عدد الأخطاء الأسبوعية لموظفي خدمة العملاء. اختارت 6 موظفين وسجلت أخطاء كل منهم قبل البرنامج وبعده.</a:t>
            </a:r>
            <a:endParaRPr lang="ar-EG" sz="1500" dirty="0"/>
          </a:p>
        </p:txBody>
      </p:sp>
      <p:sp>
        <p:nvSpPr>
          <p:cNvPr id="5" name="Shape 3"/>
          <p:cNvSpPr/>
          <p:nvPr/>
        </p:nvSpPr>
        <p:spPr>
          <a:xfrm>
            <a:off x="812800" y="2913955"/>
            <a:ext cx="6654800" cy="1737916"/>
          </a:xfrm>
          <a:prstGeom prst="roundRect">
            <a:avLst>
              <a:gd name="adj" fmla="val 5846"/>
            </a:avLst>
          </a:prstGeom>
          <a:solidFill>
            <a:srgbClr val="FBEBD0"/>
          </a:solidFill>
          <a:ln/>
        </p:spPr>
      </p:sp>
      <p:sp>
        <p:nvSpPr>
          <p:cNvPr id="6" name="Text 4"/>
          <p:cNvSpPr/>
          <p:nvPr/>
        </p:nvSpPr>
        <p:spPr>
          <a:xfrm>
            <a:off x="828548" y="3117155"/>
            <a:ext cx="643585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25"/>
              </a:lnSpc>
              <a:buNone/>
            </a:pPr>
            <a:r>
              <a:rPr lang="ar-EG" sz="17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المطلوب</a:t>
            </a:r>
            <a:endParaRPr lang="ar-EG" sz="1700" dirty="0"/>
          </a:p>
        </p:txBody>
      </p:sp>
      <p:sp>
        <p:nvSpPr>
          <p:cNvPr id="7" name="Text 5"/>
          <p:cNvSpPr/>
          <p:nvPr/>
        </p:nvSpPr>
        <p:spPr>
          <a:xfrm>
            <a:off x="841502" y="3501330"/>
            <a:ext cx="5991098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هل للنظام الجديد تأثير معنوي على متوسط عدد الأخطاء الأسبوعية؟ (المجتمع يتبع التوزيع الطبيعي)</a:t>
            </a:r>
            <a:endParaRPr lang="ar-EG" sz="1400" dirty="0"/>
          </a:p>
        </p:txBody>
      </p:sp>
      <p:sp>
        <p:nvSpPr>
          <p:cNvPr id="8" name="Text 6"/>
          <p:cNvSpPr/>
          <p:nvPr/>
        </p:nvSpPr>
        <p:spPr>
          <a:xfrm>
            <a:off x="6959600" y="350133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502" y="4143871"/>
            <a:ext cx="5991098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استخدم مستوى ثقة 95%.</a:t>
            </a:r>
            <a:endParaRPr lang="ar-EG" sz="1400" dirty="0"/>
          </a:p>
        </p:txBody>
      </p:sp>
      <p:sp>
        <p:nvSpPr>
          <p:cNvPr id="10" name="Text 8"/>
          <p:cNvSpPr/>
          <p:nvPr/>
        </p:nvSpPr>
        <p:spPr>
          <a:xfrm>
            <a:off x="6959600" y="41438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823200" y="1907480"/>
            <a:ext cx="3556000" cy="2263775"/>
          </a:xfrm>
          <a:custGeom>
            <a:avLst/>
            <a:gdLst/>
            <a:ahLst/>
            <a:cxnLst/>
            <a:rect l="l" t="t" r="r" b="b"/>
            <a:pathLst>
              <a:path w="3556000" h="2263775">
                <a:moveTo>
                  <a:pt x="3505200" y="0"/>
                </a:moveTo>
                <a:lnTo>
                  <a:pt x="3505200" y="0"/>
                </a:lnTo>
                <a:arcTo hR="50800" wR="50800" stAng="16200000" swAng="5400000"/>
                <a:lnTo>
                  <a:pt x="3556000" y="2212975"/>
                </a:lnTo>
                <a:arcTo hR="50800" wR="50800" stAng="0" swAng="5400000"/>
                <a:lnTo>
                  <a:pt x="50800" y="2263775"/>
                </a:lnTo>
                <a:arcTo hR="50800" wR="50800" stAng="5400000" swAng="5400000"/>
                <a:lnTo>
                  <a:pt x="0" y="2212975"/>
                </a:lnTo>
                <a:arcTo hR="44450" wR="50800" stAng="10800000" swAng="-5400000"/>
                <a:lnTo>
                  <a:pt x="3505200" y="2257425"/>
                </a:lnTo>
                <a:arcTo hR="44450" wR="44450" stAng="5400000" swAng="-5400000"/>
                <a:lnTo>
                  <a:pt x="3549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2" name="Shape 10"/>
          <p:cNvSpPr/>
          <p:nvPr/>
        </p:nvSpPr>
        <p:spPr>
          <a:xfrm>
            <a:off x="7823200" y="1907480"/>
            <a:ext cx="3556000" cy="2263775"/>
          </a:xfrm>
          <a:custGeom>
            <a:avLst/>
            <a:gdLst/>
            <a:ahLst/>
            <a:cxnLst/>
            <a:rect l="l" t="t" r="r" b="b"/>
            <a:pathLst>
              <a:path w="3556000" h="2263775">
                <a:moveTo>
                  <a:pt x="50800" y="2263775"/>
                </a:moveTo>
                <a:lnTo>
                  <a:pt x="50800" y="2263775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3505200" y="0"/>
                </a:lnTo>
                <a:arcTo hR="50800" wR="50800" stAng="16200000" swAng="5400000"/>
                <a:lnTo>
                  <a:pt x="3556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2212975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35900" y="1920180"/>
          <a:ext cx="3536950" cy="2244725"/>
        </p:xfrm>
        <a:graphic>
          <a:graphicData uri="http://schemas.openxmlformats.org/drawingml/2006/table">
            <a:tbl>
              <a:tblPr/>
              <a:tblGrid>
                <a:gridCol w="1237932"/>
                <a:gridCol w="1237932"/>
                <a:gridCol w="1061085"/>
              </a:tblGrid>
              <a:tr h="320675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820"/>
                        </a:lnSpc>
                        <a:buNone/>
                      </a:pPr>
                      <a:r>
                        <a:rPr lang="ar-EG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بعد (after)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820"/>
                        </a:lnSpc>
                        <a:buNone/>
                      </a:pPr>
                      <a:r>
                        <a:rPr lang="ar-EG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قبل (before)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820"/>
                        </a:lnSpc>
                        <a:buNone/>
                      </a:pPr>
                      <a:r>
                        <a:rPr lang="ar-EG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الموظف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19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17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18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570"/>
              </a:lnSpc>
              <a:buNone/>
            </a:pPr>
            <a:r>
              <a:rPr lang="ar-EG" sz="1121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 3 · الحل</a:t>
            </a:r>
            <a:endParaRPr lang="ar-EG" sz="1121" dirty="0"/>
          </a:p>
        </p:txBody>
      </p:sp>
      <p:sp>
        <p:nvSpPr>
          <p:cNvPr id="3" name="Text 1"/>
          <p:cNvSpPr/>
          <p:nvPr/>
        </p:nvSpPr>
        <p:spPr>
          <a:xfrm>
            <a:off x="495808" y="1109266"/>
            <a:ext cx="10883392" cy="5058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3817"/>
              </a:lnSpc>
              <a:buNone/>
            </a:pPr>
            <a:r>
              <a:rPr lang="ar-EG" sz="3319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لا تأثير معنوي للبرنامج</a:t>
            </a:r>
            <a:endParaRPr lang="ar-EG" sz="3319" dirty="0"/>
          </a:p>
        </p:txBody>
      </p:sp>
      <p:sp>
        <p:nvSpPr>
          <p:cNvPr id="4" name="Text 2"/>
          <p:cNvSpPr/>
          <p:nvPr/>
        </p:nvSpPr>
        <p:spPr>
          <a:xfrm>
            <a:off x="477004" y="1814116"/>
            <a:ext cx="2014776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885"/>
              </a:lnSpc>
              <a:buNone/>
            </a:pPr>
            <a:r>
              <a:rPr lang="ar-EG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الفرض البديل: يوجد فرق</a:t>
            </a:r>
            <a:endParaRPr lang="ar-EG" sz="1300" dirty="0"/>
          </a:p>
        </p:txBody>
      </p:sp>
      <p:sp>
        <p:nvSpPr>
          <p:cNvPr id="5" name="Text 3"/>
          <p:cNvSpPr/>
          <p:nvPr/>
        </p:nvSpPr>
        <p:spPr>
          <a:xfrm>
            <a:off x="2593380" y="1767483"/>
            <a:ext cx="142775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H1: μ1 ≠ μ2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021138" y="1814116"/>
            <a:ext cx="2749451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885"/>
              </a:lnSpc>
              <a:buNone/>
            </a:pPr>
            <a:r>
              <a:rPr lang="ar-EG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الفرض العدمي: لا فرق بين قبل وبعد</a:t>
            </a:r>
            <a:endParaRPr lang="ar-EG" sz="1300" dirty="0"/>
          </a:p>
        </p:txBody>
      </p:sp>
      <p:sp>
        <p:nvSpPr>
          <p:cNvPr id="7" name="Text 5"/>
          <p:cNvSpPr/>
          <p:nvPr/>
        </p:nvSpPr>
        <p:spPr>
          <a:xfrm>
            <a:off x="6872188" y="1767483"/>
            <a:ext cx="142775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H0: μ1 = μ2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53200" y="2252762"/>
            <a:ext cx="4970780" cy="2207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Statistics</a:t>
            </a:r>
            <a:endParaRPr lang="en-US" sz="1121" dirty="0"/>
          </a:p>
        </p:txBody>
      </p:sp>
      <p:sp>
        <p:nvSpPr>
          <p:cNvPr id="9" name="Shape 7"/>
          <p:cNvSpPr/>
          <p:nvPr/>
        </p:nvSpPr>
        <p:spPr>
          <a:xfrm>
            <a:off x="6553200" y="2498923"/>
            <a:ext cx="4826000" cy="1031180"/>
          </a:xfrm>
          <a:custGeom>
            <a:avLst/>
            <a:gdLst/>
            <a:ahLst/>
            <a:cxnLst/>
            <a:rect l="l" t="t" r="r" b="b"/>
            <a:pathLst>
              <a:path w="4826000" h="1031180">
                <a:moveTo>
                  <a:pt x="4775200" y="0"/>
                </a:moveTo>
                <a:lnTo>
                  <a:pt x="4775200" y="0"/>
                </a:lnTo>
                <a:arcTo hR="50800" wR="50800" stAng="16200000" swAng="5400000"/>
                <a:lnTo>
                  <a:pt x="4826000" y="980380"/>
                </a:lnTo>
                <a:arcTo hR="50800" wR="50800" stAng="0" swAng="5400000"/>
                <a:lnTo>
                  <a:pt x="50800" y="1031180"/>
                </a:lnTo>
                <a:arcTo hR="50800" wR="50800" stAng="5400000" swAng="5400000"/>
                <a:lnTo>
                  <a:pt x="0" y="980380"/>
                </a:lnTo>
                <a:arcTo hR="44450" wR="50800" stAng="10800000" swAng="-5400000"/>
                <a:lnTo>
                  <a:pt x="4775200" y="1024830"/>
                </a:lnTo>
                <a:arcTo hR="44450" wR="44450" stAng="5400000" swAng="-5400000"/>
                <a:lnTo>
                  <a:pt x="4819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8"/>
          <p:cNvSpPr/>
          <p:nvPr/>
        </p:nvSpPr>
        <p:spPr>
          <a:xfrm>
            <a:off x="6553200" y="2498923"/>
            <a:ext cx="4826000" cy="1031180"/>
          </a:xfrm>
          <a:custGeom>
            <a:avLst/>
            <a:gdLst/>
            <a:ahLst/>
            <a:cxnLst/>
            <a:rect l="l" t="t" r="r" b="b"/>
            <a:pathLst>
              <a:path w="4826000" h="1031180">
                <a:moveTo>
                  <a:pt x="50800" y="1031180"/>
                </a:moveTo>
                <a:lnTo>
                  <a:pt x="50800" y="103118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775200" y="0"/>
                </a:lnTo>
                <a:arcTo hR="50800" wR="50800" stAng="16200000" swAng="5400000"/>
                <a:lnTo>
                  <a:pt x="4826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98038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65900" y="2511623"/>
          <a:ext cx="4806950" cy="1012130"/>
        </p:xfrm>
        <a:graphic>
          <a:graphicData uri="http://schemas.openxmlformats.org/drawingml/2006/table">
            <a:tbl>
              <a:tblPr/>
              <a:tblGrid>
                <a:gridCol w="1345946"/>
                <a:gridCol w="672973"/>
                <a:gridCol w="480695"/>
                <a:gridCol w="1153668"/>
                <a:gridCol w="1153668"/>
              </a:tblGrid>
              <a:tr h="448866">
                <a:tc>
                  <a:txBody>
                    <a:bodyPr/>
                    <a:lstStyle/>
                    <a:p>
                      <a:pPr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81583">
                <a:tc>
                  <a:txBody>
                    <a:bodyPr/>
                    <a:lstStyle/>
                    <a:p>
                      <a:pPr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before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20.17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4.070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1.662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281682">
                <a:tc>
                  <a:txBody>
                    <a:bodyPr/>
                    <a:lstStyle/>
                    <a:p>
                      <a:pPr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after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18.67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4.719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1.926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812800" y="3657104"/>
            <a:ext cx="10883392" cy="2205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Test </a:t>
            </a:r>
            <a:r>
              <a:rPr lang="en-US" sz="1121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Paired Differences</a:t>
            </a:r>
            <a:endParaRPr lang="en-US" sz="1121" dirty="0"/>
          </a:p>
        </p:txBody>
      </p:sp>
      <p:sp>
        <p:nvSpPr>
          <p:cNvPr id="13" name="Shape 10"/>
          <p:cNvSpPr/>
          <p:nvPr/>
        </p:nvSpPr>
        <p:spPr>
          <a:xfrm>
            <a:off x="812800" y="3903067"/>
            <a:ext cx="10566400" cy="750888"/>
          </a:xfrm>
          <a:custGeom>
            <a:avLst/>
            <a:gdLst/>
            <a:ahLst/>
            <a:cxnLst/>
            <a:rect l="l" t="t" r="r" b="b"/>
            <a:pathLst>
              <a:path w="10566400" h="750888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700088"/>
                </a:lnTo>
                <a:arcTo hR="50800" wR="50800" stAng="0" swAng="5400000"/>
                <a:lnTo>
                  <a:pt x="50800" y="750888"/>
                </a:lnTo>
                <a:arcTo hR="50800" wR="50800" stAng="5400000" swAng="5400000"/>
                <a:lnTo>
                  <a:pt x="0" y="700088"/>
                </a:lnTo>
                <a:arcTo hR="44450" wR="50800" stAng="10800000" swAng="-5400000"/>
                <a:lnTo>
                  <a:pt x="10515600" y="744538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4" name="Shape 11"/>
          <p:cNvSpPr/>
          <p:nvPr/>
        </p:nvSpPr>
        <p:spPr>
          <a:xfrm>
            <a:off x="812800" y="3903067"/>
            <a:ext cx="10566400" cy="750888"/>
          </a:xfrm>
          <a:custGeom>
            <a:avLst/>
            <a:gdLst/>
            <a:ahLst/>
            <a:cxnLst/>
            <a:rect l="l" t="t" r="r" b="b"/>
            <a:pathLst>
              <a:path w="10566400" h="750888">
                <a:moveTo>
                  <a:pt x="50800" y="750888"/>
                </a:moveTo>
                <a:lnTo>
                  <a:pt x="50800" y="750888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00088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3915767"/>
          <a:ext cx="10547350" cy="731838"/>
        </p:xfrm>
        <a:graphic>
          <a:graphicData uri="http://schemas.openxmlformats.org/drawingml/2006/table">
            <a:tbl>
              <a:tblPr/>
              <a:tblGrid>
                <a:gridCol w="1793050"/>
                <a:gridCol w="949262"/>
                <a:gridCol w="1265682"/>
                <a:gridCol w="1160208"/>
                <a:gridCol w="1160208"/>
                <a:gridCol w="1160208"/>
                <a:gridCol w="949262"/>
                <a:gridCol w="632841"/>
                <a:gridCol w="1476629"/>
              </a:tblGrid>
              <a:tr h="449659">
                <a:tc>
                  <a:txBody>
                    <a:bodyPr/>
                    <a:lstStyle/>
                    <a:p>
                      <a:pPr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Lower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Upper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82178">
                <a:tc>
                  <a:txBody>
                    <a:bodyPr/>
                    <a:lstStyle/>
                    <a:p>
                      <a:pPr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before - after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1.500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2.345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.957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-.961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3.961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1.567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.178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812800" y="4831755"/>
            <a:ext cx="10566400" cy="1010245"/>
          </a:xfrm>
          <a:prstGeom prst="roundRect">
            <a:avLst>
              <a:gd name="adj" fmla="val 10057"/>
            </a:avLst>
          </a:prstGeom>
          <a:solidFill>
            <a:srgbClr val="FBEBD0"/>
          </a:solidFill>
          <a:ln/>
        </p:spPr>
      </p:sp>
      <p:sp>
        <p:nvSpPr>
          <p:cNvPr id="17" name="Text 13"/>
          <p:cNvSpPr/>
          <p:nvPr/>
        </p:nvSpPr>
        <p:spPr>
          <a:xfrm>
            <a:off x="711200" y="5034955"/>
            <a:ext cx="1046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25"/>
              </a:lnSpc>
              <a:buNone/>
            </a:pPr>
            <a:r>
              <a:rPr lang="ar-EG" sz="17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‎Sig = 0.178 أكبر من ‎α = 0.05: قبول الفرض العدمي ورفض الفرض البديل</a:t>
            </a:r>
            <a:endParaRPr lang="ar-EG" sz="1700" dirty="0"/>
          </a:p>
        </p:txBody>
      </p:sp>
      <p:sp>
        <p:nvSpPr>
          <p:cNvPr id="18" name="Text 14"/>
          <p:cNvSpPr/>
          <p:nvPr/>
        </p:nvSpPr>
        <p:spPr>
          <a:xfrm>
            <a:off x="711200" y="5381030"/>
            <a:ext cx="104648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الأخطاء انخفضت في العينة بـ ‎1.5 خطأ في المتوسط، لكن الانخفاض ليس معنويًا: قد يكون صدفة.</a:t>
            </a:r>
            <a:endParaRPr lang="ar-EG" sz="1400" dirty="0"/>
          </a:p>
        </p:txBody>
      </p:sp>
      <p:sp>
        <p:nvSpPr>
          <p:cNvPr id="19" name="Text 15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19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6" grpId="0" animBg="1"/>
      <p:bldP spid="17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تطبيق على الحالة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هل غيّرت تجربة الأونلاين رأي الطلاب؟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639826" y="1907480"/>
            <a:ext cx="593877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قبل أن تقرر الإدارة، درّست مادة واحدة أونلاين بالكامل لمدة أسبوعين لـ 8 طلاب، وقاست درجة اتجاههم قبل التجربة وبعدها.</a:t>
            </a:r>
            <a:endParaRPr lang="ar-EG" sz="1500" dirty="0"/>
          </a:p>
        </p:txBody>
      </p:sp>
      <p:sp>
        <p:nvSpPr>
          <p:cNvPr id="5" name="Shape 3"/>
          <p:cNvSpPr/>
          <p:nvPr/>
        </p:nvSpPr>
        <p:spPr>
          <a:xfrm>
            <a:off x="812800" y="2637730"/>
            <a:ext cx="5765800" cy="1527175"/>
          </a:xfrm>
          <a:prstGeom prst="roundRect">
            <a:avLst>
              <a:gd name="adj" fmla="val 6653"/>
            </a:avLst>
          </a:prstGeom>
          <a:solidFill>
            <a:srgbClr val="FBEBD0"/>
          </a:solidFill>
          <a:ln/>
        </p:spPr>
      </p:sp>
      <p:sp>
        <p:nvSpPr>
          <p:cNvPr id="6" name="Text 4"/>
          <p:cNvSpPr/>
          <p:nvPr/>
        </p:nvSpPr>
        <p:spPr>
          <a:xfrm>
            <a:off x="855218" y="2840930"/>
            <a:ext cx="552018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25"/>
              </a:lnSpc>
              <a:buNone/>
            </a:pPr>
            <a:r>
              <a:rPr lang="ar-EG" sz="17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المطلوب</a:t>
            </a:r>
            <a:endParaRPr lang="ar-EG" sz="1700" dirty="0"/>
          </a:p>
        </p:txBody>
      </p:sp>
      <p:sp>
        <p:nvSpPr>
          <p:cNvPr id="7" name="Text 5"/>
          <p:cNvSpPr/>
          <p:nvPr/>
        </p:nvSpPr>
        <p:spPr>
          <a:xfrm>
            <a:off x="868172" y="3225105"/>
            <a:ext cx="5075428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أدخل البيانات في عمودين واختبر الفرق عند مستوى ثقة 99%.</a:t>
            </a:r>
            <a:endParaRPr lang="ar-EG" sz="1400" dirty="0"/>
          </a:p>
        </p:txBody>
      </p:sp>
      <p:sp>
        <p:nvSpPr>
          <p:cNvPr id="8" name="Text 6"/>
          <p:cNvSpPr/>
          <p:nvPr/>
        </p:nvSpPr>
        <p:spPr>
          <a:xfrm>
            <a:off x="6070600" y="322510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172" y="3656905"/>
            <a:ext cx="5075428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القرار؟ وهل تحسّن الاتجاه أم ساء؟</a:t>
            </a:r>
            <a:endParaRPr lang="ar-EG" sz="1400" dirty="0"/>
          </a:p>
        </p:txBody>
      </p:sp>
      <p:sp>
        <p:nvSpPr>
          <p:cNvPr id="10" name="Text 8"/>
          <p:cNvSpPr/>
          <p:nvPr/>
        </p:nvSpPr>
        <p:spPr>
          <a:xfrm>
            <a:off x="6070600" y="365690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34200" y="1907480"/>
            <a:ext cx="4445000" cy="3111500"/>
          </a:xfrm>
          <a:custGeom>
            <a:avLst/>
            <a:gdLst/>
            <a:ahLst/>
            <a:cxnLst/>
            <a:rect l="l" t="t" r="r" b="b"/>
            <a:pathLst>
              <a:path w="4445000" h="3111500">
                <a:moveTo>
                  <a:pt x="4394200" y="0"/>
                </a:moveTo>
                <a:lnTo>
                  <a:pt x="4394200" y="0"/>
                </a:lnTo>
                <a:arcTo hR="50800" wR="50800" stAng="16200000" swAng="5400000"/>
                <a:lnTo>
                  <a:pt x="4445000" y="3060700"/>
                </a:lnTo>
                <a:arcTo hR="50800" wR="50800" stAng="0" swAng="5400000"/>
                <a:lnTo>
                  <a:pt x="50800" y="3111500"/>
                </a:lnTo>
                <a:arcTo hR="50800" wR="50800" stAng="5400000" swAng="5400000"/>
                <a:lnTo>
                  <a:pt x="0" y="3060700"/>
                </a:lnTo>
                <a:arcTo hR="44450" wR="50800" stAng="10800000" swAng="-5400000"/>
                <a:lnTo>
                  <a:pt x="4394200" y="3105150"/>
                </a:lnTo>
                <a:arcTo hR="44450" wR="44450" stAng="5400000" swAng="-5400000"/>
                <a:lnTo>
                  <a:pt x="4438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2" name="Shape 10"/>
          <p:cNvSpPr/>
          <p:nvPr/>
        </p:nvSpPr>
        <p:spPr>
          <a:xfrm>
            <a:off x="6934200" y="1907480"/>
            <a:ext cx="4445000" cy="3111500"/>
          </a:xfrm>
          <a:custGeom>
            <a:avLst/>
            <a:gdLst/>
            <a:ahLst/>
            <a:cxnLst/>
            <a:rect l="l" t="t" r="r" b="b"/>
            <a:pathLst>
              <a:path w="4445000" h="3111500">
                <a:moveTo>
                  <a:pt x="50800" y="3111500"/>
                </a:moveTo>
                <a:lnTo>
                  <a:pt x="50800" y="311150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394200" y="0"/>
                </a:lnTo>
                <a:arcTo hR="50800" wR="50800" stAng="16200000" swAng="5400000"/>
                <a:lnTo>
                  <a:pt x="4445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306070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6900" y="1920180"/>
          <a:ext cx="4425950" cy="3092450"/>
        </p:xfrm>
        <a:graphic>
          <a:graphicData uri="http://schemas.openxmlformats.org/drawingml/2006/table">
            <a:tbl>
              <a:tblPr/>
              <a:tblGrid>
                <a:gridCol w="1726121"/>
                <a:gridCol w="1726121"/>
                <a:gridCol w="973709"/>
              </a:tblGrid>
              <a:tr h="527050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820"/>
                        </a:lnSpc>
                        <a:buNone/>
                      </a:pPr>
                      <a:r>
                        <a:rPr lang="ar-EG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الاتجاه بعد التجربة (att_after)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820"/>
                        </a:lnSpc>
                        <a:buNone/>
                      </a:pPr>
                      <a:r>
                        <a:rPr lang="ar-EG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الاتجاه قبل التجربة (att_before)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820"/>
                        </a:lnSpc>
                        <a:buNone/>
                      </a:pPr>
                      <a:r>
                        <a:rPr lang="ar-EG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الطالب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7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570"/>
              </a:lnSpc>
              <a:buNone/>
            </a:pPr>
            <a:r>
              <a:rPr lang="ar-EG" sz="1121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تطبيق 2 · الحل</a:t>
            </a:r>
            <a:endParaRPr lang="ar-EG" sz="1121" dirty="0"/>
          </a:p>
        </p:txBody>
      </p:sp>
      <p:sp>
        <p:nvSpPr>
          <p:cNvPr id="3" name="Text 1"/>
          <p:cNvSpPr/>
          <p:nvPr/>
        </p:nvSpPr>
        <p:spPr>
          <a:xfrm>
            <a:off x="495808" y="1109266"/>
            <a:ext cx="10883392" cy="5058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3817"/>
              </a:lnSpc>
              <a:buNone/>
            </a:pPr>
            <a:r>
              <a:rPr lang="ar-EG" sz="3319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التجربة حسّنت اتجاه الطلاب</a:t>
            </a:r>
            <a:endParaRPr lang="ar-EG" sz="3319" dirty="0"/>
          </a:p>
        </p:txBody>
      </p:sp>
      <p:sp>
        <p:nvSpPr>
          <p:cNvPr id="4" name="Text 2"/>
          <p:cNvSpPr/>
          <p:nvPr/>
        </p:nvSpPr>
        <p:spPr>
          <a:xfrm>
            <a:off x="333296" y="1814116"/>
            <a:ext cx="2877026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885"/>
              </a:lnSpc>
              <a:buNone/>
            </a:pPr>
            <a:r>
              <a:rPr lang="ar-EG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الفرض البديل: التجربة غيّرت الاتجاه</a:t>
            </a:r>
            <a:endParaRPr lang="ar-EG" sz="1300" dirty="0"/>
          </a:p>
        </p:txBody>
      </p:sp>
      <p:sp>
        <p:nvSpPr>
          <p:cNvPr id="5" name="Text 3"/>
          <p:cNvSpPr/>
          <p:nvPr/>
        </p:nvSpPr>
        <p:spPr>
          <a:xfrm>
            <a:off x="3311922" y="1767483"/>
            <a:ext cx="142775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H1: μ1 ≠ μ2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39680" y="1814116"/>
            <a:ext cx="2877641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885"/>
              </a:lnSpc>
              <a:buNone/>
            </a:pPr>
            <a:r>
              <a:rPr lang="ar-EG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الفرض العدمي: التجربة لم تغيّر الاتجاه</a:t>
            </a:r>
            <a:endParaRPr lang="ar-EG" sz="1300" dirty="0"/>
          </a:p>
        </p:txBody>
      </p:sp>
      <p:sp>
        <p:nvSpPr>
          <p:cNvPr id="7" name="Text 5"/>
          <p:cNvSpPr/>
          <p:nvPr/>
        </p:nvSpPr>
        <p:spPr>
          <a:xfrm>
            <a:off x="7718921" y="1767483"/>
            <a:ext cx="142775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H0: μ1 = μ2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53200" y="2252762"/>
            <a:ext cx="4970780" cy="2207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Statistics</a:t>
            </a:r>
            <a:endParaRPr lang="en-US" sz="1121" dirty="0"/>
          </a:p>
        </p:txBody>
      </p:sp>
      <p:sp>
        <p:nvSpPr>
          <p:cNvPr id="9" name="Shape 7"/>
          <p:cNvSpPr/>
          <p:nvPr/>
        </p:nvSpPr>
        <p:spPr>
          <a:xfrm>
            <a:off x="6553200" y="2498923"/>
            <a:ext cx="4826000" cy="1031180"/>
          </a:xfrm>
          <a:custGeom>
            <a:avLst/>
            <a:gdLst/>
            <a:ahLst/>
            <a:cxnLst/>
            <a:rect l="l" t="t" r="r" b="b"/>
            <a:pathLst>
              <a:path w="4826000" h="1031180">
                <a:moveTo>
                  <a:pt x="4775200" y="0"/>
                </a:moveTo>
                <a:lnTo>
                  <a:pt x="4775200" y="0"/>
                </a:lnTo>
                <a:arcTo hR="50800" wR="50800" stAng="16200000" swAng="5400000"/>
                <a:lnTo>
                  <a:pt x="4826000" y="980380"/>
                </a:lnTo>
                <a:arcTo hR="50800" wR="50800" stAng="0" swAng="5400000"/>
                <a:lnTo>
                  <a:pt x="50800" y="1031180"/>
                </a:lnTo>
                <a:arcTo hR="50800" wR="50800" stAng="5400000" swAng="5400000"/>
                <a:lnTo>
                  <a:pt x="0" y="980380"/>
                </a:lnTo>
                <a:arcTo hR="44450" wR="50800" stAng="10800000" swAng="-5400000"/>
                <a:lnTo>
                  <a:pt x="4775200" y="1024830"/>
                </a:lnTo>
                <a:arcTo hR="44450" wR="44450" stAng="5400000" swAng="-5400000"/>
                <a:lnTo>
                  <a:pt x="4819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8"/>
          <p:cNvSpPr/>
          <p:nvPr/>
        </p:nvSpPr>
        <p:spPr>
          <a:xfrm>
            <a:off x="6553200" y="2498923"/>
            <a:ext cx="4826000" cy="1031180"/>
          </a:xfrm>
          <a:custGeom>
            <a:avLst/>
            <a:gdLst/>
            <a:ahLst/>
            <a:cxnLst/>
            <a:rect l="l" t="t" r="r" b="b"/>
            <a:pathLst>
              <a:path w="4826000" h="1031180">
                <a:moveTo>
                  <a:pt x="50800" y="1031180"/>
                </a:moveTo>
                <a:lnTo>
                  <a:pt x="50800" y="103118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775200" y="0"/>
                </a:lnTo>
                <a:arcTo hR="50800" wR="50800" stAng="16200000" swAng="5400000"/>
                <a:lnTo>
                  <a:pt x="4826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98038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65900" y="2511623"/>
          <a:ext cx="4806950" cy="1012130"/>
        </p:xfrm>
        <a:graphic>
          <a:graphicData uri="http://schemas.openxmlformats.org/drawingml/2006/table">
            <a:tbl>
              <a:tblPr/>
              <a:tblGrid>
                <a:gridCol w="1345946"/>
                <a:gridCol w="672973"/>
                <a:gridCol w="480695"/>
                <a:gridCol w="1153668"/>
                <a:gridCol w="1153668"/>
              </a:tblGrid>
              <a:tr h="448866">
                <a:tc>
                  <a:txBody>
                    <a:bodyPr/>
                    <a:lstStyle/>
                    <a:p>
                      <a:pPr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81583">
                <a:tc>
                  <a:txBody>
                    <a:bodyPr/>
                    <a:lstStyle/>
                    <a:p>
                      <a:pPr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att_before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2.80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8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.400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.141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281682">
                <a:tc>
                  <a:txBody>
                    <a:bodyPr/>
                    <a:lstStyle/>
                    <a:p>
                      <a:pPr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att_after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3.35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8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.298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.105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812800" y="3657104"/>
            <a:ext cx="10883392" cy="2205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Test </a:t>
            </a:r>
            <a:r>
              <a:rPr lang="en-US" sz="1121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Paired Differences</a:t>
            </a:r>
            <a:endParaRPr lang="en-US" sz="1121" dirty="0"/>
          </a:p>
        </p:txBody>
      </p:sp>
      <p:sp>
        <p:nvSpPr>
          <p:cNvPr id="13" name="Shape 10"/>
          <p:cNvSpPr/>
          <p:nvPr/>
        </p:nvSpPr>
        <p:spPr>
          <a:xfrm>
            <a:off x="812800" y="3903067"/>
            <a:ext cx="10566400" cy="750888"/>
          </a:xfrm>
          <a:custGeom>
            <a:avLst/>
            <a:gdLst/>
            <a:ahLst/>
            <a:cxnLst/>
            <a:rect l="l" t="t" r="r" b="b"/>
            <a:pathLst>
              <a:path w="10566400" h="750888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700088"/>
                </a:lnTo>
                <a:arcTo hR="50800" wR="50800" stAng="0" swAng="5400000"/>
                <a:lnTo>
                  <a:pt x="50800" y="750888"/>
                </a:lnTo>
                <a:arcTo hR="50800" wR="50800" stAng="5400000" swAng="5400000"/>
                <a:lnTo>
                  <a:pt x="0" y="700088"/>
                </a:lnTo>
                <a:arcTo hR="44450" wR="50800" stAng="10800000" swAng="-5400000"/>
                <a:lnTo>
                  <a:pt x="10515600" y="744538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4" name="Shape 11"/>
          <p:cNvSpPr/>
          <p:nvPr/>
        </p:nvSpPr>
        <p:spPr>
          <a:xfrm>
            <a:off x="812800" y="3903067"/>
            <a:ext cx="10566400" cy="750888"/>
          </a:xfrm>
          <a:custGeom>
            <a:avLst/>
            <a:gdLst/>
            <a:ahLst/>
            <a:cxnLst/>
            <a:rect l="l" t="t" r="r" b="b"/>
            <a:pathLst>
              <a:path w="10566400" h="750888">
                <a:moveTo>
                  <a:pt x="50800" y="750888"/>
                </a:moveTo>
                <a:lnTo>
                  <a:pt x="50800" y="750888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00088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3915767"/>
          <a:ext cx="10547350" cy="731838"/>
        </p:xfrm>
        <a:graphic>
          <a:graphicData uri="http://schemas.openxmlformats.org/drawingml/2006/table">
            <a:tbl>
              <a:tblPr/>
              <a:tblGrid>
                <a:gridCol w="1793050"/>
                <a:gridCol w="949262"/>
                <a:gridCol w="1265682"/>
                <a:gridCol w="1160208"/>
                <a:gridCol w="1160208"/>
                <a:gridCol w="1160208"/>
                <a:gridCol w="949262"/>
                <a:gridCol w="632841"/>
                <a:gridCol w="1476629"/>
              </a:tblGrid>
              <a:tr h="449659">
                <a:tc>
                  <a:txBody>
                    <a:bodyPr/>
                    <a:lstStyle/>
                    <a:p>
                      <a:pPr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99% CI Lower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99% CI Upper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82178">
                <a:tc>
                  <a:txBody>
                    <a:bodyPr/>
                    <a:lstStyle/>
                    <a:p>
                      <a:pPr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att_before - att_after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-.550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.256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.091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-.867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-.233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-6.068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7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.001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812800" y="4831755"/>
            <a:ext cx="10566400" cy="1010245"/>
          </a:xfrm>
          <a:prstGeom prst="roundRect">
            <a:avLst>
              <a:gd name="adj" fmla="val 10057"/>
            </a:avLst>
          </a:prstGeom>
          <a:solidFill>
            <a:srgbClr val="DDEFE3"/>
          </a:solidFill>
          <a:ln/>
        </p:spPr>
      </p:sp>
      <p:sp>
        <p:nvSpPr>
          <p:cNvPr id="17" name="Text 13"/>
          <p:cNvSpPr/>
          <p:nvPr/>
        </p:nvSpPr>
        <p:spPr>
          <a:xfrm>
            <a:off x="711200" y="5034955"/>
            <a:ext cx="1046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25"/>
              </a:lnSpc>
              <a:buNone/>
            </a:pPr>
            <a:r>
              <a:rPr lang="ar-EG" sz="1700" b="1" dirty="0">
                <a:solidFill>
                  <a:srgbClr val="2E7D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‎Sig = 0.001 أصغر من ‎α = 0.01: رفض الفرض العدمي وقبول الفرض البديل</a:t>
            </a:r>
            <a:endParaRPr lang="ar-EG" sz="1700" dirty="0"/>
          </a:p>
        </p:txBody>
      </p:sp>
      <p:sp>
        <p:nvSpPr>
          <p:cNvPr id="18" name="Text 14"/>
          <p:cNvSpPr/>
          <p:nvPr/>
        </p:nvSpPr>
        <p:spPr>
          <a:xfrm>
            <a:off x="711200" y="5381030"/>
            <a:ext cx="104648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متوسط الفروق (قبل − بعد) سالب: ‎−0.55، أي أن الاتجاه بعد التجربة أعلى؛ ارتفع من ‎2.80 إلى ‎3.35.</a:t>
            </a:r>
            <a:endParaRPr lang="ar-EG" sz="1400" dirty="0"/>
          </a:p>
        </p:txBody>
      </p:sp>
      <p:sp>
        <p:nvSpPr>
          <p:cNvPr id="19" name="Text 15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21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6" grpId="0" animBg="1"/>
      <p:bldP spid="17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68450" y="2263180"/>
            <a:ext cx="98107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انتبه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1568450" y="2730500"/>
            <a:ext cx="9810750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5280"/>
              </a:lnSpc>
              <a:buNone/>
            </a:pPr>
            <a:r>
              <a:rPr lang="ar-EG" sz="4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اعرف ‎α قبل أن تقارن</a:t>
            </a:r>
            <a:endParaRPr lang="ar-EG" sz="4800" dirty="0"/>
          </a:p>
        </p:txBody>
      </p:sp>
      <p:sp>
        <p:nvSpPr>
          <p:cNvPr id="4" name="Text 2"/>
          <p:cNvSpPr/>
          <p:nvPr/>
        </p:nvSpPr>
        <p:spPr>
          <a:xfrm>
            <a:off x="1568450" y="3655020"/>
            <a:ext cx="9810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900"/>
              </a:lnSpc>
              <a:buNone/>
            </a:pPr>
            <a:r>
              <a:rPr lang="ar-EG" sz="20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‎α = 1 − مستوى الثقة المذكور في السؤال. عند ثقة 95% نقارن ‎Sig بـ ‎0.05، وعند ثقة 99% نقارنها بـ ‎0.01. ‎Sig = 0.03 تعني رفض الفرض العدمي في الأولى وقبوله في الثانية.</a:t>
            </a:r>
            <a:endParaRPr lang="ar-EG" sz="2000" dirty="0"/>
          </a:p>
        </p:txBody>
      </p:sp>
      <p:sp>
        <p:nvSpPr>
          <p:cNvPr id="5" name="Text 3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2362200"/>
            <a:ext cx="457200" cy="213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22500" y="1795760"/>
            <a:ext cx="91567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2222500" y="3472160"/>
            <a:ext cx="91567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7200"/>
              </a:lnSpc>
              <a:buNone/>
            </a:pPr>
            <a:r>
              <a:rPr lang="ar-EG" sz="6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اقرأ المخرجات</a:t>
            </a:r>
            <a:endParaRPr lang="ar-EG" sz="6000" dirty="0"/>
          </a:p>
        </p:txBody>
      </p:sp>
      <p:sp>
        <p:nvSpPr>
          <p:cNvPr id="5" name="Text 2"/>
          <p:cNvSpPr/>
          <p:nvPr/>
        </p:nvSpPr>
        <p:spPr>
          <a:xfrm>
            <a:off x="2222500" y="4538960"/>
            <a:ext cx="91567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20"/>
              </a:lnSpc>
              <a:buNone/>
            </a:pPr>
            <a:r>
              <a:rPr lang="ar-EG" sz="18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أسئلة اختيار من متعدد على مخرجات جاهزة</a:t>
            </a:r>
            <a:endParaRPr lang="ar-EG" sz="1800" dirty="0"/>
          </a:p>
        </p:txBody>
      </p:sp>
      <p:sp>
        <p:nvSpPr>
          <p:cNvPr id="6" name="Text 3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 2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أجب من المخرجات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047180"/>
            <a:ext cx="4185920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Statistics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31130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4013200" y="0"/>
                </a:moveTo>
                <a:lnTo>
                  <a:pt x="4013200" y="0"/>
                </a:lnTo>
                <a:arcTo hR="50800" wR="50800" stAng="16200000" swAng="5400000"/>
                <a:lnTo>
                  <a:pt x="4064000" y="768350"/>
                </a:lnTo>
                <a:arcTo hR="50800" wR="50800" stAng="0" swAng="5400000"/>
                <a:lnTo>
                  <a:pt x="50800" y="819150"/>
                </a:lnTo>
                <a:arcTo hR="50800" wR="50800" stAng="5400000" swAng="5400000"/>
                <a:lnTo>
                  <a:pt x="0" y="768350"/>
                </a:lnTo>
                <a:arcTo hR="44450" wR="50800" stAng="10800000" swAng="-5400000"/>
                <a:lnTo>
                  <a:pt x="4013200" y="812800"/>
                </a:lnTo>
                <a:arcTo hR="44450" wR="44450" stAng="5400000" swAng="-5400000"/>
                <a:lnTo>
                  <a:pt x="4057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231130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50800" y="819150"/>
                </a:moveTo>
                <a:lnTo>
                  <a:pt x="50800" y="8191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013200" y="0"/>
                </a:lnTo>
                <a:arcTo hR="50800" wR="50800" stAng="16200000" swAng="5400000"/>
                <a:lnTo>
                  <a:pt x="4064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683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324001"/>
          <a:ext cx="4044950" cy="800100"/>
        </p:xfrm>
        <a:graphic>
          <a:graphicData uri="http://schemas.openxmlformats.org/drawingml/2006/table">
            <a:tbl>
              <a:tblPr/>
              <a:tblGrid>
                <a:gridCol w="889889"/>
                <a:gridCol w="404495"/>
                <a:gridCol w="808990"/>
                <a:gridCol w="970788"/>
                <a:gridCol w="970788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wage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407.80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161.560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51.090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80000" y="1856680"/>
            <a:ext cx="6488176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Test </a:t>
            </a:r>
            <a:r>
              <a:rPr lang="en-US" sz="1200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Test Value = 300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080000" y="2120801"/>
            <a:ext cx="6299200" cy="1009650"/>
          </a:xfrm>
          <a:custGeom>
            <a:avLst/>
            <a:gdLst/>
            <a:ahLst/>
            <a:cxnLst/>
            <a:rect l="l" t="t" r="r" b="b"/>
            <a:pathLst>
              <a:path w="6299200" h="1009650">
                <a:moveTo>
                  <a:pt x="6248400" y="0"/>
                </a:moveTo>
                <a:lnTo>
                  <a:pt x="6248400" y="0"/>
                </a:lnTo>
                <a:arcTo hR="50800" wR="50800" stAng="16200000" swAng="5400000"/>
                <a:lnTo>
                  <a:pt x="6299200" y="958850"/>
                </a:lnTo>
                <a:arcTo hR="50800" wR="50800" stAng="0" swAng="5400000"/>
                <a:lnTo>
                  <a:pt x="50800" y="1009650"/>
                </a:lnTo>
                <a:arcTo hR="50800" wR="50800" stAng="5400000" swAng="5400000"/>
                <a:lnTo>
                  <a:pt x="0" y="958850"/>
                </a:lnTo>
                <a:arcTo hR="44450" wR="50800" stAng="10800000" swAng="-5400000"/>
                <a:lnTo>
                  <a:pt x="6248400" y="1003300"/>
                </a:lnTo>
                <a:arcTo hR="44450" wR="44450" stAng="5400000" swAng="-5400000"/>
                <a:lnTo>
                  <a:pt x="62928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7"/>
          <p:cNvSpPr/>
          <p:nvPr/>
        </p:nvSpPr>
        <p:spPr>
          <a:xfrm>
            <a:off x="5080000" y="2120801"/>
            <a:ext cx="6299200" cy="1009650"/>
          </a:xfrm>
          <a:custGeom>
            <a:avLst/>
            <a:gdLst/>
            <a:ahLst/>
            <a:cxnLst/>
            <a:rect l="l" t="t" r="r" b="b"/>
            <a:pathLst>
              <a:path w="6299200" h="1009650">
                <a:moveTo>
                  <a:pt x="50800" y="1009650"/>
                </a:moveTo>
                <a:lnTo>
                  <a:pt x="50800" y="10096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6248400" y="0"/>
                </a:lnTo>
                <a:arcTo hR="50800" wR="50800" stAng="16200000" swAng="5400000"/>
                <a:lnTo>
                  <a:pt x="62992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9588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2700" y="2133501"/>
          <a:ext cx="6280150" cy="990600"/>
        </p:xfrm>
        <a:graphic>
          <a:graphicData uri="http://schemas.openxmlformats.org/drawingml/2006/table">
            <a:tbl>
              <a:tblPr/>
              <a:tblGrid>
                <a:gridCol w="1057055"/>
                <a:gridCol w="621797"/>
                <a:gridCol w="497438"/>
                <a:gridCol w="1057055"/>
                <a:gridCol w="1057055"/>
                <a:gridCol w="994875"/>
                <a:gridCol w="994875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 Difference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99% CI Lower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99% CI Upper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wage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2.110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.064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107.800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-58.23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273.83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815975" y="3336826"/>
            <a:ext cx="1708348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20750" y="3414911"/>
            <a:ext cx="1181298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765"/>
              </a:lnSpc>
              <a:buNone/>
            </a:pPr>
            <a:r>
              <a:rPr lang="ar-EG" sz="135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Nominal</a:t>
            </a:r>
            <a:endParaRPr lang="ar-EG" sz="1350" dirty="0"/>
          </a:p>
        </p:txBody>
      </p:sp>
      <p:sp>
        <p:nvSpPr>
          <p:cNvPr id="14" name="Text 10"/>
          <p:cNvSpPr/>
          <p:nvPr/>
        </p:nvSpPr>
        <p:spPr>
          <a:xfrm>
            <a:off x="2190948" y="33908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</a:t>
            </a:r>
            <a:endParaRPr lang="ar-EG" sz="1200" dirty="0"/>
          </a:p>
        </p:txBody>
      </p:sp>
      <p:sp>
        <p:nvSpPr>
          <p:cNvPr id="15" name="Shape 11"/>
          <p:cNvSpPr/>
          <p:nvPr/>
        </p:nvSpPr>
        <p:spPr>
          <a:xfrm>
            <a:off x="2619573" y="3336826"/>
            <a:ext cx="1760141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724348" y="3414911"/>
            <a:ext cx="1233091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711"/>
              </a:lnSpc>
              <a:buNone/>
            </a:pPr>
            <a:r>
              <a:rPr lang="ar-EG" sz="13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Ordinal</a:t>
            </a:r>
            <a:endParaRPr lang="ar-EG" sz="1300" dirty="0"/>
          </a:p>
        </p:txBody>
      </p:sp>
      <p:sp>
        <p:nvSpPr>
          <p:cNvPr id="17" name="Text 13"/>
          <p:cNvSpPr/>
          <p:nvPr/>
        </p:nvSpPr>
        <p:spPr>
          <a:xfrm>
            <a:off x="4046339" y="33908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</a:t>
            </a:r>
            <a:endParaRPr lang="ar-EG" sz="1200" dirty="0"/>
          </a:p>
        </p:txBody>
      </p:sp>
      <p:sp>
        <p:nvSpPr>
          <p:cNvPr id="18" name="Shape 14"/>
          <p:cNvSpPr/>
          <p:nvPr/>
        </p:nvSpPr>
        <p:spPr>
          <a:xfrm>
            <a:off x="4474964" y="3336826"/>
            <a:ext cx="1847652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579739" y="3414911"/>
            <a:ext cx="1320602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711"/>
              </a:lnSpc>
              <a:buNone/>
            </a:pPr>
            <a:r>
              <a:rPr lang="ar-EG" sz="13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Nominal</a:t>
            </a:r>
            <a:endParaRPr lang="ar-EG" sz="1300" dirty="0"/>
          </a:p>
        </p:txBody>
      </p:sp>
      <p:sp>
        <p:nvSpPr>
          <p:cNvPr id="20" name="Text 16"/>
          <p:cNvSpPr/>
          <p:nvPr/>
        </p:nvSpPr>
        <p:spPr>
          <a:xfrm>
            <a:off x="5989241" y="33908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</a:t>
            </a:r>
            <a:endParaRPr lang="ar-EG" sz="1200" dirty="0"/>
          </a:p>
        </p:txBody>
      </p:sp>
      <p:sp>
        <p:nvSpPr>
          <p:cNvPr id="21" name="Shape 17"/>
          <p:cNvSpPr/>
          <p:nvPr/>
        </p:nvSpPr>
        <p:spPr>
          <a:xfrm>
            <a:off x="815975" y="3819426"/>
            <a:ext cx="1484908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20750" y="3897511"/>
            <a:ext cx="957858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Scale</a:t>
            </a:r>
            <a:endParaRPr lang="ar-EG" sz="1400" dirty="0"/>
          </a:p>
        </p:txBody>
      </p:sp>
      <p:sp>
        <p:nvSpPr>
          <p:cNvPr id="23" name="Text 19"/>
          <p:cNvSpPr/>
          <p:nvPr/>
        </p:nvSpPr>
        <p:spPr>
          <a:xfrm>
            <a:off x="1967508" y="38734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</a:t>
            </a:r>
            <a:endParaRPr lang="ar-EG" sz="1200" dirty="0"/>
          </a:p>
        </p:txBody>
      </p:sp>
      <p:sp>
        <p:nvSpPr>
          <p:cNvPr id="24" name="Text 20"/>
          <p:cNvSpPr/>
          <p:nvPr/>
        </p:nvSpPr>
        <p:spPr>
          <a:xfrm>
            <a:off x="7757160" y="3642916"/>
            <a:ext cx="313944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نوع المتغير ومقياسه:</a:t>
            </a:r>
            <a:endParaRPr lang="ar-EG" sz="1400" dirty="0"/>
          </a:p>
        </p:txBody>
      </p:sp>
      <p:sp>
        <p:nvSpPr>
          <p:cNvPr id="25" name="Text 21"/>
          <p:cNvSpPr/>
          <p:nvPr/>
        </p:nvSpPr>
        <p:spPr>
          <a:xfrm>
            <a:off x="11049000" y="360670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815975" y="4340126"/>
            <a:ext cx="76239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20750" y="4418211"/>
            <a:ext cx="235347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1244997" y="43941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</a:t>
            </a:r>
            <a:endParaRPr lang="ar-EG" sz="1200" dirty="0"/>
          </a:p>
        </p:txBody>
      </p:sp>
      <p:sp>
        <p:nvSpPr>
          <p:cNvPr id="29" name="Shape 25"/>
          <p:cNvSpPr/>
          <p:nvPr/>
        </p:nvSpPr>
        <p:spPr>
          <a:xfrm>
            <a:off x="1673622" y="4340126"/>
            <a:ext cx="912019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1778397" y="4418211"/>
            <a:ext cx="384969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300</a:t>
            </a:r>
            <a:endParaRPr lang="en-US" sz="1400" dirty="0"/>
          </a:p>
        </p:txBody>
      </p:sp>
      <p:sp>
        <p:nvSpPr>
          <p:cNvPr id="31" name="Text 27"/>
          <p:cNvSpPr/>
          <p:nvPr/>
        </p:nvSpPr>
        <p:spPr>
          <a:xfrm>
            <a:off x="2252266" y="43941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</a:t>
            </a:r>
            <a:endParaRPr lang="ar-EG" sz="1200" dirty="0"/>
          </a:p>
        </p:txBody>
      </p:sp>
      <p:sp>
        <p:nvSpPr>
          <p:cNvPr id="32" name="Shape 28"/>
          <p:cNvSpPr/>
          <p:nvPr/>
        </p:nvSpPr>
        <p:spPr>
          <a:xfrm>
            <a:off x="2680891" y="4340126"/>
            <a:ext cx="957362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2785666" y="4418211"/>
            <a:ext cx="430312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0.64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3304877" y="43941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</a:t>
            </a:r>
            <a:endParaRPr lang="ar-EG" sz="1200" dirty="0"/>
          </a:p>
        </p:txBody>
      </p:sp>
      <p:sp>
        <p:nvSpPr>
          <p:cNvPr id="35" name="Shape 31"/>
          <p:cNvSpPr/>
          <p:nvPr/>
        </p:nvSpPr>
        <p:spPr>
          <a:xfrm>
            <a:off x="3733502" y="4340126"/>
            <a:ext cx="910332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3838277" y="4418211"/>
            <a:ext cx="383282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500</a:t>
            </a:r>
            <a:endParaRPr lang="en-US" sz="1400" dirty="0"/>
          </a:p>
        </p:txBody>
      </p:sp>
      <p:sp>
        <p:nvSpPr>
          <p:cNvPr id="37" name="Text 33"/>
          <p:cNvSpPr/>
          <p:nvPr/>
        </p:nvSpPr>
        <p:spPr>
          <a:xfrm>
            <a:off x="4310459" y="43941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</a:t>
            </a:r>
            <a:endParaRPr lang="ar-EG" sz="1200" dirty="0"/>
          </a:p>
        </p:txBody>
      </p:sp>
      <p:sp>
        <p:nvSpPr>
          <p:cNvPr id="38" name="Text 34"/>
          <p:cNvSpPr/>
          <p:nvPr/>
        </p:nvSpPr>
        <p:spPr>
          <a:xfrm>
            <a:off x="7757160" y="4404916"/>
            <a:ext cx="313944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القيمة الافتراضية ‎μ0 تساوي:</a:t>
            </a:r>
            <a:endParaRPr lang="ar-EG" sz="1400" dirty="0"/>
          </a:p>
        </p:txBody>
      </p:sp>
      <p:sp>
        <p:nvSpPr>
          <p:cNvPr id="39" name="Text 35"/>
          <p:cNvSpPr/>
          <p:nvPr/>
        </p:nvSpPr>
        <p:spPr>
          <a:xfrm>
            <a:off x="11049000" y="436870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815975" y="4860826"/>
            <a:ext cx="936923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920750" y="4938911"/>
            <a:ext cx="409873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10%</a:t>
            </a:r>
            <a:endParaRPr lang="en-US" sz="1400" dirty="0"/>
          </a:p>
        </p:txBody>
      </p:sp>
      <p:sp>
        <p:nvSpPr>
          <p:cNvPr id="42" name="Text 38"/>
          <p:cNvSpPr/>
          <p:nvPr/>
        </p:nvSpPr>
        <p:spPr>
          <a:xfrm>
            <a:off x="1419523" y="49148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</a:t>
            </a:r>
            <a:endParaRPr lang="ar-EG" sz="1200" dirty="0"/>
          </a:p>
        </p:txBody>
      </p:sp>
      <p:sp>
        <p:nvSpPr>
          <p:cNvPr id="43" name="Shape 39"/>
          <p:cNvSpPr/>
          <p:nvPr/>
        </p:nvSpPr>
        <p:spPr>
          <a:xfrm>
            <a:off x="1848148" y="4860826"/>
            <a:ext cx="824805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1952923" y="4938911"/>
            <a:ext cx="297755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1%</a:t>
            </a:r>
            <a:endParaRPr lang="en-US" sz="1400" dirty="0"/>
          </a:p>
        </p:txBody>
      </p:sp>
      <p:sp>
        <p:nvSpPr>
          <p:cNvPr id="45" name="Text 41"/>
          <p:cNvSpPr/>
          <p:nvPr/>
        </p:nvSpPr>
        <p:spPr>
          <a:xfrm>
            <a:off x="2339578" y="49148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</a:t>
            </a:r>
            <a:endParaRPr lang="ar-EG" sz="1200" dirty="0"/>
          </a:p>
        </p:txBody>
      </p:sp>
      <p:sp>
        <p:nvSpPr>
          <p:cNvPr id="46" name="Shape 42"/>
          <p:cNvSpPr/>
          <p:nvPr/>
        </p:nvSpPr>
        <p:spPr>
          <a:xfrm>
            <a:off x="2768203" y="4860826"/>
            <a:ext cx="973038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2872978" y="4938911"/>
            <a:ext cx="445988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99%</a:t>
            </a:r>
            <a:endParaRPr lang="en-US" sz="1400" dirty="0"/>
          </a:p>
        </p:txBody>
      </p:sp>
      <p:sp>
        <p:nvSpPr>
          <p:cNvPr id="48" name="Text 44"/>
          <p:cNvSpPr/>
          <p:nvPr/>
        </p:nvSpPr>
        <p:spPr>
          <a:xfrm>
            <a:off x="3407866" y="49148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</a:t>
            </a:r>
            <a:endParaRPr lang="ar-EG" sz="1200" dirty="0"/>
          </a:p>
        </p:txBody>
      </p:sp>
      <p:sp>
        <p:nvSpPr>
          <p:cNvPr id="49" name="Shape 45"/>
          <p:cNvSpPr/>
          <p:nvPr/>
        </p:nvSpPr>
        <p:spPr>
          <a:xfrm>
            <a:off x="3836491" y="4860826"/>
            <a:ext cx="952500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3941266" y="4938911"/>
            <a:ext cx="425450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0.05</a:t>
            </a:r>
            <a:endParaRPr lang="en-US" sz="1400" dirty="0"/>
          </a:p>
        </p:txBody>
      </p:sp>
      <p:sp>
        <p:nvSpPr>
          <p:cNvPr id="51" name="Text 47"/>
          <p:cNvSpPr/>
          <p:nvPr/>
        </p:nvSpPr>
        <p:spPr>
          <a:xfrm>
            <a:off x="4455616" y="49148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</a:t>
            </a:r>
            <a:endParaRPr lang="ar-EG" sz="1200" dirty="0"/>
          </a:p>
        </p:txBody>
      </p:sp>
      <p:sp>
        <p:nvSpPr>
          <p:cNvPr id="52" name="Text 48"/>
          <p:cNvSpPr/>
          <p:nvPr/>
        </p:nvSpPr>
        <p:spPr>
          <a:xfrm>
            <a:off x="7757160" y="4925616"/>
            <a:ext cx="313944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مستوى الثقة:</a:t>
            </a:r>
            <a:endParaRPr lang="ar-EG" sz="1400" dirty="0"/>
          </a:p>
        </p:txBody>
      </p:sp>
      <p:sp>
        <p:nvSpPr>
          <p:cNvPr id="53" name="Text 49"/>
          <p:cNvSpPr/>
          <p:nvPr/>
        </p:nvSpPr>
        <p:spPr>
          <a:xfrm>
            <a:off x="11049000" y="488940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815975" y="5381526"/>
            <a:ext cx="936923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920750" y="5459611"/>
            <a:ext cx="409873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10%</a:t>
            </a:r>
            <a:endParaRPr lang="en-US" sz="1400" dirty="0"/>
          </a:p>
        </p:txBody>
      </p:sp>
      <p:sp>
        <p:nvSpPr>
          <p:cNvPr id="56" name="Text 52"/>
          <p:cNvSpPr/>
          <p:nvPr/>
        </p:nvSpPr>
        <p:spPr>
          <a:xfrm>
            <a:off x="1419523" y="54355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</a:t>
            </a:r>
            <a:endParaRPr lang="ar-EG" sz="1200" dirty="0"/>
          </a:p>
        </p:txBody>
      </p:sp>
      <p:sp>
        <p:nvSpPr>
          <p:cNvPr id="57" name="Shape 53"/>
          <p:cNvSpPr/>
          <p:nvPr/>
        </p:nvSpPr>
        <p:spPr>
          <a:xfrm>
            <a:off x="1848148" y="5381526"/>
            <a:ext cx="824805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1952923" y="5459611"/>
            <a:ext cx="297755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1%</a:t>
            </a:r>
            <a:endParaRPr lang="en-US" sz="1400" dirty="0"/>
          </a:p>
        </p:txBody>
      </p:sp>
      <p:sp>
        <p:nvSpPr>
          <p:cNvPr id="59" name="Text 55"/>
          <p:cNvSpPr/>
          <p:nvPr/>
        </p:nvSpPr>
        <p:spPr>
          <a:xfrm>
            <a:off x="2339578" y="54355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</a:t>
            </a:r>
            <a:endParaRPr lang="ar-EG" sz="1200" dirty="0"/>
          </a:p>
        </p:txBody>
      </p:sp>
      <p:sp>
        <p:nvSpPr>
          <p:cNvPr id="60" name="Shape 56"/>
          <p:cNvSpPr/>
          <p:nvPr/>
        </p:nvSpPr>
        <p:spPr>
          <a:xfrm>
            <a:off x="2768203" y="5381526"/>
            <a:ext cx="973038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2872978" y="5459611"/>
            <a:ext cx="445988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99%</a:t>
            </a:r>
            <a:endParaRPr lang="en-US" sz="1400" dirty="0"/>
          </a:p>
        </p:txBody>
      </p:sp>
      <p:sp>
        <p:nvSpPr>
          <p:cNvPr id="62" name="Text 58"/>
          <p:cNvSpPr/>
          <p:nvPr/>
        </p:nvSpPr>
        <p:spPr>
          <a:xfrm>
            <a:off x="3407866" y="54355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</a:t>
            </a:r>
            <a:endParaRPr lang="ar-EG" sz="1200" dirty="0"/>
          </a:p>
        </p:txBody>
      </p:sp>
      <p:sp>
        <p:nvSpPr>
          <p:cNvPr id="63" name="Shape 59"/>
          <p:cNvSpPr/>
          <p:nvPr/>
        </p:nvSpPr>
        <p:spPr>
          <a:xfrm>
            <a:off x="3836491" y="5381526"/>
            <a:ext cx="952500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3941266" y="5459611"/>
            <a:ext cx="425450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0.05</a:t>
            </a:r>
            <a:endParaRPr lang="en-US" sz="1400" dirty="0"/>
          </a:p>
        </p:txBody>
      </p:sp>
      <p:sp>
        <p:nvSpPr>
          <p:cNvPr id="65" name="Text 61"/>
          <p:cNvSpPr/>
          <p:nvPr/>
        </p:nvSpPr>
        <p:spPr>
          <a:xfrm>
            <a:off x="4455616" y="54355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</a:t>
            </a:r>
            <a:endParaRPr lang="ar-EG" sz="1200" dirty="0"/>
          </a:p>
        </p:txBody>
      </p:sp>
      <p:sp>
        <p:nvSpPr>
          <p:cNvPr id="66" name="Text 62"/>
          <p:cNvSpPr/>
          <p:nvPr/>
        </p:nvSpPr>
        <p:spPr>
          <a:xfrm>
            <a:off x="7757160" y="5446316"/>
            <a:ext cx="313944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مستوى المعنوية:</a:t>
            </a:r>
            <a:endParaRPr lang="ar-EG" sz="1400" dirty="0"/>
          </a:p>
        </p:txBody>
      </p:sp>
      <p:sp>
        <p:nvSpPr>
          <p:cNvPr id="67" name="Text 63"/>
          <p:cNvSpPr/>
          <p:nvPr/>
        </p:nvSpPr>
        <p:spPr>
          <a:xfrm>
            <a:off x="11049000" y="541010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300" dirty="0"/>
          </a:p>
        </p:txBody>
      </p:sp>
      <p:sp>
        <p:nvSpPr>
          <p:cNvPr id="68" name="Text 64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24</a:t>
            </a:r>
            <a:endParaRPr lang="en-US" sz="1200" dirty="0"/>
          </a:p>
        </p:txBody>
      </p:sp>
      <p:sp>
        <p:nvSpPr>
          <p:cNvPr id="69" name="Text 65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  <p:sp>
        <p:nvSpPr>
          <p:cNvPr id="70" name="Answer 70"/>
          <p:cNvSpPr/>
          <p:nvPr/>
        </p:nvSpPr>
        <p:spPr>
          <a:xfrm>
            <a:off x="777875" y="3781326"/>
            <a:ext cx="1561108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71" name="Answer 71"/>
          <p:cNvSpPr/>
          <p:nvPr/>
        </p:nvSpPr>
        <p:spPr>
          <a:xfrm>
            <a:off x="1635522" y="4302026"/>
            <a:ext cx="988219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72" name="Answer 72"/>
          <p:cNvSpPr/>
          <p:nvPr/>
        </p:nvSpPr>
        <p:spPr>
          <a:xfrm>
            <a:off x="2730103" y="4822726"/>
            <a:ext cx="1049238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73" name="Answer 73"/>
          <p:cNvSpPr/>
          <p:nvPr/>
        </p:nvSpPr>
        <p:spPr>
          <a:xfrm>
            <a:off x="1810048" y="5343426"/>
            <a:ext cx="901005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71" grpId="0" animBg="1"/>
      <p:bldP spid="72" grpId="0" animBg="1"/>
      <p:bldP spid="7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 2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أجب من المخرجات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047180"/>
            <a:ext cx="4185920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Statistics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31130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4013200" y="0"/>
                </a:moveTo>
                <a:lnTo>
                  <a:pt x="4013200" y="0"/>
                </a:lnTo>
                <a:arcTo hR="50800" wR="50800" stAng="16200000" swAng="5400000"/>
                <a:lnTo>
                  <a:pt x="4064000" y="768350"/>
                </a:lnTo>
                <a:arcTo hR="50800" wR="50800" stAng="0" swAng="5400000"/>
                <a:lnTo>
                  <a:pt x="50800" y="819150"/>
                </a:lnTo>
                <a:arcTo hR="50800" wR="50800" stAng="5400000" swAng="5400000"/>
                <a:lnTo>
                  <a:pt x="0" y="768350"/>
                </a:lnTo>
                <a:arcTo hR="44450" wR="50800" stAng="10800000" swAng="-5400000"/>
                <a:lnTo>
                  <a:pt x="4013200" y="812800"/>
                </a:lnTo>
                <a:arcTo hR="44450" wR="44450" stAng="5400000" swAng="-5400000"/>
                <a:lnTo>
                  <a:pt x="4057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231130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50800" y="819150"/>
                </a:moveTo>
                <a:lnTo>
                  <a:pt x="50800" y="8191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013200" y="0"/>
                </a:lnTo>
                <a:arcTo hR="50800" wR="50800" stAng="16200000" swAng="5400000"/>
                <a:lnTo>
                  <a:pt x="4064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683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324001"/>
          <a:ext cx="4044950" cy="800100"/>
        </p:xfrm>
        <a:graphic>
          <a:graphicData uri="http://schemas.openxmlformats.org/drawingml/2006/table">
            <a:tbl>
              <a:tblPr/>
              <a:tblGrid>
                <a:gridCol w="889889"/>
                <a:gridCol w="404495"/>
                <a:gridCol w="808990"/>
                <a:gridCol w="970788"/>
                <a:gridCol w="970788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wage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407.80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161.560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51.090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80000" y="1856680"/>
            <a:ext cx="6488176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Test </a:t>
            </a:r>
            <a:r>
              <a:rPr lang="en-US" sz="1200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Test Value = 300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080000" y="2120801"/>
            <a:ext cx="6299200" cy="1009650"/>
          </a:xfrm>
          <a:custGeom>
            <a:avLst/>
            <a:gdLst/>
            <a:ahLst/>
            <a:cxnLst/>
            <a:rect l="l" t="t" r="r" b="b"/>
            <a:pathLst>
              <a:path w="6299200" h="1009650">
                <a:moveTo>
                  <a:pt x="6248400" y="0"/>
                </a:moveTo>
                <a:lnTo>
                  <a:pt x="6248400" y="0"/>
                </a:lnTo>
                <a:arcTo hR="50800" wR="50800" stAng="16200000" swAng="5400000"/>
                <a:lnTo>
                  <a:pt x="6299200" y="958850"/>
                </a:lnTo>
                <a:arcTo hR="50800" wR="50800" stAng="0" swAng="5400000"/>
                <a:lnTo>
                  <a:pt x="50800" y="1009650"/>
                </a:lnTo>
                <a:arcTo hR="50800" wR="50800" stAng="5400000" swAng="5400000"/>
                <a:lnTo>
                  <a:pt x="0" y="958850"/>
                </a:lnTo>
                <a:arcTo hR="44450" wR="50800" stAng="10800000" swAng="-5400000"/>
                <a:lnTo>
                  <a:pt x="6248400" y="1003300"/>
                </a:lnTo>
                <a:arcTo hR="44450" wR="44450" stAng="5400000" swAng="-5400000"/>
                <a:lnTo>
                  <a:pt x="62928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7"/>
          <p:cNvSpPr/>
          <p:nvPr/>
        </p:nvSpPr>
        <p:spPr>
          <a:xfrm>
            <a:off x="5080000" y="2120801"/>
            <a:ext cx="6299200" cy="1009650"/>
          </a:xfrm>
          <a:custGeom>
            <a:avLst/>
            <a:gdLst/>
            <a:ahLst/>
            <a:cxnLst/>
            <a:rect l="l" t="t" r="r" b="b"/>
            <a:pathLst>
              <a:path w="6299200" h="1009650">
                <a:moveTo>
                  <a:pt x="50800" y="1009650"/>
                </a:moveTo>
                <a:lnTo>
                  <a:pt x="50800" y="10096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6248400" y="0"/>
                </a:lnTo>
                <a:arcTo hR="50800" wR="50800" stAng="16200000" swAng="5400000"/>
                <a:lnTo>
                  <a:pt x="62992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9588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2700" y="2133501"/>
          <a:ext cx="6280150" cy="990600"/>
        </p:xfrm>
        <a:graphic>
          <a:graphicData uri="http://schemas.openxmlformats.org/drawingml/2006/table">
            <a:tbl>
              <a:tblPr/>
              <a:tblGrid>
                <a:gridCol w="1057055"/>
                <a:gridCol w="621797"/>
                <a:gridCol w="497438"/>
                <a:gridCol w="1057055"/>
                <a:gridCol w="1057055"/>
                <a:gridCol w="994875"/>
                <a:gridCol w="994875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 Difference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99% CI Lower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99% CI Upper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wage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2.110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.064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107.800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-58.23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273.83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815975" y="3336826"/>
            <a:ext cx="936923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20750" y="3414911"/>
            <a:ext cx="409873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10%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419523" y="33908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</a:t>
            </a:r>
            <a:endParaRPr lang="ar-EG" sz="1200" dirty="0"/>
          </a:p>
        </p:txBody>
      </p:sp>
      <p:sp>
        <p:nvSpPr>
          <p:cNvPr id="15" name="Shape 11"/>
          <p:cNvSpPr/>
          <p:nvPr/>
        </p:nvSpPr>
        <p:spPr>
          <a:xfrm>
            <a:off x="1848148" y="3336826"/>
            <a:ext cx="76239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952923" y="3414911"/>
            <a:ext cx="235347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2277170" y="33908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</a:t>
            </a:r>
            <a:endParaRPr lang="ar-EG" sz="1200" dirty="0"/>
          </a:p>
        </p:txBody>
      </p:sp>
      <p:sp>
        <p:nvSpPr>
          <p:cNvPr id="18" name="Shape 14"/>
          <p:cNvSpPr/>
          <p:nvPr/>
        </p:nvSpPr>
        <p:spPr>
          <a:xfrm>
            <a:off x="2705795" y="3336826"/>
            <a:ext cx="688181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810570" y="3414911"/>
            <a:ext cx="161131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060601" y="33908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</a:t>
            </a:r>
            <a:endParaRPr lang="ar-EG" sz="1200" dirty="0"/>
          </a:p>
        </p:txBody>
      </p:sp>
      <p:sp>
        <p:nvSpPr>
          <p:cNvPr id="21" name="Shape 17"/>
          <p:cNvSpPr/>
          <p:nvPr/>
        </p:nvSpPr>
        <p:spPr>
          <a:xfrm>
            <a:off x="3489226" y="3336826"/>
            <a:ext cx="912019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594001" y="3414911"/>
            <a:ext cx="384969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300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4067870" y="33908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</a:t>
            </a:r>
            <a:endParaRPr lang="ar-EG" sz="1200" dirty="0"/>
          </a:p>
        </p:txBody>
      </p:sp>
      <p:sp>
        <p:nvSpPr>
          <p:cNvPr id="24" name="Text 20"/>
          <p:cNvSpPr/>
          <p:nvPr/>
        </p:nvSpPr>
        <p:spPr>
          <a:xfrm>
            <a:off x="6972300" y="3401616"/>
            <a:ext cx="39243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حجم العينة المستخدم:</a:t>
            </a:r>
            <a:endParaRPr lang="ar-EG" sz="1400" dirty="0"/>
          </a:p>
        </p:txBody>
      </p:sp>
      <p:sp>
        <p:nvSpPr>
          <p:cNvPr id="25" name="Text 21"/>
          <p:cNvSpPr/>
          <p:nvPr/>
        </p:nvSpPr>
        <p:spPr>
          <a:xfrm>
            <a:off x="11049000" y="336540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815975" y="3857526"/>
            <a:ext cx="962124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20750" y="3935611"/>
            <a:ext cx="435074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أصغر</a:t>
            </a:r>
            <a:endParaRPr lang="ar-EG" sz="1400" dirty="0"/>
          </a:p>
        </p:txBody>
      </p:sp>
      <p:sp>
        <p:nvSpPr>
          <p:cNvPr id="28" name="Text 24"/>
          <p:cNvSpPr/>
          <p:nvPr/>
        </p:nvSpPr>
        <p:spPr>
          <a:xfrm>
            <a:off x="1444724" y="39115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</a:t>
            </a:r>
            <a:endParaRPr lang="ar-EG" sz="1200" dirty="0"/>
          </a:p>
        </p:txBody>
      </p:sp>
      <p:sp>
        <p:nvSpPr>
          <p:cNvPr id="29" name="Shape 25"/>
          <p:cNvSpPr/>
          <p:nvPr/>
        </p:nvSpPr>
        <p:spPr>
          <a:xfrm>
            <a:off x="1873349" y="3857526"/>
            <a:ext cx="863699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1978124" y="3935611"/>
            <a:ext cx="336649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أكبر</a:t>
            </a:r>
            <a:endParaRPr lang="ar-EG" sz="1400" dirty="0"/>
          </a:p>
        </p:txBody>
      </p:sp>
      <p:sp>
        <p:nvSpPr>
          <p:cNvPr id="31" name="Text 27"/>
          <p:cNvSpPr/>
          <p:nvPr/>
        </p:nvSpPr>
        <p:spPr>
          <a:xfrm>
            <a:off x="2403673" y="39115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</a:t>
            </a:r>
            <a:endParaRPr lang="ar-EG" sz="1200" dirty="0"/>
          </a:p>
        </p:txBody>
      </p:sp>
      <p:sp>
        <p:nvSpPr>
          <p:cNvPr id="32" name="Text 28"/>
          <p:cNvSpPr/>
          <p:nvPr/>
        </p:nvSpPr>
        <p:spPr>
          <a:xfrm>
            <a:off x="6972300" y="3922316"/>
            <a:ext cx="39243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عند مقارنة ‎Sig مع مستوى المعنوية، تكون ‎Sig:</a:t>
            </a:r>
            <a:endParaRPr lang="ar-EG" sz="1400" dirty="0"/>
          </a:p>
        </p:txBody>
      </p:sp>
      <p:sp>
        <p:nvSpPr>
          <p:cNvPr id="33" name="Text 29"/>
          <p:cNvSpPr/>
          <p:nvPr/>
        </p:nvSpPr>
        <p:spPr>
          <a:xfrm>
            <a:off x="11049000" y="388610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815975" y="4378226"/>
            <a:ext cx="3079552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96499" y="4456311"/>
            <a:ext cx="2576753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656"/>
              </a:lnSpc>
              <a:buNone/>
            </a:pPr>
            <a:r>
              <a:rPr lang="ar-EG" sz="125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رفض الفرض العدمي وقبول البديل</a:t>
            </a:r>
            <a:endParaRPr lang="ar-EG" sz="1250" dirty="0"/>
          </a:p>
        </p:txBody>
      </p:sp>
      <p:sp>
        <p:nvSpPr>
          <p:cNvPr id="36" name="Text 32"/>
          <p:cNvSpPr/>
          <p:nvPr/>
        </p:nvSpPr>
        <p:spPr>
          <a:xfrm>
            <a:off x="3562152" y="44322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</a:t>
            </a:r>
            <a:endParaRPr lang="ar-EG" sz="1200" dirty="0"/>
          </a:p>
        </p:txBody>
      </p:sp>
      <p:sp>
        <p:nvSpPr>
          <p:cNvPr id="37" name="Shape 33"/>
          <p:cNvSpPr/>
          <p:nvPr/>
        </p:nvSpPr>
        <p:spPr>
          <a:xfrm>
            <a:off x="815975" y="4860826"/>
            <a:ext cx="3079552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896499" y="4938911"/>
            <a:ext cx="2576753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656"/>
              </a:lnSpc>
              <a:buNone/>
            </a:pPr>
            <a:r>
              <a:rPr lang="ar-EG" sz="125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قبول الفرض العدمي ورفض البديل</a:t>
            </a:r>
            <a:endParaRPr lang="ar-EG" sz="1250" dirty="0"/>
          </a:p>
        </p:txBody>
      </p:sp>
      <p:sp>
        <p:nvSpPr>
          <p:cNvPr id="39" name="Text 35"/>
          <p:cNvSpPr/>
          <p:nvPr/>
        </p:nvSpPr>
        <p:spPr>
          <a:xfrm>
            <a:off x="3562152" y="49148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</a:t>
            </a:r>
            <a:endParaRPr lang="ar-EG" sz="1200" dirty="0"/>
          </a:p>
        </p:txBody>
      </p:sp>
      <p:sp>
        <p:nvSpPr>
          <p:cNvPr id="40" name="Text 36"/>
          <p:cNvSpPr/>
          <p:nvPr/>
        </p:nvSpPr>
        <p:spPr>
          <a:xfrm>
            <a:off x="6972300" y="4684316"/>
            <a:ext cx="39243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في هذا الاختبار يتم:</a:t>
            </a:r>
            <a:endParaRPr lang="ar-EG" sz="1400" dirty="0"/>
          </a:p>
        </p:txBody>
      </p:sp>
      <p:sp>
        <p:nvSpPr>
          <p:cNvPr id="41" name="Text 37"/>
          <p:cNvSpPr/>
          <p:nvPr/>
        </p:nvSpPr>
        <p:spPr>
          <a:xfrm>
            <a:off x="11049000" y="464810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25</a:t>
            </a:r>
            <a:endParaRPr lang="en-US" sz="1200" dirty="0"/>
          </a:p>
        </p:txBody>
      </p:sp>
      <p:sp>
        <p:nvSpPr>
          <p:cNvPr id="43" name="Text 39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  <p:sp>
        <p:nvSpPr>
          <p:cNvPr id="44" name="Answer 44"/>
          <p:cNvSpPr/>
          <p:nvPr/>
        </p:nvSpPr>
        <p:spPr>
          <a:xfrm>
            <a:off x="1810048" y="3298726"/>
            <a:ext cx="838597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45" name="Answer 45"/>
          <p:cNvSpPr/>
          <p:nvPr/>
        </p:nvSpPr>
        <p:spPr>
          <a:xfrm>
            <a:off x="1835249" y="3819426"/>
            <a:ext cx="939899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46" name="Answer 46"/>
          <p:cNvSpPr/>
          <p:nvPr/>
        </p:nvSpPr>
        <p:spPr>
          <a:xfrm>
            <a:off x="777875" y="4822726"/>
            <a:ext cx="3155752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 animBg="1"/>
      <p:bldP spid="4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262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22"/>
              </a:lnSpc>
              <a:buNone/>
            </a:pPr>
            <a:r>
              <a:rPr lang="ar-EG" sz="1159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 4</a:t>
            </a:r>
            <a:endParaRPr lang="ar-EG" sz="1159" dirty="0"/>
          </a:p>
        </p:txBody>
      </p:sp>
      <p:sp>
        <p:nvSpPr>
          <p:cNvPr id="3" name="Text 1"/>
          <p:cNvSpPr/>
          <p:nvPr/>
        </p:nvSpPr>
        <p:spPr>
          <a:xfrm>
            <a:off x="495808" y="1115219"/>
            <a:ext cx="10883392" cy="520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3920"/>
              </a:lnSpc>
              <a:buNone/>
            </a:pPr>
            <a:r>
              <a:rPr lang="ar-EG" sz="3409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أجب من المخرجات</a:t>
            </a:r>
            <a:endParaRPr lang="ar-EG" sz="3409" dirty="0"/>
          </a:p>
        </p:txBody>
      </p:sp>
      <p:sp>
        <p:nvSpPr>
          <p:cNvPr id="4" name="Text 2"/>
          <p:cNvSpPr/>
          <p:nvPr/>
        </p:nvSpPr>
        <p:spPr>
          <a:xfrm>
            <a:off x="6553200" y="1813322"/>
            <a:ext cx="4970780" cy="2265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22"/>
              </a:lnSpc>
              <a:buNone/>
            </a:pPr>
            <a:r>
              <a:rPr lang="en-US" sz="1159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Statistics</a:t>
            </a:r>
            <a:endParaRPr lang="en-US" sz="1159" dirty="0"/>
          </a:p>
        </p:txBody>
      </p:sp>
      <p:sp>
        <p:nvSpPr>
          <p:cNvPr id="5" name="Shape 3"/>
          <p:cNvSpPr/>
          <p:nvPr/>
        </p:nvSpPr>
        <p:spPr>
          <a:xfrm>
            <a:off x="6553200" y="2065238"/>
            <a:ext cx="4826000" cy="1060946"/>
          </a:xfrm>
          <a:custGeom>
            <a:avLst/>
            <a:gdLst/>
            <a:ahLst/>
            <a:cxnLst/>
            <a:rect l="l" t="t" r="r" b="b"/>
            <a:pathLst>
              <a:path w="4826000" h="1060946">
                <a:moveTo>
                  <a:pt x="4775200" y="0"/>
                </a:moveTo>
                <a:lnTo>
                  <a:pt x="4775200" y="0"/>
                </a:lnTo>
                <a:arcTo hR="50800" wR="50800" stAng="16200000" swAng="5400000"/>
                <a:lnTo>
                  <a:pt x="4826000" y="1010146"/>
                </a:lnTo>
                <a:arcTo hR="50800" wR="50800" stAng="0" swAng="5400000"/>
                <a:lnTo>
                  <a:pt x="50800" y="1060946"/>
                </a:lnTo>
                <a:arcTo hR="50800" wR="50800" stAng="5400000" swAng="5400000"/>
                <a:lnTo>
                  <a:pt x="0" y="1010146"/>
                </a:lnTo>
                <a:arcTo hR="44450" wR="50800" stAng="10800000" swAng="-5400000"/>
                <a:lnTo>
                  <a:pt x="4775200" y="1054596"/>
                </a:lnTo>
                <a:arcTo hR="44450" wR="44450" stAng="5400000" swAng="-5400000"/>
                <a:lnTo>
                  <a:pt x="4819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6" name="Shape 4"/>
          <p:cNvSpPr/>
          <p:nvPr/>
        </p:nvSpPr>
        <p:spPr>
          <a:xfrm>
            <a:off x="6553200" y="2065238"/>
            <a:ext cx="4826000" cy="1060946"/>
          </a:xfrm>
          <a:custGeom>
            <a:avLst/>
            <a:gdLst/>
            <a:ahLst/>
            <a:cxnLst/>
            <a:rect l="l" t="t" r="r" b="b"/>
            <a:pathLst>
              <a:path w="4826000" h="1060946">
                <a:moveTo>
                  <a:pt x="50800" y="1060946"/>
                </a:moveTo>
                <a:lnTo>
                  <a:pt x="50800" y="1060946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775200" y="0"/>
                </a:lnTo>
                <a:arcTo hR="50800" wR="50800" stAng="16200000" swAng="5400000"/>
                <a:lnTo>
                  <a:pt x="4826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1010146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65900" y="2077938"/>
          <a:ext cx="4806950" cy="1041896"/>
        </p:xfrm>
        <a:graphic>
          <a:graphicData uri="http://schemas.openxmlformats.org/drawingml/2006/table">
            <a:tbl>
              <a:tblPr/>
              <a:tblGrid>
                <a:gridCol w="1345946"/>
                <a:gridCol w="672973"/>
                <a:gridCol w="480695"/>
                <a:gridCol w="1153668"/>
                <a:gridCol w="1153668"/>
              </a:tblGrid>
              <a:tr h="463451">
                <a:tc>
                  <a:txBody>
                    <a:bodyPr/>
                    <a:lstStyle/>
                    <a:p>
                      <a:pPr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89223">
                <a:tc>
                  <a:txBody>
                    <a:bodyPr/>
                    <a:lstStyle/>
                    <a:p>
                      <a:pPr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before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15.67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5.538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2.261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289223">
                <a:tc>
                  <a:txBody>
                    <a:bodyPr/>
                    <a:lstStyle/>
                    <a:p>
                      <a:pPr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after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19.83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3.817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1.558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12800" y="3253184"/>
            <a:ext cx="10883392" cy="2263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22"/>
              </a:lnSpc>
              <a:buNone/>
            </a:pPr>
            <a:r>
              <a:rPr lang="en-US" sz="1159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Test </a:t>
            </a:r>
            <a:r>
              <a:rPr lang="en-US" sz="1159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Paired Differences</a:t>
            </a:r>
            <a:endParaRPr lang="en-US" sz="1159" dirty="0"/>
          </a:p>
        </p:txBody>
      </p:sp>
      <p:sp>
        <p:nvSpPr>
          <p:cNvPr id="9" name="Shape 6"/>
          <p:cNvSpPr/>
          <p:nvPr/>
        </p:nvSpPr>
        <p:spPr>
          <a:xfrm>
            <a:off x="812800" y="3504902"/>
            <a:ext cx="10566400" cy="772815"/>
          </a:xfrm>
          <a:custGeom>
            <a:avLst/>
            <a:gdLst/>
            <a:ahLst/>
            <a:cxnLst/>
            <a:rect l="l" t="t" r="r" b="b"/>
            <a:pathLst>
              <a:path w="10566400" h="772815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722015"/>
                </a:lnTo>
                <a:arcTo hR="50800" wR="50800" stAng="0" swAng="5400000"/>
                <a:lnTo>
                  <a:pt x="50800" y="772815"/>
                </a:lnTo>
                <a:arcTo hR="50800" wR="50800" stAng="5400000" swAng="5400000"/>
                <a:lnTo>
                  <a:pt x="0" y="722015"/>
                </a:lnTo>
                <a:arcTo hR="44450" wR="50800" stAng="10800000" swAng="-5400000"/>
                <a:lnTo>
                  <a:pt x="10515600" y="766465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7"/>
          <p:cNvSpPr/>
          <p:nvPr/>
        </p:nvSpPr>
        <p:spPr>
          <a:xfrm>
            <a:off x="812800" y="3504902"/>
            <a:ext cx="10566400" cy="772815"/>
          </a:xfrm>
          <a:custGeom>
            <a:avLst/>
            <a:gdLst/>
            <a:ahLst/>
            <a:cxnLst/>
            <a:rect l="l" t="t" r="r" b="b"/>
            <a:pathLst>
              <a:path w="10566400" h="772815">
                <a:moveTo>
                  <a:pt x="50800" y="772815"/>
                </a:moveTo>
                <a:lnTo>
                  <a:pt x="50800" y="772815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22015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3517602"/>
          <a:ext cx="10547350" cy="753765"/>
        </p:xfrm>
        <a:graphic>
          <a:graphicData uri="http://schemas.openxmlformats.org/drawingml/2006/table">
            <a:tbl>
              <a:tblPr/>
              <a:tblGrid>
                <a:gridCol w="1793050"/>
                <a:gridCol w="949262"/>
                <a:gridCol w="1265682"/>
                <a:gridCol w="1160208"/>
                <a:gridCol w="1160208"/>
                <a:gridCol w="1160208"/>
                <a:gridCol w="949262"/>
                <a:gridCol w="632841"/>
                <a:gridCol w="1476629"/>
              </a:tblGrid>
              <a:tr h="463252">
                <a:tc>
                  <a:txBody>
                    <a:bodyPr/>
                    <a:lstStyle/>
                    <a:p>
                      <a:pPr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Lower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Upper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90513">
                <a:tc>
                  <a:txBody>
                    <a:bodyPr/>
                    <a:lstStyle/>
                    <a:p>
                      <a:pPr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before - after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-4.167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2.639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1.078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-6.937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-1.397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-3.867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.012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815975" y="4471789"/>
            <a:ext cx="106332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20750" y="4549874"/>
            <a:ext cx="536277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2.693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545927" y="452576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</a:t>
            </a:r>
            <a:endParaRPr lang="ar-EG" sz="1200" dirty="0"/>
          </a:p>
        </p:txBody>
      </p:sp>
      <p:sp>
        <p:nvSpPr>
          <p:cNvPr id="15" name="Shape 11"/>
          <p:cNvSpPr/>
          <p:nvPr/>
        </p:nvSpPr>
        <p:spPr>
          <a:xfrm>
            <a:off x="1974552" y="4471789"/>
            <a:ext cx="688181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079327" y="4549874"/>
            <a:ext cx="161131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2329359" y="4525764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</a:t>
            </a:r>
            <a:endParaRPr lang="ar-EG" sz="1200" dirty="0"/>
          </a:p>
        </p:txBody>
      </p:sp>
      <p:sp>
        <p:nvSpPr>
          <p:cNvPr id="18" name="Shape 14"/>
          <p:cNvSpPr/>
          <p:nvPr/>
        </p:nvSpPr>
        <p:spPr>
          <a:xfrm>
            <a:off x="2757984" y="4471789"/>
            <a:ext cx="860524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862759" y="4549874"/>
            <a:ext cx="333474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5%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285133" y="4525764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</a:t>
            </a:r>
            <a:endParaRPr lang="ar-EG" sz="1200" dirty="0"/>
          </a:p>
        </p:txBody>
      </p:sp>
      <p:sp>
        <p:nvSpPr>
          <p:cNvPr id="21" name="Shape 17"/>
          <p:cNvSpPr/>
          <p:nvPr/>
        </p:nvSpPr>
        <p:spPr>
          <a:xfrm>
            <a:off x="3713758" y="4471789"/>
            <a:ext cx="970855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818533" y="4549874"/>
            <a:ext cx="443805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95%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4351238" y="452576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</a:t>
            </a:r>
            <a:endParaRPr lang="ar-EG" sz="1200" dirty="0"/>
          </a:p>
        </p:txBody>
      </p:sp>
      <p:sp>
        <p:nvSpPr>
          <p:cNvPr id="24" name="Text 20"/>
          <p:cNvSpPr/>
          <p:nvPr/>
        </p:nvSpPr>
        <p:spPr>
          <a:xfrm>
            <a:off x="7757160" y="4536579"/>
            <a:ext cx="313944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مستوى الثقة يساوي:</a:t>
            </a:r>
            <a:endParaRPr lang="ar-EG" sz="1400" dirty="0"/>
          </a:p>
        </p:txBody>
      </p:sp>
      <p:sp>
        <p:nvSpPr>
          <p:cNvPr id="25" name="Text 21"/>
          <p:cNvSpPr/>
          <p:nvPr/>
        </p:nvSpPr>
        <p:spPr>
          <a:xfrm>
            <a:off x="11049000" y="4500364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815975" y="4967883"/>
            <a:ext cx="106332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20750" y="5045968"/>
            <a:ext cx="536277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2.693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1545927" y="5021858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</a:t>
            </a:r>
            <a:endParaRPr lang="ar-EG" sz="1200" dirty="0"/>
          </a:p>
        </p:txBody>
      </p:sp>
      <p:sp>
        <p:nvSpPr>
          <p:cNvPr id="29" name="Shape 25"/>
          <p:cNvSpPr/>
          <p:nvPr/>
        </p:nvSpPr>
        <p:spPr>
          <a:xfrm>
            <a:off x="1974552" y="4967883"/>
            <a:ext cx="688181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2079327" y="5045968"/>
            <a:ext cx="161131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7"/>
          <p:cNvSpPr/>
          <p:nvPr/>
        </p:nvSpPr>
        <p:spPr>
          <a:xfrm>
            <a:off x="2329359" y="5021858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</a:t>
            </a:r>
            <a:endParaRPr lang="ar-EG" sz="1200" dirty="0"/>
          </a:p>
        </p:txBody>
      </p:sp>
      <p:sp>
        <p:nvSpPr>
          <p:cNvPr id="32" name="Shape 28"/>
          <p:cNvSpPr/>
          <p:nvPr/>
        </p:nvSpPr>
        <p:spPr>
          <a:xfrm>
            <a:off x="2757984" y="4967883"/>
            <a:ext cx="860524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2862759" y="5045968"/>
            <a:ext cx="333474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5%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3285133" y="5021858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</a:t>
            </a:r>
            <a:endParaRPr lang="ar-EG" sz="1200" dirty="0"/>
          </a:p>
        </p:txBody>
      </p:sp>
      <p:sp>
        <p:nvSpPr>
          <p:cNvPr id="35" name="Shape 31"/>
          <p:cNvSpPr/>
          <p:nvPr/>
        </p:nvSpPr>
        <p:spPr>
          <a:xfrm>
            <a:off x="3713758" y="4967883"/>
            <a:ext cx="970855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3818533" y="5045968"/>
            <a:ext cx="443805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95%</a:t>
            </a:r>
            <a:endParaRPr lang="en-US" sz="1400" dirty="0"/>
          </a:p>
        </p:txBody>
      </p:sp>
      <p:sp>
        <p:nvSpPr>
          <p:cNvPr id="37" name="Text 33"/>
          <p:cNvSpPr/>
          <p:nvPr/>
        </p:nvSpPr>
        <p:spPr>
          <a:xfrm>
            <a:off x="4351238" y="5021858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</a:t>
            </a:r>
            <a:endParaRPr lang="ar-EG" sz="1200" dirty="0"/>
          </a:p>
        </p:txBody>
      </p:sp>
      <p:sp>
        <p:nvSpPr>
          <p:cNvPr id="38" name="Text 34"/>
          <p:cNvSpPr/>
          <p:nvPr/>
        </p:nvSpPr>
        <p:spPr>
          <a:xfrm>
            <a:off x="7757160" y="5032573"/>
            <a:ext cx="313944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مستوى المعنوية يساوي:</a:t>
            </a:r>
            <a:endParaRPr lang="ar-EG" sz="1400" dirty="0"/>
          </a:p>
        </p:txBody>
      </p:sp>
      <p:sp>
        <p:nvSpPr>
          <p:cNvPr id="39" name="Text 35"/>
          <p:cNvSpPr/>
          <p:nvPr/>
        </p:nvSpPr>
        <p:spPr>
          <a:xfrm>
            <a:off x="11049000" y="4996359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815975" y="5463877"/>
            <a:ext cx="106332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920750" y="5541963"/>
            <a:ext cx="536277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2.693</a:t>
            </a:r>
            <a:endParaRPr lang="en-US" sz="1400" dirty="0"/>
          </a:p>
        </p:txBody>
      </p:sp>
      <p:sp>
        <p:nvSpPr>
          <p:cNvPr id="42" name="Text 38"/>
          <p:cNvSpPr/>
          <p:nvPr/>
        </p:nvSpPr>
        <p:spPr>
          <a:xfrm>
            <a:off x="1545927" y="551785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</a:t>
            </a:r>
            <a:endParaRPr lang="ar-EG" sz="1200" dirty="0"/>
          </a:p>
        </p:txBody>
      </p:sp>
      <p:sp>
        <p:nvSpPr>
          <p:cNvPr id="43" name="Shape 39"/>
          <p:cNvSpPr/>
          <p:nvPr/>
        </p:nvSpPr>
        <p:spPr>
          <a:xfrm>
            <a:off x="1974552" y="5463877"/>
            <a:ext cx="1025128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2079327" y="5541963"/>
            <a:ext cx="498078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0.012</a:t>
            </a:r>
            <a:endParaRPr lang="en-US" sz="1400" dirty="0"/>
          </a:p>
        </p:txBody>
      </p:sp>
      <p:sp>
        <p:nvSpPr>
          <p:cNvPr id="45" name="Text 41"/>
          <p:cNvSpPr/>
          <p:nvPr/>
        </p:nvSpPr>
        <p:spPr>
          <a:xfrm>
            <a:off x="2666305" y="5517852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</a:t>
            </a:r>
            <a:endParaRPr lang="ar-EG" sz="1200" dirty="0"/>
          </a:p>
        </p:txBody>
      </p:sp>
      <p:sp>
        <p:nvSpPr>
          <p:cNvPr id="46" name="Shape 42"/>
          <p:cNvSpPr/>
          <p:nvPr/>
        </p:nvSpPr>
        <p:spPr>
          <a:xfrm>
            <a:off x="3094930" y="5463877"/>
            <a:ext cx="860524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3199705" y="5541963"/>
            <a:ext cx="333474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5%</a:t>
            </a:r>
            <a:endParaRPr lang="en-US" sz="1400" dirty="0"/>
          </a:p>
        </p:txBody>
      </p:sp>
      <p:sp>
        <p:nvSpPr>
          <p:cNvPr id="48" name="Text 44"/>
          <p:cNvSpPr/>
          <p:nvPr/>
        </p:nvSpPr>
        <p:spPr>
          <a:xfrm>
            <a:off x="3622080" y="5517852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</a:t>
            </a:r>
            <a:endParaRPr lang="ar-EG" sz="1200" dirty="0"/>
          </a:p>
        </p:txBody>
      </p:sp>
      <p:sp>
        <p:nvSpPr>
          <p:cNvPr id="49" name="Shape 45"/>
          <p:cNvSpPr/>
          <p:nvPr/>
        </p:nvSpPr>
        <p:spPr>
          <a:xfrm>
            <a:off x="4050705" y="5463877"/>
            <a:ext cx="970855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4155480" y="5541963"/>
            <a:ext cx="443805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95%</a:t>
            </a:r>
            <a:endParaRPr lang="en-US" sz="1400" dirty="0"/>
          </a:p>
        </p:txBody>
      </p:sp>
      <p:sp>
        <p:nvSpPr>
          <p:cNvPr id="51" name="Text 47"/>
          <p:cNvSpPr/>
          <p:nvPr/>
        </p:nvSpPr>
        <p:spPr>
          <a:xfrm>
            <a:off x="4688185" y="551785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</a:t>
            </a:r>
            <a:endParaRPr lang="ar-EG" sz="1200" dirty="0"/>
          </a:p>
        </p:txBody>
      </p:sp>
      <p:sp>
        <p:nvSpPr>
          <p:cNvPr id="52" name="Text 48"/>
          <p:cNvSpPr/>
          <p:nvPr/>
        </p:nvSpPr>
        <p:spPr>
          <a:xfrm>
            <a:off x="7757160" y="5528568"/>
            <a:ext cx="313944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قيمة ‎Sig لهذا الاختبار:</a:t>
            </a:r>
            <a:endParaRPr lang="ar-EG" sz="1400" dirty="0"/>
          </a:p>
        </p:txBody>
      </p:sp>
      <p:sp>
        <p:nvSpPr>
          <p:cNvPr id="53" name="Text 49"/>
          <p:cNvSpPr/>
          <p:nvPr/>
        </p:nvSpPr>
        <p:spPr>
          <a:xfrm>
            <a:off x="11049000" y="5492353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 dirty="0"/>
          </a:p>
        </p:txBody>
      </p:sp>
      <p:sp>
        <p:nvSpPr>
          <p:cNvPr id="54" name="Text 50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26</a:t>
            </a:r>
            <a:endParaRPr lang="en-US" sz="1200" dirty="0"/>
          </a:p>
        </p:txBody>
      </p:sp>
      <p:sp>
        <p:nvSpPr>
          <p:cNvPr id="55" name="Text 51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  <p:sp>
        <p:nvSpPr>
          <p:cNvPr id="56" name="Answer 56"/>
          <p:cNvSpPr/>
          <p:nvPr/>
        </p:nvSpPr>
        <p:spPr>
          <a:xfrm>
            <a:off x="3675658" y="4433689"/>
            <a:ext cx="1047055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57" name="Answer 57"/>
          <p:cNvSpPr/>
          <p:nvPr/>
        </p:nvSpPr>
        <p:spPr>
          <a:xfrm>
            <a:off x="2719884" y="4929783"/>
            <a:ext cx="936724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58" name="Answer 58"/>
          <p:cNvSpPr/>
          <p:nvPr/>
        </p:nvSpPr>
        <p:spPr>
          <a:xfrm>
            <a:off x="1936452" y="5425777"/>
            <a:ext cx="1101328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57" grpId="0" animBg="1"/>
      <p:bldP spid="5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28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22"/>
              </a:lnSpc>
              <a:buNone/>
            </a:pPr>
            <a:r>
              <a:rPr lang="ar-EG" sz="1159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 4</a:t>
            </a:r>
            <a:endParaRPr lang="ar-EG" sz="1159" dirty="0"/>
          </a:p>
        </p:txBody>
      </p:sp>
      <p:sp>
        <p:nvSpPr>
          <p:cNvPr id="3" name="Text 1"/>
          <p:cNvSpPr/>
          <p:nvPr/>
        </p:nvSpPr>
        <p:spPr>
          <a:xfrm>
            <a:off x="495808" y="1117005"/>
            <a:ext cx="10883392" cy="524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3972"/>
              </a:lnSpc>
              <a:buNone/>
            </a:pPr>
            <a:r>
              <a:rPr lang="ar-EG" sz="3454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أجب من المخرجات</a:t>
            </a:r>
            <a:endParaRPr lang="ar-EG" sz="3454" dirty="0"/>
          </a:p>
        </p:txBody>
      </p:sp>
      <p:sp>
        <p:nvSpPr>
          <p:cNvPr id="4" name="Text 2"/>
          <p:cNvSpPr/>
          <p:nvPr/>
        </p:nvSpPr>
        <p:spPr>
          <a:xfrm>
            <a:off x="6553200" y="1819573"/>
            <a:ext cx="4970780" cy="228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22"/>
              </a:lnSpc>
              <a:buNone/>
            </a:pPr>
            <a:r>
              <a:rPr lang="en-US" sz="1159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Statistics</a:t>
            </a:r>
            <a:endParaRPr lang="en-US" sz="1159" dirty="0"/>
          </a:p>
        </p:txBody>
      </p:sp>
      <p:sp>
        <p:nvSpPr>
          <p:cNvPr id="5" name="Shape 3"/>
          <p:cNvSpPr/>
          <p:nvPr/>
        </p:nvSpPr>
        <p:spPr>
          <a:xfrm>
            <a:off x="6553200" y="2073275"/>
            <a:ext cx="4826000" cy="1070074"/>
          </a:xfrm>
          <a:custGeom>
            <a:avLst/>
            <a:gdLst/>
            <a:ahLst/>
            <a:cxnLst/>
            <a:rect l="l" t="t" r="r" b="b"/>
            <a:pathLst>
              <a:path w="4826000" h="1070074">
                <a:moveTo>
                  <a:pt x="4775200" y="0"/>
                </a:moveTo>
                <a:lnTo>
                  <a:pt x="4775200" y="0"/>
                </a:lnTo>
                <a:arcTo hR="50800" wR="50800" stAng="16200000" swAng="5400000"/>
                <a:lnTo>
                  <a:pt x="4826000" y="1019274"/>
                </a:lnTo>
                <a:arcTo hR="50800" wR="50800" stAng="0" swAng="5400000"/>
                <a:lnTo>
                  <a:pt x="50800" y="1070074"/>
                </a:lnTo>
                <a:arcTo hR="50800" wR="50800" stAng="5400000" swAng="5400000"/>
                <a:lnTo>
                  <a:pt x="0" y="1019274"/>
                </a:lnTo>
                <a:arcTo hR="44450" wR="50800" stAng="10800000" swAng="-5400000"/>
                <a:lnTo>
                  <a:pt x="4775200" y="1063724"/>
                </a:lnTo>
                <a:arcTo hR="44450" wR="44450" stAng="5400000" swAng="-5400000"/>
                <a:lnTo>
                  <a:pt x="4819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6" name="Shape 4"/>
          <p:cNvSpPr/>
          <p:nvPr/>
        </p:nvSpPr>
        <p:spPr>
          <a:xfrm>
            <a:off x="6553200" y="2073275"/>
            <a:ext cx="4826000" cy="1070074"/>
          </a:xfrm>
          <a:custGeom>
            <a:avLst/>
            <a:gdLst/>
            <a:ahLst/>
            <a:cxnLst/>
            <a:rect l="l" t="t" r="r" b="b"/>
            <a:pathLst>
              <a:path w="4826000" h="1070074">
                <a:moveTo>
                  <a:pt x="50800" y="1070074"/>
                </a:moveTo>
                <a:lnTo>
                  <a:pt x="50800" y="1070074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775200" y="0"/>
                </a:lnTo>
                <a:arcTo hR="50800" wR="50800" stAng="16200000" swAng="5400000"/>
                <a:lnTo>
                  <a:pt x="4826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1019274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65900" y="2085975"/>
          <a:ext cx="4806950" cy="1051024"/>
        </p:xfrm>
        <a:graphic>
          <a:graphicData uri="http://schemas.openxmlformats.org/drawingml/2006/table">
            <a:tbl>
              <a:tblPr/>
              <a:tblGrid>
                <a:gridCol w="1345946"/>
                <a:gridCol w="672973"/>
                <a:gridCol w="480695"/>
                <a:gridCol w="1153668"/>
                <a:gridCol w="1153668"/>
              </a:tblGrid>
              <a:tr h="466626">
                <a:tc>
                  <a:txBody>
                    <a:bodyPr/>
                    <a:lstStyle/>
                    <a:p>
                      <a:pPr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92199">
                <a:tc>
                  <a:txBody>
                    <a:bodyPr/>
                    <a:lstStyle/>
                    <a:p>
                      <a:pPr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before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15.67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5.538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2.261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292199">
                <a:tc>
                  <a:txBody>
                    <a:bodyPr/>
                    <a:lstStyle/>
                    <a:p>
                      <a:pPr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after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19.83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3.817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76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1.558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12800" y="3270349"/>
            <a:ext cx="10883392" cy="22810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22"/>
              </a:lnSpc>
              <a:buNone/>
            </a:pPr>
            <a:r>
              <a:rPr lang="en-US" sz="1159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Test </a:t>
            </a:r>
            <a:r>
              <a:rPr lang="en-US" sz="1159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Paired Differences</a:t>
            </a:r>
            <a:endParaRPr lang="en-US" sz="1159" dirty="0"/>
          </a:p>
        </p:txBody>
      </p:sp>
      <p:sp>
        <p:nvSpPr>
          <p:cNvPr id="9" name="Shape 6"/>
          <p:cNvSpPr/>
          <p:nvPr/>
        </p:nvSpPr>
        <p:spPr>
          <a:xfrm>
            <a:off x="812800" y="3523853"/>
            <a:ext cx="10566400" cy="779562"/>
          </a:xfrm>
          <a:custGeom>
            <a:avLst/>
            <a:gdLst/>
            <a:ahLst/>
            <a:cxnLst/>
            <a:rect l="l" t="t" r="r" b="b"/>
            <a:pathLst>
              <a:path w="10566400" h="779562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728762"/>
                </a:lnTo>
                <a:arcTo hR="50800" wR="50800" stAng="0" swAng="5400000"/>
                <a:lnTo>
                  <a:pt x="50800" y="779562"/>
                </a:lnTo>
                <a:arcTo hR="50800" wR="50800" stAng="5400000" swAng="5400000"/>
                <a:lnTo>
                  <a:pt x="0" y="728762"/>
                </a:lnTo>
                <a:arcTo hR="44450" wR="50800" stAng="10800000" swAng="-5400000"/>
                <a:lnTo>
                  <a:pt x="10515600" y="773212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7"/>
          <p:cNvSpPr/>
          <p:nvPr/>
        </p:nvSpPr>
        <p:spPr>
          <a:xfrm>
            <a:off x="812800" y="3523853"/>
            <a:ext cx="10566400" cy="779562"/>
          </a:xfrm>
          <a:custGeom>
            <a:avLst/>
            <a:gdLst/>
            <a:ahLst/>
            <a:cxnLst/>
            <a:rect l="l" t="t" r="r" b="b"/>
            <a:pathLst>
              <a:path w="10566400" h="779562">
                <a:moveTo>
                  <a:pt x="50800" y="779562"/>
                </a:moveTo>
                <a:lnTo>
                  <a:pt x="50800" y="779562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28762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3536553"/>
          <a:ext cx="10547350" cy="760512"/>
        </p:xfrm>
        <a:graphic>
          <a:graphicData uri="http://schemas.openxmlformats.org/drawingml/2006/table">
            <a:tbl>
              <a:tblPr/>
              <a:tblGrid>
                <a:gridCol w="1793050"/>
                <a:gridCol w="949262"/>
                <a:gridCol w="1265682"/>
                <a:gridCol w="1160208"/>
                <a:gridCol w="1160208"/>
                <a:gridCol w="1160208"/>
                <a:gridCol w="949262"/>
                <a:gridCol w="632841"/>
                <a:gridCol w="1476629"/>
              </a:tblGrid>
              <a:tr h="467618">
                <a:tc>
                  <a:txBody>
                    <a:bodyPr/>
                    <a:lstStyle/>
                    <a:p>
                      <a:pPr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Lower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Upper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92894">
                <a:tc>
                  <a:txBody>
                    <a:bodyPr/>
                    <a:lstStyle/>
                    <a:p>
                      <a:pPr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before - after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-4.167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2.639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1.078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-6.937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-1.397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-3.867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.012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815975" y="4500265"/>
            <a:ext cx="962124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20750" y="4578350"/>
            <a:ext cx="435074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أصغر</a:t>
            </a:r>
            <a:endParaRPr lang="ar-EG" sz="1400" dirty="0"/>
          </a:p>
        </p:txBody>
      </p:sp>
      <p:sp>
        <p:nvSpPr>
          <p:cNvPr id="14" name="Text 10"/>
          <p:cNvSpPr/>
          <p:nvPr/>
        </p:nvSpPr>
        <p:spPr>
          <a:xfrm>
            <a:off x="1444724" y="455424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</a:t>
            </a:r>
            <a:endParaRPr lang="ar-EG" sz="1200" dirty="0"/>
          </a:p>
        </p:txBody>
      </p:sp>
      <p:sp>
        <p:nvSpPr>
          <p:cNvPr id="15" name="Shape 11"/>
          <p:cNvSpPr/>
          <p:nvPr/>
        </p:nvSpPr>
        <p:spPr>
          <a:xfrm>
            <a:off x="1873349" y="4500265"/>
            <a:ext cx="863699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978124" y="4578350"/>
            <a:ext cx="336649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أكبر</a:t>
            </a:r>
            <a:endParaRPr lang="ar-EG" sz="1400" dirty="0"/>
          </a:p>
        </p:txBody>
      </p:sp>
      <p:sp>
        <p:nvSpPr>
          <p:cNvPr id="17" name="Text 13"/>
          <p:cNvSpPr/>
          <p:nvPr/>
        </p:nvSpPr>
        <p:spPr>
          <a:xfrm>
            <a:off x="2403673" y="455424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</a:t>
            </a:r>
            <a:endParaRPr lang="ar-EG" sz="1200" dirty="0"/>
          </a:p>
        </p:txBody>
      </p:sp>
      <p:sp>
        <p:nvSpPr>
          <p:cNvPr id="18" name="Text 14"/>
          <p:cNvSpPr/>
          <p:nvPr/>
        </p:nvSpPr>
        <p:spPr>
          <a:xfrm>
            <a:off x="6972300" y="4564955"/>
            <a:ext cx="39243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عند مقارنة ‎Sig مع مستوى المعنوية، تكون ‎Sig:</a:t>
            </a:r>
            <a:endParaRPr lang="ar-EG" sz="1400" dirty="0"/>
          </a:p>
        </p:txBody>
      </p:sp>
      <p:sp>
        <p:nvSpPr>
          <p:cNvPr id="19" name="Text 15"/>
          <p:cNvSpPr/>
          <p:nvPr/>
        </p:nvSpPr>
        <p:spPr>
          <a:xfrm>
            <a:off x="11049000" y="452874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815975" y="4990108"/>
            <a:ext cx="3079552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96499" y="5068193"/>
            <a:ext cx="2576753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656"/>
              </a:lnSpc>
              <a:buNone/>
            </a:pPr>
            <a:r>
              <a:rPr lang="ar-EG" sz="125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رفض الفرض العدمي وقبول البديل</a:t>
            </a:r>
            <a:endParaRPr lang="ar-EG" sz="1250" dirty="0"/>
          </a:p>
        </p:txBody>
      </p:sp>
      <p:sp>
        <p:nvSpPr>
          <p:cNvPr id="22" name="Text 18"/>
          <p:cNvSpPr/>
          <p:nvPr/>
        </p:nvSpPr>
        <p:spPr>
          <a:xfrm>
            <a:off x="3562152" y="5044083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</a:t>
            </a:r>
            <a:endParaRPr lang="ar-EG" sz="1200" dirty="0"/>
          </a:p>
        </p:txBody>
      </p:sp>
      <p:sp>
        <p:nvSpPr>
          <p:cNvPr id="23" name="Shape 19"/>
          <p:cNvSpPr/>
          <p:nvPr/>
        </p:nvSpPr>
        <p:spPr>
          <a:xfrm>
            <a:off x="815975" y="5472708"/>
            <a:ext cx="3079552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96499" y="5550793"/>
            <a:ext cx="2576753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656"/>
              </a:lnSpc>
              <a:buNone/>
            </a:pPr>
            <a:r>
              <a:rPr lang="ar-EG" sz="125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قبول الفرض العدمي ورفض البديل</a:t>
            </a:r>
            <a:endParaRPr lang="ar-EG" sz="1250" dirty="0"/>
          </a:p>
        </p:txBody>
      </p:sp>
      <p:sp>
        <p:nvSpPr>
          <p:cNvPr id="25" name="Text 21"/>
          <p:cNvSpPr/>
          <p:nvPr/>
        </p:nvSpPr>
        <p:spPr>
          <a:xfrm>
            <a:off x="3562152" y="5526683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rtl="1" algn="r">
              <a:lnSpc>
                <a:spcPts val="120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</a:t>
            </a:r>
            <a:endParaRPr lang="ar-EG" sz="1200" dirty="0"/>
          </a:p>
        </p:txBody>
      </p:sp>
      <p:sp>
        <p:nvSpPr>
          <p:cNvPr id="26" name="Text 22"/>
          <p:cNvSpPr/>
          <p:nvPr/>
        </p:nvSpPr>
        <p:spPr>
          <a:xfrm>
            <a:off x="6972300" y="5296198"/>
            <a:ext cx="39243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في هذا الاختبار يتم:</a:t>
            </a:r>
            <a:endParaRPr lang="ar-EG" sz="1400" dirty="0"/>
          </a:p>
        </p:txBody>
      </p:sp>
      <p:sp>
        <p:nvSpPr>
          <p:cNvPr id="27" name="Text 23"/>
          <p:cNvSpPr/>
          <p:nvPr/>
        </p:nvSpPr>
        <p:spPr>
          <a:xfrm>
            <a:off x="11049000" y="5259983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27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  <p:sp>
        <p:nvSpPr>
          <p:cNvPr id="30" name="Answer 30"/>
          <p:cNvSpPr/>
          <p:nvPr/>
        </p:nvSpPr>
        <p:spPr>
          <a:xfrm>
            <a:off x="777875" y="4462165"/>
            <a:ext cx="1038324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31" name="Answer 31"/>
          <p:cNvSpPr/>
          <p:nvPr/>
        </p:nvSpPr>
        <p:spPr>
          <a:xfrm>
            <a:off x="777875" y="4952008"/>
            <a:ext cx="3155752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الخلاصة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الذي يجب أن تتذكره؟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58280"/>
            <a:ext cx="3386634" cy="2263775"/>
          </a:xfrm>
          <a:prstGeom prst="roundRect">
            <a:avLst>
              <a:gd name="adj" fmla="val 4488"/>
            </a:avLst>
          </a:prstGeom>
          <a:solidFill>
            <a:srgbClr val="2E3C52"/>
          </a:solidFill>
          <a:ln/>
        </p:spPr>
      </p:sp>
      <p:sp>
        <p:nvSpPr>
          <p:cNvPr id="5" name="Text 3"/>
          <p:cNvSpPr/>
          <p:nvPr/>
        </p:nvSpPr>
        <p:spPr>
          <a:xfrm>
            <a:off x="3589834" y="221228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9A23B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80441" y="2694880"/>
            <a:ext cx="296499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قاعدة القرار</a:t>
            </a:r>
            <a:endParaRPr lang="ar-EG" sz="2000" dirty="0"/>
          </a:p>
        </p:txBody>
      </p:sp>
      <p:sp>
        <p:nvSpPr>
          <p:cNvPr id="7" name="Text 5"/>
          <p:cNvSpPr/>
          <p:nvPr/>
        </p:nvSpPr>
        <p:spPr>
          <a:xfrm>
            <a:off x="980441" y="3139380"/>
            <a:ext cx="2964993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‎α = 1 − مستوى الثقة. ‎Sig أصغر من ‎α: نرفض ‎H0. ‎Sig أكبر من أو تساوي ‎α: نقبل ‎H0.</a:t>
            </a:r>
            <a:endParaRPr lang="ar-EG" sz="1500" dirty="0"/>
          </a:p>
        </p:txBody>
      </p:sp>
      <p:sp>
        <p:nvSpPr>
          <p:cNvPr id="8" name="Shape 6"/>
          <p:cNvSpPr/>
          <p:nvPr/>
        </p:nvSpPr>
        <p:spPr>
          <a:xfrm>
            <a:off x="4402634" y="1958280"/>
            <a:ext cx="3386733" cy="2263775"/>
          </a:xfrm>
          <a:prstGeom prst="roundRect">
            <a:avLst>
              <a:gd name="adj" fmla="val 4488"/>
            </a:avLst>
          </a:prstGeom>
          <a:solidFill>
            <a:srgbClr val="2E3C52"/>
          </a:solidFill>
          <a:ln/>
        </p:spPr>
      </p:sp>
      <p:sp>
        <p:nvSpPr>
          <p:cNvPr id="9" name="Text 7"/>
          <p:cNvSpPr/>
          <p:nvPr/>
        </p:nvSpPr>
        <p:spPr>
          <a:xfrm>
            <a:off x="7179766" y="221228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9A23B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0272" y="2694880"/>
            <a:ext cx="29650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أي اختبار؟</a:t>
            </a:r>
            <a:endParaRPr lang="ar-EG" sz="2000" dirty="0"/>
          </a:p>
        </p:txBody>
      </p:sp>
      <p:sp>
        <p:nvSpPr>
          <p:cNvPr id="11" name="Text 9"/>
          <p:cNvSpPr/>
          <p:nvPr/>
        </p:nvSpPr>
        <p:spPr>
          <a:xfrm>
            <a:off x="4570272" y="3139380"/>
            <a:ext cx="2965095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متوسط مقابل قيمة ثابتة: One Sample. نفس الأفراد قبل وبعد: Paired Samples.</a:t>
            </a:r>
            <a:endParaRPr lang="ar-EG" sz="1500" dirty="0"/>
          </a:p>
        </p:txBody>
      </p:sp>
      <p:sp>
        <p:nvSpPr>
          <p:cNvPr id="12" name="Shape 10"/>
          <p:cNvSpPr/>
          <p:nvPr/>
        </p:nvSpPr>
        <p:spPr>
          <a:xfrm>
            <a:off x="7992566" y="1958280"/>
            <a:ext cx="3386634" cy="2263775"/>
          </a:xfrm>
          <a:prstGeom prst="roundRect">
            <a:avLst>
              <a:gd name="adj" fmla="val 4488"/>
            </a:avLst>
          </a:prstGeom>
          <a:solidFill>
            <a:srgbClr val="2E3C52"/>
          </a:solidFill>
          <a:ln/>
        </p:spPr>
      </p:sp>
      <p:sp>
        <p:nvSpPr>
          <p:cNvPr id="13" name="Text 11"/>
          <p:cNvSpPr/>
          <p:nvPr/>
        </p:nvSpPr>
        <p:spPr>
          <a:xfrm>
            <a:off x="10769600" y="221228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9A23B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60207" y="2694880"/>
            <a:ext cx="296499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الفروض أولًا</a:t>
            </a:r>
            <a:endParaRPr lang="ar-EG" sz="2000" dirty="0"/>
          </a:p>
        </p:txBody>
      </p:sp>
      <p:sp>
        <p:nvSpPr>
          <p:cNvPr id="15" name="Text 13"/>
          <p:cNvSpPr/>
          <p:nvPr/>
        </p:nvSpPr>
        <p:spPr>
          <a:xfrm>
            <a:off x="8160207" y="3139380"/>
            <a:ext cx="2964993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‎H0: لا يوجد فرق. ‎H1: يوجد فرق. نكتبهما قبل تشغيل SPSS.</a:t>
            </a:r>
            <a:endParaRPr lang="ar-EG" sz="1500" dirty="0"/>
          </a:p>
        </p:txBody>
      </p:sp>
      <p:sp>
        <p:nvSpPr>
          <p:cNvPr id="16" name="Text 14"/>
          <p:cNvSpPr/>
          <p:nvPr/>
        </p:nvSpPr>
        <p:spPr>
          <a:xfrm>
            <a:off x="762000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19212" y="6238280"/>
            <a:ext cx="27599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 Application · سكشن 4</a:t>
            </a:r>
            <a:endParaRPr lang="ar-EG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سكشن 4 — اختبارات الفروض للمتوسط</dc:title>
  <dc:subject/>
  <dc:creator/>
  <cp:lastModifiedBy/>
  <cp:revision>1</cp:revision>
  <dcterms:created xsi:type="dcterms:W3CDTF">2026-10-24T11:26:32Z</dcterms:created>
  <dcterms:modified xsi:type="dcterms:W3CDTF">2026-10-24T11:26:32Z</dcterms:modified>
</cp:coreProperties>
</file>