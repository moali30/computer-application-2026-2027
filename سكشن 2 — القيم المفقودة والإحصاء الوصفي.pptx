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العاملان 6 و7 ليس لهما دخل مسجّل (missing). سنُدخل مكانهما القيمة 500 ثم نعرّفها كقيمة مفقودة.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للوصول لخانة Missing: انقر النقاط الثلاث في خانة Missing للمتغير income، واختر Discrete missing values واكتب 500. تذكير من سكشن 1: إذا لم توجد قيم مفقودة تظهر الخانة None كما في المتغير id.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اسأل: لو لم نعرّف 500 في خانة Missing، ماذا سيحدث عند حساب متوسط الدخل؟ سيعاملها SPSS كدخل حقيقي ويدخلها في الحسابات.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هذه خريطة بقية السكشن: نبدأ بالجداول، ثم الرسوم البيانية، ثم المقاييس.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نفس بيانات المدرسين العشرة سنستخدمها في كل أمثلة الجداول والرسوم والمقاييس.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أكواد النوع تُدخل من خانة Values للمتغير gender: القيمة 1 بوصف male، والقيمة 2 بوصف female.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تنبيه على اللقطة: أول قيمتين للراتب ظاهرتان 1500 و1400، والصحيح حسب جدول البيانات 15000 و14000. ومادة الحالة 8 ظاهرة science، والصحيح Mathematics. نتائج الجداول والإحصاءات التالية محسوبة على البيانات الصحيحة.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اقرأ الجدول مع الطلاب: الراتب 14000 تكراره 3 أي 30%، والنسبة التراكمية حتى 15000 = 80%.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في نافذة Crosstabs: ضع gender في خانة Row(s) و subject في خانة Column(s). المجموع الكلي Total = 10.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لاحظ: الأعمدة والدائرة والمدرج التكراري كلها من نافذة Frequencies ثم زر Charts، أما الرسم الصندوقي فمن قائمة Graphs.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نفس المسار السابق، والاختلاف فقط في الاختيار الأخير داخل Charts: Pie chart بدل Bar chart.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الإجابات: المتوسط = 34.2 | الانحراف المعياري = 4.89 | التباين = 23.96 | حجم العينة = 10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التباين = مربع الانحراف المعياري = 4.894² ≈ 23.96. (في النسخة القديمة كان مكتوبًا 23.91 لأنه محسوب من 4.89 بعد التقريب.) يمكن عرض التباين مباشرة من Frequencies ثم Statistics ثم Variance.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في النسخة القديمة كان المطلوب الرسم الصندوقي لمتغير الراتب بينما الحل واللقطة لمتغير العمر؛ وحّدنا المطلوب على العمر ليطابق الحل.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الرسم الصندوقي من قائمة Graphs وليس من Frequencies. المحور Y يحمل متغيرًا كميًا Scale.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المنوال: الراتبان 14000 و15000 تكرار كل منهما 3، لذلك يوجد أكثر من منوال، ويعرض SPSS أصغرها مع الملاحظة a أسفل الجدول (Multiple modes exist).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بالاعتماد على الجدول التكراري المقابل. الإجابات: 1: 4 | 2: 16 | 3: 12.5 | 4: 43.8 | 5: 81.3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السؤال 3: عمود Percent يعطي 10.0 لكن المطلوب النسبة الصالحة Valid Percent = 12.5 لأنها تستبعد القيم المفقودة. السؤال 4: أقل من 18000 يعني حتى 12000، والنسبة التراكمية عندها 43.8.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بالاعتماد على الجدول المزدوج المقابل. الإجابات: 1: صفر | 2: 15 | 3: وصفي، Nominal اسمي | 4: وصفي، Nominal اسمي | 5: 4 | 6: 2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النوع والقسم متغيران وصفيان مقياسهما Nominal (اسمي).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في الرسم الصندوقي المقابل (درجات اختبار رياضيات). الإجابات: 1: 30 | 2: 98 | 3: 75% | 4: 50% | 5: 68 | 6: 45 | 7: 20 | 8: ملتوية ناحية اليمين | 9: 1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dirty="0" lang="ar-EG"/>
              <a:t>المدى = أكبر قيمة − أقل قيمة = 98 − 30 = 68. IQR = الربيع الثالث − الربيع الأول = 60 − 40 = 20. الوسيط أقرب لأسفل الصندوق والشارب العلوي أطول، لذلك البيانات ملتوية ناحية اليمين.</a:t>
            </a:r>
            <a:endParaRPr dirty="0"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346200"/>
            <a:ext cx="4165600" cy="4165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4264" y="1682849"/>
            <a:ext cx="59649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  <p:sp>
        <p:nvSpPr>
          <p:cNvPr id="4" name="Text 1"/>
          <p:cNvSpPr/>
          <p:nvPr/>
        </p:nvSpPr>
        <p:spPr>
          <a:xfrm>
            <a:off x="5414264" y="2099370"/>
            <a:ext cx="5964936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7200"/>
              </a:lnSpc>
              <a:buNone/>
            </a:pPr>
            <a:r>
              <a:rPr sz="6000" b="1" dirty="0" lang="ar-EG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القيم المفقودة والإحصاء الوصفي</a:t>
            </a:r>
            <a:endParaRPr sz="6000" dirty="0" lang="ar-EG"/>
          </a:p>
        </p:txBody>
      </p:sp>
      <p:sp>
        <p:nvSpPr>
          <p:cNvPr id="5" name="Text 2"/>
          <p:cNvSpPr/>
          <p:nvPr/>
        </p:nvSpPr>
        <p:spPr>
          <a:xfrm>
            <a:off x="5414264" y="4131370"/>
            <a:ext cx="5964936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860"/>
              </a:lnSpc>
              <a:buNone/>
            </a:pPr>
            <a:r>
              <a:rPr sz="22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الجداول والرسوم البيانية والمقاييس في SPSS</a:t>
            </a:r>
            <a:endParaRPr sz="2200" dirty="0" lang="ar-EG"/>
          </a:p>
        </p:txBody>
      </p:sp>
      <p:sp>
        <p:nvSpPr>
          <p:cNvPr id="6" name="Shape 3"/>
          <p:cNvSpPr/>
          <p:nvPr/>
        </p:nvSpPr>
        <p:spPr>
          <a:xfrm>
            <a:off x="10617200" y="4697710"/>
            <a:ext cx="762000" cy="2540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7" name="Text 4"/>
          <p:cNvSpPr/>
          <p:nvPr/>
        </p:nvSpPr>
        <p:spPr>
          <a:xfrm>
            <a:off x="5414264" y="4926310"/>
            <a:ext cx="59649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Horus University · 2026/2027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خطة السكشن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ماذا سنتعلم اليوم؟</a:t>
            </a:r>
            <a:endParaRPr sz="3600" dirty="0" lang="ar-EG"/>
          </a:p>
        </p:txBody>
      </p:sp>
      <p:sp>
        <p:nvSpPr>
          <p:cNvPr id="4" name="Text 2"/>
          <p:cNvSpPr/>
          <p:nvPr/>
        </p:nvSpPr>
        <p:spPr>
          <a:xfrm>
            <a:off x="517144" y="2097980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340"/>
              </a:lnSpc>
              <a:buNone/>
            </a:pPr>
            <a:r>
              <a:rPr sz="18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القيم المفقودة: كيف نُدخلها ونعرّفها في البرنامج</a:t>
            </a:r>
            <a:endParaRPr sz="1800" dirty="0" lang="ar-EG"/>
          </a:p>
        </p:txBody>
      </p:sp>
      <p:sp>
        <p:nvSpPr>
          <p:cNvPr id="5" name="Text 3"/>
          <p:cNvSpPr/>
          <p:nvPr/>
        </p:nvSpPr>
        <p:spPr>
          <a:xfrm>
            <a:off x="10871200" y="2104330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253801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7144" y="2680891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340"/>
              </a:lnSpc>
              <a:buNone/>
            </a:pPr>
            <a:r>
              <a:rPr sz="18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الإحصاء الوصفي: الجدول التكراري والجدول المتقاطع</a:t>
            </a:r>
            <a:endParaRPr sz="1800" dirty="0" lang="ar-EG"/>
          </a:p>
        </p:txBody>
      </p:sp>
      <p:sp>
        <p:nvSpPr>
          <p:cNvPr id="8" name="Text 6"/>
          <p:cNvSpPr/>
          <p:nvPr/>
        </p:nvSpPr>
        <p:spPr>
          <a:xfrm>
            <a:off x="10871200" y="2687241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312092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144" y="3263801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340"/>
              </a:lnSpc>
              <a:buNone/>
            </a:pPr>
            <a:r>
              <a:rPr sz="18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الرسوم البيانية: الأعمدة والدائرة والمدرج التكراري والرسم الصندوقي</a:t>
            </a:r>
            <a:endParaRPr sz="1800" dirty="0" lang="ar-EG"/>
          </a:p>
        </p:txBody>
      </p:sp>
      <p:sp>
        <p:nvSpPr>
          <p:cNvPr id="11" name="Text 9"/>
          <p:cNvSpPr/>
          <p:nvPr/>
        </p:nvSpPr>
        <p:spPr>
          <a:xfrm>
            <a:off x="10871200" y="3270151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" y="370383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144" y="3846711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340"/>
              </a:lnSpc>
              <a:buNone/>
            </a:pPr>
            <a:r>
              <a:rPr sz="18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المقاييس: النزعة المركزية والتشتت</a:t>
            </a:r>
            <a:endParaRPr sz="1800" dirty="0" lang="ar-EG"/>
          </a:p>
        </p:txBody>
      </p:sp>
      <p:sp>
        <p:nvSpPr>
          <p:cNvPr id="14" name="Text 12"/>
          <p:cNvSpPr/>
          <p:nvPr/>
        </p:nvSpPr>
        <p:spPr>
          <a:xfrm>
            <a:off x="10871200" y="3853061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" y="428674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144" y="4429621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340"/>
              </a:lnSpc>
              <a:buNone/>
            </a:pPr>
            <a:r>
              <a:rPr sz="18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ثلاثة تمارين لقراءة مخرجات البرنامج</a:t>
            </a:r>
            <a:endParaRPr sz="1800" dirty="0" lang="ar-EG"/>
          </a:p>
        </p:txBody>
      </p:sp>
      <p:sp>
        <p:nvSpPr>
          <p:cNvPr id="17" name="Text 15"/>
          <p:cNvSpPr/>
          <p:nvPr/>
        </p:nvSpPr>
        <p:spPr>
          <a:xfrm>
            <a:off x="10871200" y="4435971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082800"/>
            <a:ext cx="457200" cy="269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2500" y="179576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2222500" y="3472160"/>
            <a:ext cx="91567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7200"/>
              </a:lnSpc>
              <a:buNone/>
            </a:pPr>
            <a:r>
              <a:rPr sz="6000" b="1" dirty="0" lang="ar-EG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القيم المفقودة</a:t>
            </a:r>
            <a:endParaRPr sz="6000" dirty="0" lang="ar-EG"/>
          </a:p>
        </p:txBody>
      </p:sp>
      <p:sp>
        <p:nvSpPr>
          <p:cNvPr id="5" name="Text 2"/>
          <p:cNvSpPr/>
          <p:nvPr/>
        </p:nvSpPr>
        <p:spPr>
          <a:xfrm>
            <a:off x="2222500" y="453896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20"/>
              </a:lnSpc>
              <a:buNone/>
            </a:pPr>
            <a:r>
              <a:rPr sz="18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كيف نُدخل القيم المفقودة ونعرّفها في البرنامج</a:t>
            </a:r>
            <a:endParaRPr sz="1800" dirty="0" lang="ar-EG"/>
          </a:p>
        </p:txBody>
      </p:sp>
      <p:sp>
        <p:nvSpPr>
          <p:cNvPr id="6" name="Text 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1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الدخل الشهري لـ 10 عمال</a:t>
            </a:r>
            <a:endParaRPr sz="3600" dirty="0" lang="ar-EG"/>
          </a:p>
        </p:txBody>
      </p:sp>
      <p:sp>
        <p:nvSpPr>
          <p:cNvPr id="4" name="Text 2"/>
          <p:cNvSpPr/>
          <p:nvPr/>
        </p:nvSpPr>
        <p:spPr>
          <a:xfrm>
            <a:off x="495808" y="188208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البيانات التالية تمثل الدخل الشهري لعينة عشوائية من عمال شركة ما</a:t>
            </a:r>
            <a:endParaRPr sz="1600" dirty="0" lang="ar-EG"/>
          </a:p>
        </p:txBody>
      </p:sp>
      <p:sp>
        <p:nvSpPr>
          <p:cNvPr id="5" name="Shape 3"/>
          <p:cNvSpPr/>
          <p:nvPr/>
        </p:nvSpPr>
        <p:spPr>
          <a:xfrm>
            <a:off x="812800" y="2415480"/>
            <a:ext cx="3048000" cy="2543572"/>
          </a:xfrm>
          <a:prstGeom prst="roundRect">
            <a:avLst>
              <a:gd name="adj" fmla="val 3994"/>
            </a:avLst>
          </a:prstGeom>
          <a:solidFill>
            <a:srgbClr val="FBEBD0"/>
          </a:solidFill>
          <a:ln/>
        </p:spPr>
      </p:sp>
      <p:sp>
        <p:nvSpPr>
          <p:cNvPr id="6" name="Text 4"/>
          <p:cNvSpPr/>
          <p:nvPr/>
        </p:nvSpPr>
        <p:spPr>
          <a:xfrm>
            <a:off x="963676" y="2644080"/>
            <a:ext cx="266852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50"/>
              </a:lnSpc>
              <a:buNone/>
            </a:pPr>
            <a:r>
              <a:rPr sz="18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المطلوب</a:t>
            </a:r>
            <a:endParaRPr sz="1800" dirty="0" lang="ar-EG"/>
          </a:p>
        </p:txBody>
      </p:sp>
      <p:sp>
        <p:nvSpPr>
          <p:cNvPr id="7" name="Text 5"/>
          <p:cNvSpPr/>
          <p:nvPr/>
        </p:nvSpPr>
        <p:spPr>
          <a:xfrm>
            <a:off x="976630" y="3056830"/>
            <a:ext cx="222377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أدخل البيانات في البرنامج، واستخدم القيمة 500 للتعبير عن القيم المفقودة</a:t>
            </a:r>
            <a:endParaRPr sz="1400" dirty="0" lang="ar-EG"/>
          </a:p>
        </p:txBody>
      </p:sp>
      <p:sp>
        <p:nvSpPr>
          <p:cNvPr id="8" name="Text 6"/>
          <p:cNvSpPr/>
          <p:nvPr/>
        </p:nvSpPr>
        <p:spPr>
          <a:xfrm>
            <a:off x="3327400" y="30568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6630" y="3957141"/>
            <a:ext cx="222377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خذ لقطة واضحة لنافذة Data View ونافذة Variable View</a:t>
            </a:r>
            <a:endParaRPr sz="1400" dirty="0" lang="ar-EG"/>
          </a:p>
        </p:txBody>
      </p:sp>
      <p:sp>
        <p:nvSpPr>
          <p:cNvPr id="10" name="Text 8"/>
          <p:cNvSpPr/>
          <p:nvPr/>
        </p:nvSpPr>
        <p:spPr>
          <a:xfrm>
            <a:off x="3327400" y="395714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5600" y="2415480"/>
            <a:ext cx="3505200" cy="2602111"/>
          </a:xfrm>
          <a:custGeom>
            <a:avLst/>
            <a:gdLst/>
            <a:ahLst/>
            <a:cxnLst/>
            <a:rect l="l" t="t" r="r" b="b"/>
            <a:pathLst>
              <a:path w="3505200" h="2602111">
                <a:moveTo>
                  <a:pt x="3454400" y="0"/>
                </a:moveTo>
                <a:lnTo>
                  <a:pt x="3454400" y="0"/>
                </a:lnTo>
                <a:arcTo hR="50800" wR="50800" stAng="16200000" swAng="5400000"/>
                <a:lnTo>
                  <a:pt x="3505200" y="2551311"/>
                </a:lnTo>
                <a:arcTo hR="50800" wR="50800" stAng="0" swAng="5400000"/>
                <a:lnTo>
                  <a:pt x="50800" y="2602111"/>
                </a:lnTo>
                <a:arcTo hR="50800" wR="50800" stAng="5400000" swAng="5400000"/>
                <a:lnTo>
                  <a:pt x="0" y="2551311"/>
                </a:lnTo>
                <a:arcTo hR="44450" wR="50800" stAng="10800000" swAng="-5400000"/>
                <a:lnTo>
                  <a:pt x="3454400" y="2595761"/>
                </a:lnTo>
                <a:arcTo hR="44450" wR="44450" stAng="5400000" swAng="-5400000"/>
                <a:lnTo>
                  <a:pt x="34988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5600" y="2415480"/>
            <a:ext cx="3505200" cy="2602111"/>
          </a:xfrm>
          <a:custGeom>
            <a:avLst/>
            <a:gdLst/>
            <a:ahLst/>
            <a:cxnLst/>
            <a:rect l="l" t="t" r="r" b="b"/>
            <a:pathLst>
              <a:path w="3505200" h="2602111">
                <a:moveTo>
                  <a:pt x="50800" y="2602111"/>
                </a:moveTo>
                <a:lnTo>
                  <a:pt x="50800" y="2602111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3454400" y="0"/>
                </a:lnTo>
                <a:arcTo hR="50800" wR="50800" stAng="16200000" swAng="5400000"/>
                <a:lnTo>
                  <a:pt x="35052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2551311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78300" y="2428180"/>
          <a:ext cx="3486150" cy="2583061"/>
        </p:xfrm>
        <a:graphic>
          <a:graphicData uri="http://schemas.openxmlformats.org/drawingml/2006/table">
            <a:tbl>
              <a:tblPr/>
              <a:tblGrid>
                <a:gridCol w="1743075"/>
                <a:gridCol w="1743075"/>
              </a:tblGrid>
              <a:tr h="430510"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الدخل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الرقم التعريفي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missing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missing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874000" y="2415480"/>
            <a:ext cx="3505200" cy="2602111"/>
          </a:xfrm>
          <a:custGeom>
            <a:avLst/>
            <a:gdLst/>
            <a:ahLst/>
            <a:cxnLst/>
            <a:rect l="l" t="t" r="r" b="b"/>
            <a:pathLst>
              <a:path w="3505200" h="2602111">
                <a:moveTo>
                  <a:pt x="3454400" y="0"/>
                </a:moveTo>
                <a:lnTo>
                  <a:pt x="3454400" y="0"/>
                </a:lnTo>
                <a:arcTo hR="50800" wR="50800" stAng="16200000" swAng="5400000"/>
                <a:lnTo>
                  <a:pt x="3505200" y="2551311"/>
                </a:lnTo>
                <a:arcTo hR="50800" wR="50800" stAng="0" swAng="5400000"/>
                <a:lnTo>
                  <a:pt x="50800" y="2602111"/>
                </a:lnTo>
                <a:arcTo hR="50800" wR="50800" stAng="5400000" swAng="5400000"/>
                <a:lnTo>
                  <a:pt x="0" y="2551311"/>
                </a:lnTo>
                <a:arcTo hR="44450" wR="50800" stAng="10800000" swAng="-5400000"/>
                <a:lnTo>
                  <a:pt x="3454400" y="2595761"/>
                </a:lnTo>
                <a:arcTo hR="44450" wR="44450" stAng="5400000" swAng="-5400000"/>
                <a:lnTo>
                  <a:pt x="34988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5" name="Shape 12"/>
          <p:cNvSpPr/>
          <p:nvPr/>
        </p:nvSpPr>
        <p:spPr>
          <a:xfrm>
            <a:off x="7874000" y="2415480"/>
            <a:ext cx="3505200" cy="2602111"/>
          </a:xfrm>
          <a:custGeom>
            <a:avLst/>
            <a:gdLst/>
            <a:ahLst/>
            <a:cxnLst/>
            <a:rect l="l" t="t" r="r" b="b"/>
            <a:pathLst>
              <a:path w="3505200" h="2602111">
                <a:moveTo>
                  <a:pt x="50800" y="2602111"/>
                </a:moveTo>
                <a:lnTo>
                  <a:pt x="50800" y="2602111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3454400" y="0"/>
                </a:lnTo>
                <a:arcTo hR="50800" wR="50800" stAng="16200000" swAng="5400000"/>
                <a:lnTo>
                  <a:pt x="35052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2551311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86700" y="2428180"/>
          <a:ext cx="3486150" cy="2583061"/>
        </p:xfrm>
        <a:graphic>
          <a:graphicData uri="http://schemas.openxmlformats.org/drawingml/2006/table">
            <a:tbl>
              <a:tblPr/>
              <a:tblGrid>
                <a:gridCol w="1743075"/>
                <a:gridCol w="1743075"/>
              </a:tblGrid>
              <a:tr h="430510"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الدخل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الرقم التعريفي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5000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4500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4500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1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تعريف المتغيرات في Variable View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5975" y="1910655"/>
            <a:ext cx="10560050" cy="2546350"/>
          </a:xfrm>
          <a:prstGeom prst="roundRect">
            <a:avLst>
              <a:gd name="adj" fmla="val 386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5" name="Image 0" descr="نافذة Variable View للمتغيرين id و income، وخانة Missing للمتغير income تساوي 500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920750" y="2015430"/>
            <a:ext cx="10350500" cy="2336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4717355"/>
            <a:ext cx="5175250" cy="826691"/>
          </a:xfrm>
          <a:prstGeom prst="roundRect">
            <a:avLst>
              <a:gd name="adj" fmla="val 1190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389" y="4872930"/>
            <a:ext cx="379594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المتغير id مقياسه Nominal والمتغير income مقياسه Scale</a:t>
            </a:r>
            <a:endParaRPr sz="1400" dirty="0" lang="ar-EG"/>
          </a:p>
        </p:txBody>
      </p:sp>
      <p:sp>
        <p:nvSpPr>
          <p:cNvPr id="8" name="Text 5"/>
          <p:cNvSpPr/>
          <p:nvPr/>
        </p:nvSpPr>
        <p:spPr>
          <a:xfrm>
            <a:off x="4809331" y="4964311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Measure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00775" y="4717355"/>
            <a:ext cx="5175250" cy="826691"/>
          </a:xfrm>
          <a:prstGeom prst="roundRect">
            <a:avLst>
              <a:gd name="adj" fmla="val 1190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71189" y="5001816"/>
            <a:ext cx="3795943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للمتغير income القيمة 500 تعني قيمة مفقودة</a:t>
            </a:r>
            <a:endParaRPr sz="1400" dirty="0" lang="ar-EG"/>
          </a:p>
        </p:txBody>
      </p:sp>
      <p:sp>
        <p:nvSpPr>
          <p:cNvPr id="11" name="Text 8"/>
          <p:cNvSpPr/>
          <p:nvPr/>
        </p:nvSpPr>
        <p:spPr>
          <a:xfrm>
            <a:off x="10194131" y="4964311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Missing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1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إدخال البيانات في Data View</a:t>
            </a:r>
            <a:endParaRPr sz="3600" dirty="0" lang="ar-EG"/>
          </a:p>
        </p:txBody>
      </p:sp>
      <p:sp>
        <p:nvSpPr>
          <p:cNvPr id="4" name="Text 2"/>
          <p:cNvSpPr/>
          <p:nvPr/>
        </p:nvSpPr>
        <p:spPr>
          <a:xfrm>
            <a:off x="694309" y="1958280"/>
            <a:ext cx="40681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نُدخل الدخل كما هو في جدول البيانات، ونكتب القيمة 500 مكان القيم المفقودة</a:t>
            </a:r>
            <a:endParaRPr sz="1600" dirty="0" lang="ar-EG"/>
          </a:p>
        </p:txBody>
      </p:sp>
      <p:sp>
        <p:nvSpPr>
          <p:cNvPr id="5" name="Shape 3"/>
          <p:cNvSpPr/>
          <p:nvPr/>
        </p:nvSpPr>
        <p:spPr>
          <a:xfrm>
            <a:off x="815975" y="2748855"/>
            <a:ext cx="3943350" cy="924520"/>
          </a:xfrm>
          <a:prstGeom prst="roundRect">
            <a:avLst>
              <a:gd name="adj" fmla="val 1064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9508" y="2929830"/>
            <a:ext cx="368884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00"/>
              </a:lnSpc>
              <a:buNone/>
            </a:pPr>
            <a:r>
              <a:rPr sz="1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الحالتان 6 و7</a:t>
            </a:r>
            <a:endParaRPr sz="1600" dirty="0" lang="ar-EG"/>
          </a:p>
        </p:txBody>
      </p:sp>
      <p:sp>
        <p:nvSpPr>
          <p:cNvPr id="7" name="Text 5"/>
          <p:cNvSpPr/>
          <p:nvPr/>
        </p:nvSpPr>
        <p:spPr>
          <a:xfrm>
            <a:off x="889508" y="3234630"/>
            <a:ext cx="368884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قيمتهما 500 وهي قيمة مفقودة</a:t>
            </a:r>
            <a:endParaRPr sz="1400" dirty="0" lang="ar-EG"/>
          </a:p>
        </p:txBody>
      </p:sp>
      <p:sp>
        <p:nvSpPr>
          <p:cNvPr id="8" name="Shape 6"/>
          <p:cNvSpPr/>
          <p:nvPr/>
        </p:nvSpPr>
        <p:spPr>
          <a:xfrm>
            <a:off x="815975" y="3857526"/>
            <a:ext cx="3943350" cy="924520"/>
          </a:xfrm>
          <a:prstGeom prst="roundRect">
            <a:avLst>
              <a:gd name="adj" fmla="val 1064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508" y="4038501"/>
            <a:ext cx="368884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00"/>
              </a:lnSpc>
              <a:buNone/>
            </a:pPr>
            <a:r>
              <a:rPr sz="1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بقية الحالات</a:t>
            </a:r>
            <a:endParaRPr sz="1600" dirty="0" lang="ar-EG"/>
          </a:p>
        </p:txBody>
      </p:sp>
      <p:sp>
        <p:nvSpPr>
          <p:cNvPr id="10" name="Text 8"/>
          <p:cNvSpPr/>
          <p:nvPr/>
        </p:nvSpPr>
        <p:spPr>
          <a:xfrm>
            <a:off x="889508" y="4343301"/>
            <a:ext cx="368884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الدخل الفعلي لكل عامل كما في الجدول</a:t>
            </a:r>
            <a:endParaRPr sz="1400" dirty="0" lang="ar-EG"/>
          </a:p>
        </p:txBody>
      </p:sp>
      <p:sp>
        <p:nvSpPr>
          <p:cNvPr id="11" name="Shape 9"/>
          <p:cNvSpPr/>
          <p:nvPr/>
        </p:nvSpPr>
        <p:spPr>
          <a:xfrm>
            <a:off x="5070475" y="1961455"/>
            <a:ext cx="6305550" cy="3467100"/>
          </a:xfrm>
          <a:prstGeom prst="roundRect">
            <a:avLst>
              <a:gd name="adj" fmla="val 2839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2" name="Image 0" descr="نافذة Data View وفيها بيانات id و income، والحالتان 6 و7 قيمتهما 500">    </p:cNvPr>
          <p:cNvPicPr>
            <a:picLocks noChangeAspect="1"/>
          </p:cNvPicPr>
          <p:nvPr/>
        </p:nvPicPr>
        <p:blipFill>
          <a:blip r:embed="rId1"/>
          <a:srcRect l="-7" r="-7" t="0" b="0"/>
          <a:stretch/>
        </p:blipFill>
        <p:spPr>
          <a:xfrm>
            <a:off x="5175250" y="2066230"/>
            <a:ext cx="6096000" cy="32575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450" y="22631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انتبه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1568450" y="2730500"/>
            <a:ext cx="98107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5280"/>
              </a:lnSpc>
              <a:buNone/>
            </a:pPr>
            <a:r>
              <a:rPr sz="48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القيمة 500 هنا ليست دخلًا</a:t>
            </a:r>
            <a:endParaRPr sz="4800" dirty="0" lang="ar-EG"/>
          </a:p>
        </p:txBody>
      </p:sp>
      <p:sp>
        <p:nvSpPr>
          <p:cNvPr id="4" name="Text 2"/>
          <p:cNvSpPr/>
          <p:nvPr/>
        </p:nvSpPr>
        <p:spPr>
          <a:xfrm>
            <a:off x="1568450" y="3655020"/>
            <a:ext cx="9810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900"/>
              </a:lnSpc>
              <a:buNone/>
            </a:pPr>
            <a:r>
              <a:rPr sz="20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استخدمنا القيمة 500 للتعبير عن القيم المفقودة؛ لذلك نعرّفها في خانة Missing في نافذة Variable View</a:t>
            </a:r>
            <a:endParaRPr sz="2000" dirty="0" lang="ar-EG"/>
          </a:p>
        </p:txBody>
      </p:sp>
      <p:sp>
        <p:nvSpPr>
          <p:cNvPr id="5" name="Text 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082800"/>
            <a:ext cx="457200" cy="269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2500" y="179576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2222500" y="3472160"/>
            <a:ext cx="91567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7200"/>
              </a:lnSpc>
              <a:buNone/>
            </a:pPr>
            <a:r>
              <a:rPr sz="6000" b="1" dirty="0" lang="ar-EG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الجداول</a:t>
            </a:r>
            <a:endParaRPr sz="6000" dirty="0" lang="ar-EG"/>
          </a:p>
        </p:txBody>
      </p:sp>
      <p:sp>
        <p:nvSpPr>
          <p:cNvPr id="5" name="Text 2"/>
          <p:cNvSpPr/>
          <p:nvPr/>
        </p:nvSpPr>
        <p:spPr>
          <a:xfrm>
            <a:off x="2222500" y="453896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20"/>
              </a:lnSpc>
              <a:buNone/>
            </a:pPr>
            <a:r>
              <a:rPr sz="18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الإحصاء الوصفي: الجدول التكراري والجدول المتقاطع</a:t>
            </a:r>
            <a:endParaRPr sz="1800" dirty="0" lang="ar-EG"/>
          </a:p>
        </p:txBody>
      </p:sp>
      <p:sp>
        <p:nvSpPr>
          <p:cNvPr id="6" name="Text 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الإحصاء الوصفي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فروع الإحصاء الوصفي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6074" y="1961455"/>
            <a:ext cx="3380284" cy="2885380"/>
          </a:xfrm>
          <a:prstGeom prst="roundRect">
            <a:avLst>
              <a:gd name="adj" fmla="val 3411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1604" y="2218630"/>
            <a:ext cx="110757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Measures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7271" y="2665611"/>
            <a:ext cx="2951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00"/>
              </a:lnSpc>
              <a:buNone/>
            </a:pPr>
            <a:r>
              <a:rPr sz="20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المقاييس</a:t>
            </a:r>
            <a:endParaRPr sz="2000" dirty="0" lang="ar-EG"/>
          </a:p>
        </p:txBody>
      </p:sp>
      <p:sp>
        <p:nvSpPr>
          <p:cNvPr id="7" name="Shape 5"/>
          <p:cNvSpPr/>
          <p:nvPr/>
        </p:nvSpPr>
        <p:spPr>
          <a:xfrm>
            <a:off x="1073249" y="3097411"/>
            <a:ext cx="2865934" cy="6350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8" name="Text 6"/>
          <p:cNvSpPr/>
          <p:nvPr/>
        </p:nvSpPr>
        <p:spPr>
          <a:xfrm>
            <a:off x="1022449" y="3243461"/>
            <a:ext cx="12077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Central tendency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55639" y="3218061"/>
            <a:ext cx="168354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مقاييس النزعة المركزية</a:t>
            </a:r>
            <a:endParaRPr sz="1500" dirty="0" lang="ar-EG"/>
          </a:p>
        </p:txBody>
      </p:sp>
      <p:sp>
        <p:nvSpPr>
          <p:cNvPr id="10" name="Text 8"/>
          <p:cNvSpPr/>
          <p:nvPr/>
        </p:nvSpPr>
        <p:spPr>
          <a:xfrm>
            <a:off x="1621234" y="3884811"/>
            <a:ext cx="995363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Dispersion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16597" y="3859411"/>
            <a:ext cx="132258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مقاييس التشتت</a:t>
            </a:r>
            <a:endParaRPr sz="1500" dirty="0" lang="ar-EG"/>
          </a:p>
        </p:txBody>
      </p:sp>
      <p:sp>
        <p:nvSpPr>
          <p:cNvPr id="12" name="Shape 10"/>
          <p:cNvSpPr/>
          <p:nvPr/>
        </p:nvSpPr>
        <p:spPr>
          <a:xfrm>
            <a:off x="4405908" y="1961455"/>
            <a:ext cx="3380284" cy="2885380"/>
          </a:xfrm>
          <a:prstGeom prst="roundRect">
            <a:avLst>
              <a:gd name="adj" fmla="val 3411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4758" y="2218630"/>
            <a:ext cx="8942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Graphs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7105" y="2665611"/>
            <a:ext cx="2951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00"/>
              </a:lnSpc>
              <a:buNone/>
            </a:pPr>
            <a:r>
              <a:rPr sz="20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الرسوم البيانية</a:t>
            </a:r>
            <a:endParaRPr sz="2000" dirty="0" lang="ar-EG"/>
          </a:p>
        </p:txBody>
      </p:sp>
      <p:sp>
        <p:nvSpPr>
          <p:cNvPr id="15" name="Shape 13"/>
          <p:cNvSpPr/>
          <p:nvPr/>
        </p:nvSpPr>
        <p:spPr>
          <a:xfrm>
            <a:off x="4663083" y="3097411"/>
            <a:ext cx="2865934" cy="6350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16" name="Text 14"/>
          <p:cNvSpPr/>
          <p:nvPr/>
        </p:nvSpPr>
        <p:spPr>
          <a:xfrm>
            <a:off x="5430460" y="3243461"/>
            <a:ext cx="886897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7357" y="3218061"/>
            <a:ext cx="1211659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الأعمدة البيانية</a:t>
            </a:r>
            <a:endParaRPr sz="1500" dirty="0" lang="ar-EG"/>
          </a:p>
        </p:txBody>
      </p:sp>
      <p:sp>
        <p:nvSpPr>
          <p:cNvPr id="18" name="Text 16"/>
          <p:cNvSpPr/>
          <p:nvPr/>
        </p:nvSpPr>
        <p:spPr>
          <a:xfrm>
            <a:off x="5519341" y="3608586"/>
            <a:ext cx="861417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Pie Chart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0758" y="3583186"/>
            <a:ext cx="1148259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الدائرة البيانية</a:t>
            </a:r>
            <a:endParaRPr sz="1500" dirty="0" lang="ar-EG"/>
          </a:p>
        </p:txBody>
      </p:sp>
      <p:sp>
        <p:nvSpPr>
          <p:cNvPr id="20" name="Text 18"/>
          <p:cNvSpPr/>
          <p:nvPr/>
        </p:nvSpPr>
        <p:spPr>
          <a:xfrm>
            <a:off x="5227975" y="3973711"/>
            <a:ext cx="962382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Histogram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357" y="3948311"/>
            <a:ext cx="1338659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المدرج التكراري</a:t>
            </a:r>
            <a:endParaRPr sz="1500" dirty="0" lang="ar-EG"/>
          </a:p>
        </p:txBody>
      </p:sp>
      <p:sp>
        <p:nvSpPr>
          <p:cNvPr id="22" name="Text 20"/>
          <p:cNvSpPr/>
          <p:nvPr/>
        </p:nvSpPr>
        <p:spPr>
          <a:xfrm>
            <a:off x="5355153" y="4338836"/>
            <a:ext cx="766048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Box Plot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1202" y="4313436"/>
            <a:ext cx="140781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الرسم الصندوقي</a:t>
            </a:r>
            <a:endParaRPr sz="1500" dirty="0" lang="ar-EG"/>
          </a:p>
        </p:txBody>
      </p:sp>
      <p:sp>
        <p:nvSpPr>
          <p:cNvPr id="24" name="Shape 22"/>
          <p:cNvSpPr/>
          <p:nvPr/>
        </p:nvSpPr>
        <p:spPr>
          <a:xfrm>
            <a:off x="7995741" y="1961455"/>
            <a:ext cx="3380284" cy="2885380"/>
          </a:xfrm>
          <a:prstGeom prst="roundRect">
            <a:avLst>
              <a:gd name="adj" fmla="val 3411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24591" y="2218630"/>
            <a:ext cx="8942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Tables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66938" y="2665611"/>
            <a:ext cx="29519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00"/>
              </a:lnSpc>
              <a:buNone/>
            </a:pPr>
            <a:r>
              <a:rPr sz="20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الجداول</a:t>
            </a:r>
            <a:endParaRPr sz="2000" dirty="0" lang="ar-EG"/>
          </a:p>
        </p:txBody>
      </p:sp>
      <p:sp>
        <p:nvSpPr>
          <p:cNvPr id="27" name="Shape 25"/>
          <p:cNvSpPr/>
          <p:nvPr/>
        </p:nvSpPr>
        <p:spPr>
          <a:xfrm>
            <a:off x="8252916" y="3097411"/>
            <a:ext cx="2865934" cy="6350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28" name="Text 26"/>
          <p:cNvSpPr/>
          <p:nvPr/>
        </p:nvSpPr>
        <p:spPr>
          <a:xfrm>
            <a:off x="8197076" y="3243461"/>
            <a:ext cx="1554837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Frequency Table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51913" y="3218061"/>
            <a:ext cx="1366937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الجدول التكراري</a:t>
            </a:r>
            <a:endParaRPr sz="1500" dirty="0" lang="ar-EG"/>
          </a:p>
        </p:txBody>
      </p:sp>
      <p:sp>
        <p:nvSpPr>
          <p:cNvPr id="30" name="Text 28"/>
          <p:cNvSpPr/>
          <p:nvPr/>
        </p:nvSpPr>
        <p:spPr>
          <a:xfrm>
            <a:off x="8226623" y="3608586"/>
            <a:ext cx="1512094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Crosstabs Table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38717" y="3583186"/>
            <a:ext cx="1380133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الجدول المتقاطع</a:t>
            </a:r>
            <a:endParaRPr sz="1500" dirty="0" lang="ar-EG"/>
          </a:p>
        </p:txBody>
      </p:sp>
      <p:sp>
        <p:nvSpPr>
          <p:cNvPr id="32" name="Text 30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5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75"/>
              </a:lnSpc>
              <a:buNone/>
            </a:pPr>
            <a:r>
              <a:rPr sz="1196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2</a:t>
            </a:r>
            <a:endParaRPr sz="1196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4049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062"/>
              </a:lnSpc>
              <a:buNone/>
            </a:pPr>
            <a:r>
              <a:rPr sz="3532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بيانات 10 مدرسين في مدرسة ما</a:t>
            </a:r>
            <a:endParaRPr sz="3532" dirty="0" lang="ar-EG"/>
          </a:p>
        </p:txBody>
      </p:sp>
      <p:sp>
        <p:nvSpPr>
          <p:cNvPr id="4" name="Shape 2"/>
          <p:cNvSpPr/>
          <p:nvPr/>
        </p:nvSpPr>
        <p:spPr>
          <a:xfrm>
            <a:off x="812800" y="1894880"/>
            <a:ext cx="3911600" cy="3393083"/>
          </a:xfrm>
          <a:prstGeom prst="roundRect">
            <a:avLst>
              <a:gd name="adj" fmla="val 2994"/>
            </a:avLst>
          </a:prstGeom>
          <a:solidFill>
            <a:srgbClr val="FBEBD0"/>
          </a:solidFill>
          <a:ln/>
        </p:spPr>
      </p:sp>
      <p:sp>
        <p:nvSpPr>
          <p:cNvPr id="5" name="Text 3"/>
          <p:cNvSpPr/>
          <p:nvPr/>
        </p:nvSpPr>
        <p:spPr>
          <a:xfrm>
            <a:off x="937768" y="2123480"/>
            <a:ext cx="35580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50"/>
              </a:lnSpc>
              <a:buNone/>
            </a:pPr>
            <a:r>
              <a:rPr sz="18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المطلوب</a:t>
            </a:r>
            <a:endParaRPr sz="1800" dirty="0" lang="ar-EG"/>
          </a:p>
        </p:txBody>
      </p:sp>
      <p:sp>
        <p:nvSpPr>
          <p:cNvPr id="6" name="Text 4"/>
          <p:cNvSpPr/>
          <p:nvPr/>
        </p:nvSpPr>
        <p:spPr>
          <a:xfrm>
            <a:off x="950722" y="2536230"/>
            <a:ext cx="311327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أدخل البيانات مستخدمًا أكواد النوع</a:t>
            </a:r>
            <a:endParaRPr sz="1400" dirty="0" lang="ar-EG"/>
          </a:p>
        </p:txBody>
      </p:sp>
      <p:sp>
        <p:nvSpPr>
          <p:cNvPr id="7" name="Text 5"/>
          <p:cNvSpPr/>
          <p:nvPr/>
        </p:nvSpPr>
        <p:spPr>
          <a:xfrm>
            <a:off x="1914823" y="2857500"/>
            <a:ext cx="2149177" cy="274241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 = Male · 2 = Female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91000" y="25362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0722" y="3258741"/>
            <a:ext cx="31132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أوجد الجدول التكراري Frequency لمتغير الراتب</a:t>
            </a:r>
            <a:endParaRPr sz="1400" dirty="0" lang="ar-EG"/>
          </a:p>
        </p:txBody>
      </p:sp>
      <p:sp>
        <p:nvSpPr>
          <p:cNvPr id="10" name="Text 8"/>
          <p:cNvSpPr/>
          <p:nvPr/>
        </p:nvSpPr>
        <p:spPr>
          <a:xfrm>
            <a:off x="4191000" y="325874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722" y="3901281"/>
            <a:ext cx="31132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أوجد الجدول المتقاطع Crosstabs بين المتغيرين النوع والمادة</a:t>
            </a:r>
            <a:endParaRPr sz="1400" dirty="0" lang="ar-EG"/>
          </a:p>
        </p:txBody>
      </p:sp>
      <p:sp>
        <p:nvSpPr>
          <p:cNvPr id="12" name="Text 10"/>
          <p:cNvSpPr/>
          <p:nvPr/>
        </p:nvSpPr>
        <p:spPr>
          <a:xfrm>
            <a:off x="4191000" y="390128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722" y="4543822"/>
            <a:ext cx="31132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خذ لقطة واضحة لنافذتي Data View و Variable View وللنتائج</a:t>
            </a:r>
            <a:endParaRPr sz="1400" dirty="0" lang="ar-EG"/>
          </a:p>
        </p:txBody>
      </p:sp>
      <p:sp>
        <p:nvSpPr>
          <p:cNvPr id="14" name="Text 12"/>
          <p:cNvSpPr/>
          <p:nvPr/>
        </p:nvSpPr>
        <p:spPr>
          <a:xfrm>
            <a:off x="4191000" y="454382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894880"/>
            <a:ext cx="6350000" cy="4007048"/>
          </a:xfrm>
          <a:custGeom>
            <a:avLst/>
            <a:gdLst/>
            <a:ahLst/>
            <a:cxnLst/>
            <a:rect l="l" t="t" r="r" b="b"/>
            <a:pathLst>
              <a:path w="6350000" h="4007048">
                <a:moveTo>
                  <a:pt x="6299200" y="0"/>
                </a:moveTo>
                <a:lnTo>
                  <a:pt x="6299200" y="0"/>
                </a:lnTo>
                <a:arcTo hR="50800" wR="50800" stAng="16200000" swAng="5400000"/>
                <a:lnTo>
                  <a:pt x="6350000" y="3956248"/>
                </a:lnTo>
                <a:arcTo hR="50800" wR="50800" stAng="0" swAng="5400000"/>
                <a:lnTo>
                  <a:pt x="50800" y="4007048"/>
                </a:lnTo>
                <a:arcTo hR="50800" wR="50800" stAng="5400000" swAng="5400000"/>
                <a:lnTo>
                  <a:pt x="0" y="3956248"/>
                </a:lnTo>
                <a:arcTo hR="44450" wR="50800" stAng="10800000" swAng="-5400000"/>
                <a:lnTo>
                  <a:pt x="6299200" y="4000698"/>
                </a:lnTo>
                <a:arcTo hR="44450" wR="44450" stAng="5400000" swAng="-5400000"/>
                <a:lnTo>
                  <a:pt x="6343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1894880"/>
            <a:ext cx="6350000" cy="4007048"/>
          </a:xfrm>
          <a:custGeom>
            <a:avLst/>
            <a:gdLst/>
            <a:ahLst/>
            <a:cxnLst/>
            <a:rect l="l" t="t" r="r" b="b"/>
            <a:pathLst>
              <a:path w="6350000" h="4007048">
                <a:moveTo>
                  <a:pt x="50800" y="4007048"/>
                </a:moveTo>
                <a:lnTo>
                  <a:pt x="50800" y="4007048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99200" y="0"/>
                </a:lnTo>
                <a:arcTo hR="50800" wR="50800" stAng="16200000" swAng="5400000"/>
                <a:lnTo>
                  <a:pt x="6350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3956248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1900" y="1907580"/>
          <a:ext cx="6330950" cy="3987998"/>
        </p:xfrm>
        <a:graphic>
          <a:graphicData uri="http://schemas.openxmlformats.org/drawingml/2006/table">
            <a:tbl>
              <a:tblPr/>
              <a:tblGrid>
                <a:gridCol w="1139571"/>
                <a:gridCol w="823024"/>
                <a:gridCol w="1456119"/>
                <a:gridCol w="1139571"/>
                <a:gridCol w="1772666"/>
              </a:tblGrid>
              <a:tr h="362545"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النوع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العمر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المادة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الراتب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الرقم التعريفي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2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تعريف المتغيرات في Variable View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5975" y="1910655"/>
            <a:ext cx="10560050" cy="2432050"/>
          </a:xfrm>
          <a:prstGeom prst="roundRect">
            <a:avLst>
              <a:gd name="adj" fmla="val 4047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5" name="Image 0" descr="نافذة Variable View للمتغيرات id و salary و subject و age و gender">    </p:cNvPr>
          <p:cNvPicPr>
            <a:picLocks noChangeAspect="1"/>
          </p:cNvPicPr>
          <p:nvPr/>
        </p:nvPicPr>
        <p:blipFill>
          <a:blip r:embed="rId1"/>
          <a:srcRect l="-13" r="-13" t="0" b="0"/>
          <a:stretch/>
        </p:blipFill>
        <p:spPr>
          <a:xfrm>
            <a:off x="920750" y="2015430"/>
            <a:ext cx="10350500" cy="2222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6074" y="4603055"/>
            <a:ext cx="3380284" cy="826691"/>
          </a:xfrm>
          <a:prstGeom prst="roundRect">
            <a:avLst>
              <a:gd name="adj" fmla="val 1190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6249" y="4758630"/>
            <a:ext cx="140771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Measure = Scale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480965" y="4850011"/>
            <a:ext cx="153441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salary · age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05908" y="4603055"/>
            <a:ext cx="3380284" cy="826691"/>
          </a:xfrm>
          <a:prstGeom prst="roundRect">
            <a:avLst>
              <a:gd name="adj" fmla="val 1190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26971" y="4758630"/>
            <a:ext cx="205698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Measure = Nominal وأكواده في خانة Values</a:t>
            </a:r>
            <a:endParaRPr sz="1400" dirty="0" lang="ar-EG"/>
          </a:p>
        </p:txBody>
      </p:sp>
      <p:sp>
        <p:nvSpPr>
          <p:cNvPr id="11" name="Text 8"/>
          <p:cNvSpPr/>
          <p:nvPr/>
        </p:nvSpPr>
        <p:spPr>
          <a:xfrm>
            <a:off x="6710958" y="4850011"/>
            <a:ext cx="8942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gender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995741" y="4603055"/>
            <a:ext cx="3380284" cy="826691"/>
          </a:xfrm>
          <a:prstGeom prst="roundRect">
            <a:avLst>
              <a:gd name="adj" fmla="val 1190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20004" y="4758630"/>
            <a:ext cx="194712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Type = String لأن قيمه نصية</a:t>
            </a:r>
            <a:endParaRPr sz="1400" dirty="0" lang="ar-EG"/>
          </a:p>
        </p:txBody>
      </p:sp>
      <p:sp>
        <p:nvSpPr>
          <p:cNvPr id="14" name="Text 11"/>
          <p:cNvSpPr/>
          <p:nvPr/>
        </p:nvSpPr>
        <p:spPr>
          <a:xfrm>
            <a:off x="10194131" y="4850011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subject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2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إدخال البيانات في Data View</a:t>
            </a:r>
            <a:endParaRPr sz="3600" dirty="0" lang="ar-EG"/>
          </a:p>
        </p:txBody>
      </p:sp>
      <p:sp>
        <p:nvSpPr>
          <p:cNvPr id="4" name="Text 2"/>
          <p:cNvSpPr/>
          <p:nvPr/>
        </p:nvSpPr>
        <p:spPr>
          <a:xfrm>
            <a:off x="656209" y="1958280"/>
            <a:ext cx="53762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كل صف مدرس، وكل عمود متغير</a:t>
            </a:r>
            <a:endParaRPr sz="1600" dirty="0" lang="ar-EG"/>
          </a:p>
        </p:txBody>
      </p:sp>
      <p:sp>
        <p:nvSpPr>
          <p:cNvPr id="5" name="Shape 3"/>
          <p:cNvSpPr/>
          <p:nvPr/>
        </p:nvSpPr>
        <p:spPr>
          <a:xfrm>
            <a:off x="815975" y="2444055"/>
            <a:ext cx="5213350" cy="643830"/>
          </a:xfrm>
          <a:prstGeom prst="roundRect">
            <a:avLst>
              <a:gd name="adj" fmla="val 15287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2046" y="2637036"/>
            <a:ext cx="394504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يُدخل بالأكواد 1 و 2 بدلًا من الكلمات</a:t>
            </a:r>
            <a:endParaRPr sz="1400" dirty="0" lang="ar-EG"/>
          </a:p>
        </p:txBody>
      </p:sp>
      <p:sp>
        <p:nvSpPr>
          <p:cNvPr id="7" name="Text 5"/>
          <p:cNvSpPr/>
          <p:nvPr/>
        </p:nvSpPr>
        <p:spPr>
          <a:xfrm>
            <a:off x="4954091" y="2599630"/>
            <a:ext cx="8942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gender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3272036"/>
            <a:ext cx="5213350" cy="643830"/>
          </a:xfrm>
          <a:prstGeom prst="roundRect">
            <a:avLst>
              <a:gd name="adj" fmla="val 15287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5246" y="3465016"/>
            <a:ext cx="383518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يُكتب كنص لأن نوعه String</a:t>
            </a:r>
            <a:endParaRPr sz="1400" dirty="0" lang="ar-EG"/>
          </a:p>
        </p:txBody>
      </p:sp>
      <p:sp>
        <p:nvSpPr>
          <p:cNvPr id="10" name="Text 8"/>
          <p:cNvSpPr/>
          <p:nvPr/>
        </p:nvSpPr>
        <p:spPr>
          <a:xfrm>
            <a:off x="4847431" y="3427611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subject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40475" y="1961455"/>
            <a:ext cx="5035550" cy="3492500"/>
          </a:xfrm>
          <a:prstGeom prst="roundRect">
            <a:avLst>
              <a:gd name="adj" fmla="val 2818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2" name="Image 0" descr="نافذة Data View وفيها بيانات المدرسين العشرة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6445250" y="2066230"/>
            <a:ext cx="4826000" cy="32829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2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الجدول التكراري لمتغير الراتب</a:t>
            </a:r>
            <a:endParaRPr sz="3600" dirty="0" lang="ar-EG"/>
          </a:p>
        </p:txBody>
      </p:sp>
      <p:sp>
        <p:nvSpPr>
          <p:cNvPr id="4" name="Text 2"/>
          <p:cNvSpPr/>
          <p:nvPr/>
        </p:nvSpPr>
        <p:spPr>
          <a:xfrm>
            <a:off x="1571526" y="1958280"/>
            <a:ext cx="4460974" cy="381000"/>
          </a:xfrm>
          <a:prstGeom prst="roundRect">
            <a:avLst>
              <a:gd name="adj" fmla="val 13333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 → Descriptive Statistics → Frequencies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6209" y="2517080"/>
            <a:ext cx="537629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ثم اختر متغير الراتب salary</a:t>
            </a:r>
            <a:endParaRPr sz="1500" dirty="0" lang="ar-EG"/>
          </a:p>
        </p:txBody>
      </p:sp>
      <p:sp>
        <p:nvSpPr>
          <p:cNvPr id="6" name="Shape 4"/>
          <p:cNvSpPr/>
          <p:nvPr/>
        </p:nvSpPr>
        <p:spPr>
          <a:xfrm>
            <a:off x="815975" y="2974280"/>
            <a:ext cx="5213350" cy="924520"/>
          </a:xfrm>
          <a:prstGeom prst="roundRect">
            <a:avLst>
              <a:gd name="adj" fmla="val 1064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1408" y="3155255"/>
            <a:ext cx="499694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00"/>
              </a:lnSpc>
              <a:buNone/>
            </a:pPr>
            <a:r>
              <a:rPr sz="1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جدول Statistics</a:t>
            </a:r>
            <a:endParaRPr sz="1600" dirty="0" lang="ar-EG"/>
          </a:p>
        </p:txBody>
      </p:sp>
      <p:sp>
        <p:nvSpPr>
          <p:cNvPr id="8" name="Text 6"/>
          <p:cNvSpPr/>
          <p:nvPr/>
        </p:nvSpPr>
        <p:spPr>
          <a:xfrm>
            <a:off x="851408" y="3460055"/>
            <a:ext cx="499694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عدد القيم الصالحة Valid = 10 والمفقودة Missing = 0</a:t>
            </a:r>
            <a:endParaRPr sz="1400" dirty="0" lang="ar-EG"/>
          </a:p>
        </p:txBody>
      </p:sp>
      <p:sp>
        <p:nvSpPr>
          <p:cNvPr id="9" name="Shape 7"/>
          <p:cNvSpPr/>
          <p:nvPr/>
        </p:nvSpPr>
        <p:spPr>
          <a:xfrm>
            <a:off x="815975" y="4082951"/>
            <a:ext cx="5213350" cy="1182291"/>
          </a:xfrm>
          <a:prstGeom prst="roundRect">
            <a:avLst>
              <a:gd name="adj" fmla="val 832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1408" y="4263926"/>
            <a:ext cx="499694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00"/>
              </a:lnSpc>
              <a:buNone/>
            </a:pPr>
            <a:r>
              <a:rPr sz="1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جدول salary</a:t>
            </a:r>
            <a:endParaRPr sz="1600" dirty="0" lang="ar-EG"/>
          </a:p>
        </p:txBody>
      </p:sp>
      <p:sp>
        <p:nvSpPr>
          <p:cNvPr id="11" name="Text 9"/>
          <p:cNvSpPr/>
          <p:nvPr/>
        </p:nvSpPr>
        <p:spPr>
          <a:xfrm>
            <a:off x="851408" y="4568726"/>
            <a:ext cx="499694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لكل قيمة Frequency و Percent و Valid Percent و Cumulative Percent</a:t>
            </a:r>
            <a:endParaRPr sz="1400" dirty="0" lang="ar-EG"/>
          </a:p>
        </p:txBody>
      </p:sp>
      <p:sp>
        <p:nvSpPr>
          <p:cNvPr id="12" name="Shape 10"/>
          <p:cNvSpPr/>
          <p:nvPr/>
        </p:nvSpPr>
        <p:spPr>
          <a:xfrm>
            <a:off x="6340475" y="1961455"/>
            <a:ext cx="5035550" cy="3524250"/>
          </a:xfrm>
          <a:prstGeom prst="roundRect">
            <a:avLst>
              <a:gd name="adj" fmla="val 2793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3" name="Image 0" descr="مخرجات Frequencies: جدول Statistics وجدول التكرارات لمتغير salary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6445250" y="2066230"/>
            <a:ext cx="4826000" cy="3314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2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الجدول المتقاطع بين النوع والمادة</a:t>
            </a:r>
            <a:endParaRPr sz="3600" dirty="0" lang="ar-EG"/>
          </a:p>
        </p:txBody>
      </p:sp>
      <p:sp>
        <p:nvSpPr>
          <p:cNvPr id="4" name="Text 2"/>
          <p:cNvSpPr/>
          <p:nvPr/>
        </p:nvSpPr>
        <p:spPr>
          <a:xfrm>
            <a:off x="1754485" y="1958280"/>
            <a:ext cx="4278015" cy="381000"/>
          </a:xfrm>
          <a:prstGeom prst="roundRect">
            <a:avLst>
              <a:gd name="adj" fmla="val 13333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 → Descriptive Statistics → Crosstabs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2520255"/>
            <a:ext cx="5213350" cy="643830"/>
          </a:xfrm>
          <a:prstGeom prst="roundRect">
            <a:avLst>
              <a:gd name="adj" fmla="val 15287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5643" y="2713236"/>
            <a:ext cx="416486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متغير النوع Gender في الصفوف</a:t>
            </a:r>
            <a:endParaRPr sz="1400" dirty="0" lang="ar-EG"/>
          </a:p>
        </p:txBody>
      </p:sp>
      <p:sp>
        <p:nvSpPr>
          <p:cNvPr id="7" name="Text 5"/>
          <p:cNvSpPr/>
          <p:nvPr/>
        </p:nvSpPr>
        <p:spPr>
          <a:xfrm>
            <a:off x="5167511" y="2675830"/>
            <a:ext cx="68083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3348236"/>
            <a:ext cx="5213350" cy="643830"/>
          </a:xfrm>
          <a:prstGeom prst="roundRect">
            <a:avLst>
              <a:gd name="adj" fmla="val 15287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5246" y="3541216"/>
            <a:ext cx="383518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متغير المادة Subject في الأعمدة</a:t>
            </a:r>
            <a:endParaRPr sz="1400" dirty="0" lang="ar-EG"/>
          </a:p>
        </p:txBody>
      </p:sp>
      <p:sp>
        <p:nvSpPr>
          <p:cNvPr id="10" name="Text 8"/>
          <p:cNvSpPr/>
          <p:nvPr/>
        </p:nvSpPr>
        <p:spPr>
          <a:xfrm>
            <a:off x="4847431" y="3503811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Columns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5975" y="4176216"/>
            <a:ext cx="5213350" cy="1182291"/>
          </a:xfrm>
          <a:prstGeom prst="roundRect">
            <a:avLst>
              <a:gd name="adj" fmla="val 832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1408" y="4357191"/>
            <a:ext cx="499694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00"/>
              </a:lnSpc>
              <a:buNone/>
            </a:pPr>
            <a:r>
              <a:rPr sz="1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النتيجة</a:t>
            </a:r>
            <a:endParaRPr sz="1600" dirty="0" lang="ar-EG"/>
          </a:p>
        </p:txBody>
      </p:sp>
      <p:sp>
        <p:nvSpPr>
          <p:cNvPr id="13" name="Text 11"/>
          <p:cNvSpPr/>
          <p:nvPr/>
        </p:nvSpPr>
        <p:spPr>
          <a:xfrm>
            <a:off x="851408" y="4661991"/>
            <a:ext cx="499694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الذكور الأربعة يدرّسون Mathematics والإناث 3 في English و3 في Science</a:t>
            </a:r>
            <a:endParaRPr sz="1400" dirty="0" lang="ar-EG"/>
          </a:p>
        </p:txBody>
      </p:sp>
      <p:sp>
        <p:nvSpPr>
          <p:cNvPr id="14" name="Shape 12"/>
          <p:cNvSpPr/>
          <p:nvPr/>
        </p:nvSpPr>
        <p:spPr>
          <a:xfrm>
            <a:off x="6340475" y="1961455"/>
            <a:ext cx="5035550" cy="2120900"/>
          </a:xfrm>
          <a:prstGeom prst="roundRect">
            <a:avLst>
              <a:gd name="adj" fmla="val 4641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5" name="Image 0" descr="جدول Gender * Subject Crosstabulation: الذكور 4 في Mathematics، والإناث 3 في English و3 في Science">    </p:cNvPr>
          <p:cNvPicPr>
            <a:picLocks noChangeAspect="1"/>
          </p:cNvPicPr>
          <p:nvPr/>
        </p:nvPicPr>
        <p:blipFill>
          <a:blip r:embed="rId1"/>
          <a:srcRect l="-22" r="-22" t="0" b="0"/>
          <a:stretch/>
        </p:blipFill>
        <p:spPr>
          <a:xfrm>
            <a:off x="6445250" y="2066230"/>
            <a:ext cx="4826000" cy="19113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082800"/>
            <a:ext cx="457200" cy="269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2500" y="179576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2222500" y="3472160"/>
            <a:ext cx="91567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7200"/>
              </a:lnSpc>
              <a:buNone/>
            </a:pPr>
            <a:r>
              <a:rPr sz="6000" b="1" dirty="0" lang="ar-EG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الرسوم البيانية</a:t>
            </a:r>
            <a:endParaRPr sz="6000" dirty="0" lang="ar-EG"/>
          </a:p>
        </p:txBody>
      </p:sp>
      <p:sp>
        <p:nvSpPr>
          <p:cNvPr id="5" name="Text 2"/>
          <p:cNvSpPr/>
          <p:nvPr/>
        </p:nvSpPr>
        <p:spPr>
          <a:xfrm>
            <a:off x="2222500" y="453896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20"/>
              </a:lnSpc>
              <a:buNone/>
            </a:pPr>
            <a:r>
              <a:rPr sz="18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الأعمدة البيانية والدائرة البيانية والمدرج التكراري والرسم الصندوقي</a:t>
            </a:r>
            <a:endParaRPr sz="1800" dirty="0" lang="ar-EG"/>
          </a:p>
        </p:txBody>
      </p:sp>
      <p:sp>
        <p:nvSpPr>
          <p:cNvPr id="6" name="Text 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الرسوم البيانية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أربعة رسوم ومكان كل منها في البرنامج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5975" y="1961455"/>
            <a:ext cx="5175250" cy="1482030"/>
          </a:xfrm>
          <a:prstGeom prst="roundRect">
            <a:avLst>
              <a:gd name="adj" fmla="val 6641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86308" y="2175371"/>
            <a:ext cx="17064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00"/>
              </a:lnSpc>
              <a:buNone/>
            </a:pPr>
            <a:r>
              <a:rPr sz="20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الدائرة البيانية</a:t>
            </a:r>
            <a:endParaRPr sz="2000" dirty="0" lang="ar-EG"/>
          </a:p>
        </p:txBody>
      </p:sp>
      <p:sp>
        <p:nvSpPr>
          <p:cNvPr id="6" name="Text 4"/>
          <p:cNvSpPr/>
          <p:nvPr/>
        </p:nvSpPr>
        <p:spPr>
          <a:xfrm>
            <a:off x="4519712" y="2167830"/>
            <a:ext cx="121433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Pie Chart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3150" y="2627511"/>
            <a:ext cx="4660900" cy="609600"/>
          </a:xfrm>
          <a:prstGeom prst="roundRect">
            <a:avLst>
              <a:gd name="adj" fmla="val 8333"/>
            </a:avLst>
          </a:prstGeom>
          <a:solidFill>
            <a:srgbClr val="DCE7F5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 → Descriptive Statistics → Frequencies → Charts → Pie chart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00775" y="1961455"/>
            <a:ext cx="5175250" cy="1482030"/>
          </a:xfrm>
          <a:prstGeom prst="roundRect">
            <a:avLst>
              <a:gd name="adj" fmla="val 6641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69786" y="2175371"/>
            <a:ext cx="18077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00"/>
              </a:lnSpc>
              <a:buNone/>
            </a:pPr>
            <a:r>
              <a:rPr sz="20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الأعمدة البيانية</a:t>
            </a:r>
            <a:endParaRPr sz="2000" dirty="0" lang="ar-EG"/>
          </a:p>
        </p:txBody>
      </p:sp>
      <p:sp>
        <p:nvSpPr>
          <p:cNvPr id="10" name="Text 8"/>
          <p:cNvSpPr/>
          <p:nvPr/>
        </p:nvSpPr>
        <p:spPr>
          <a:xfrm>
            <a:off x="9904512" y="2167830"/>
            <a:ext cx="121433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Bar Chart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57950" y="2627511"/>
            <a:ext cx="4660900" cy="609600"/>
          </a:xfrm>
          <a:prstGeom prst="roundRect">
            <a:avLst>
              <a:gd name="adj" fmla="val 8333"/>
            </a:avLst>
          </a:prstGeom>
          <a:solidFill>
            <a:srgbClr val="DCE7F5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 → Descriptive Statistics → Frequencies → Charts → Bar chart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3653036"/>
            <a:ext cx="5175250" cy="1482030"/>
          </a:xfrm>
          <a:prstGeom prst="roundRect">
            <a:avLst>
              <a:gd name="adj" fmla="val 6641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896" y="3866952"/>
            <a:ext cx="2121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00"/>
              </a:lnSpc>
              <a:buNone/>
            </a:pPr>
            <a:r>
              <a:rPr sz="20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الرسم الصندوقي</a:t>
            </a:r>
            <a:endParaRPr sz="2000" dirty="0" lang="ar-EG"/>
          </a:p>
        </p:txBody>
      </p:sp>
      <p:sp>
        <p:nvSpPr>
          <p:cNvPr id="14" name="Text 12"/>
          <p:cNvSpPr/>
          <p:nvPr/>
        </p:nvSpPr>
        <p:spPr>
          <a:xfrm>
            <a:off x="4626471" y="3859411"/>
            <a:ext cx="110757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Box Plot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53494" y="4319091"/>
            <a:ext cx="3180556" cy="381000"/>
          </a:xfrm>
          <a:prstGeom prst="roundRect">
            <a:avLst>
              <a:gd name="adj" fmla="val 13333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Graphs → Chart Builder → Boxplot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00775" y="3653036"/>
            <a:ext cx="5175250" cy="1482030"/>
          </a:xfrm>
          <a:prstGeom prst="roundRect">
            <a:avLst>
              <a:gd name="adj" fmla="val 6641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66546" y="3866952"/>
            <a:ext cx="20109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00"/>
              </a:lnSpc>
              <a:buNone/>
            </a:pPr>
            <a:r>
              <a:rPr sz="20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المدرج التكراري</a:t>
            </a:r>
            <a:endParaRPr sz="2000" dirty="0" lang="ar-EG"/>
          </a:p>
        </p:txBody>
      </p:sp>
      <p:sp>
        <p:nvSpPr>
          <p:cNvPr id="18" name="Text 16"/>
          <p:cNvSpPr/>
          <p:nvPr/>
        </p:nvSpPr>
        <p:spPr>
          <a:xfrm>
            <a:off x="9904512" y="3859411"/>
            <a:ext cx="121433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Histogram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7950" y="4319091"/>
            <a:ext cx="4660900" cy="609600"/>
          </a:xfrm>
          <a:prstGeom prst="roundRect">
            <a:avLst>
              <a:gd name="adj" fmla="val 8333"/>
            </a:avLst>
          </a:prstGeom>
          <a:solidFill>
            <a:srgbClr val="DCE7F5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 → Descriptive Statistics → Frequencies → Charts → Histogram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5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75"/>
              </a:lnSpc>
              <a:buNone/>
            </a:pPr>
            <a:r>
              <a:rPr sz="1196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3</a:t>
            </a:r>
            <a:endParaRPr sz="1196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4049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062"/>
              </a:lnSpc>
              <a:buNone/>
            </a:pPr>
            <a:r>
              <a:rPr sz="3532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الأعمدة والدائرة البيانية لمتغير المادة</a:t>
            </a:r>
            <a:endParaRPr sz="3532" dirty="0" lang="ar-EG"/>
          </a:p>
        </p:txBody>
      </p:sp>
      <p:sp>
        <p:nvSpPr>
          <p:cNvPr id="4" name="Shape 2"/>
          <p:cNvSpPr/>
          <p:nvPr/>
        </p:nvSpPr>
        <p:spPr>
          <a:xfrm>
            <a:off x="812800" y="1894880"/>
            <a:ext cx="3911600" cy="3182342"/>
          </a:xfrm>
          <a:prstGeom prst="roundRect">
            <a:avLst>
              <a:gd name="adj" fmla="val 3193"/>
            </a:avLst>
          </a:prstGeom>
          <a:solidFill>
            <a:srgbClr val="FBEBD0"/>
          </a:solidFill>
          <a:ln/>
        </p:spPr>
      </p:sp>
      <p:sp>
        <p:nvSpPr>
          <p:cNvPr id="5" name="Text 3"/>
          <p:cNvSpPr/>
          <p:nvPr/>
        </p:nvSpPr>
        <p:spPr>
          <a:xfrm>
            <a:off x="937768" y="2123480"/>
            <a:ext cx="35580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50"/>
              </a:lnSpc>
              <a:buNone/>
            </a:pPr>
            <a:r>
              <a:rPr sz="18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المطلوب</a:t>
            </a:r>
            <a:endParaRPr sz="1800" dirty="0" lang="ar-EG"/>
          </a:p>
        </p:txBody>
      </p:sp>
      <p:sp>
        <p:nvSpPr>
          <p:cNvPr id="6" name="Text 4"/>
          <p:cNvSpPr/>
          <p:nvPr/>
        </p:nvSpPr>
        <p:spPr>
          <a:xfrm>
            <a:off x="950722" y="2536230"/>
            <a:ext cx="311327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أدخل البيانات مستخدمًا أكواد النوع</a:t>
            </a:r>
            <a:endParaRPr sz="1400" dirty="0" lang="ar-EG"/>
          </a:p>
        </p:txBody>
      </p:sp>
      <p:sp>
        <p:nvSpPr>
          <p:cNvPr id="7" name="Text 5"/>
          <p:cNvSpPr/>
          <p:nvPr/>
        </p:nvSpPr>
        <p:spPr>
          <a:xfrm>
            <a:off x="1914823" y="2857500"/>
            <a:ext cx="2149177" cy="274241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 = Male · 2 = Female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91000" y="25362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0722" y="3258741"/>
            <a:ext cx="31132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ارسم أعمدة بيانية Bar chart لمتغير المادة</a:t>
            </a:r>
            <a:endParaRPr sz="1400" dirty="0" lang="ar-EG"/>
          </a:p>
        </p:txBody>
      </p:sp>
      <p:sp>
        <p:nvSpPr>
          <p:cNvPr id="10" name="Text 8"/>
          <p:cNvSpPr/>
          <p:nvPr/>
        </p:nvSpPr>
        <p:spPr>
          <a:xfrm>
            <a:off x="4191000" y="325874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901281"/>
            <a:ext cx="32512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ارسم دائرة بيانية Pie chart لمتغير المادة</a:t>
            </a:r>
            <a:endParaRPr sz="1400" dirty="0" lang="ar-EG"/>
          </a:p>
        </p:txBody>
      </p:sp>
      <p:sp>
        <p:nvSpPr>
          <p:cNvPr id="12" name="Text 10"/>
          <p:cNvSpPr/>
          <p:nvPr/>
        </p:nvSpPr>
        <p:spPr>
          <a:xfrm>
            <a:off x="4191000" y="390128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722" y="4333081"/>
            <a:ext cx="31132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خذ لقطة واضحة لنافذتي Data View و Variable View وللنتائج</a:t>
            </a:r>
            <a:endParaRPr sz="1400" dirty="0" lang="ar-EG"/>
          </a:p>
        </p:txBody>
      </p:sp>
      <p:sp>
        <p:nvSpPr>
          <p:cNvPr id="14" name="Text 12"/>
          <p:cNvSpPr/>
          <p:nvPr/>
        </p:nvSpPr>
        <p:spPr>
          <a:xfrm>
            <a:off x="4191000" y="433308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894880"/>
            <a:ext cx="6350000" cy="4007048"/>
          </a:xfrm>
          <a:custGeom>
            <a:avLst/>
            <a:gdLst/>
            <a:ahLst/>
            <a:cxnLst/>
            <a:rect l="l" t="t" r="r" b="b"/>
            <a:pathLst>
              <a:path w="6350000" h="4007048">
                <a:moveTo>
                  <a:pt x="6299200" y="0"/>
                </a:moveTo>
                <a:lnTo>
                  <a:pt x="6299200" y="0"/>
                </a:lnTo>
                <a:arcTo hR="50800" wR="50800" stAng="16200000" swAng="5400000"/>
                <a:lnTo>
                  <a:pt x="6350000" y="3956248"/>
                </a:lnTo>
                <a:arcTo hR="50800" wR="50800" stAng="0" swAng="5400000"/>
                <a:lnTo>
                  <a:pt x="50800" y="4007048"/>
                </a:lnTo>
                <a:arcTo hR="50800" wR="50800" stAng="5400000" swAng="5400000"/>
                <a:lnTo>
                  <a:pt x="0" y="3956248"/>
                </a:lnTo>
                <a:arcTo hR="44450" wR="50800" stAng="10800000" swAng="-5400000"/>
                <a:lnTo>
                  <a:pt x="6299200" y="4000698"/>
                </a:lnTo>
                <a:arcTo hR="44450" wR="44450" stAng="5400000" swAng="-5400000"/>
                <a:lnTo>
                  <a:pt x="6343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1894880"/>
            <a:ext cx="6350000" cy="4007048"/>
          </a:xfrm>
          <a:custGeom>
            <a:avLst/>
            <a:gdLst/>
            <a:ahLst/>
            <a:cxnLst/>
            <a:rect l="l" t="t" r="r" b="b"/>
            <a:pathLst>
              <a:path w="6350000" h="4007048">
                <a:moveTo>
                  <a:pt x="50800" y="4007048"/>
                </a:moveTo>
                <a:lnTo>
                  <a:pt x="50800" y="4007048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99200" y="0"/>
                </a:lnTo>
                <a:arcTo hR="50800" wR="50800" stAng="16200000" swAng="5400000"/>
                <a:lnTo>
                  <a:pt x="6350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3956248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1900" y="1907580"/>
          <a:ext cx="6330950" cy="3987998"/>
        </p:xfrm>
        <a:graphic>
          <a:graphicData uri="http://schemas.openxmlformats.org/drawingml/2006/table">
            <a:tbl>
              <a:tblPr/>
              <a:tblGrid>
                <a:gridCol w="1139571"/>
                <a:gridCol w="823024"/>
                <a:gridCol w="1456119"/>
                <a:gridCol w="1139571"/>
                <a:gridCol w="1772666"/>
              </a:tblGrid>
              <a:tr h="362545"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النوع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العمر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المادة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الراتب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الرقم التعريفي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3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الأعمدة البيانية لمتغير المادة</a:t>
            </a:r>
            <a:endParaRPr sz="3600" dirty="0" lang="ar-EG"/>
          </a:p>
        </p:txBody>
      </p:sp>
      <p:sp>
        <p:nvSpPr>
          <p:cNvPr id="4" name="Text 2"/>
          <p:cNvSpPr/>
          <p:nvPr/>
        </p:nvSpPr>
        <p:spPr>
          <a:xfrm>
            <a:off x="812800" y="1958280"/>
            <a:ext cx="4584700" cy="609600"/>
          </a:xfrm>
          <a:prstGeom prst="roundRect">
            <a:avLst>
              <a:gd name="adj" fmla="val 8333"/>
            </a:avLst>
          </a:prstGeom>
          <a:solidFill>
            <a:srgbClr val="DCE7F5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 → Descriptive Statistics → Frequencies → Charts → Bar chart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5259" y="2745680"/>
            <a:ext cx="472224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ثم اختر متغير المادة subject</a:t>
            </a:r>
            <a:endParaRPr sz="1500" dirty="0" lang="ar-EG"/>
          </a:p>
        </p:txBody>
      </p:sp>
      <p:sp>
        <p:nvSpPr>
          <p:cNvPr id="6" name="Shape 4"/>
          <p:cNvSpPr/>
          <p:nvPr/>
        </p:nvSpPr>
        <p:spPr>
          <a:xfrm>
            <a:off x="815975" y="3202880"/>
            <a:ext cx="4578350" cy="1300361"/>
          </a:xfrm>
          <a:prstGeom prst="roundRect">
            <a:avLst>
              <a:gd name="adj" fmla="val 7569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0458" y="3383855"/>
            <a:ext cx="434289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00"/>
              </a:lnSpc>
              <a:buNone/>
            </a:pPr>
            <a:r>
              <a:rPr sz="1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النتيجة</a:t>
            </a:r>
            <a:endParaRPr sz="1600" dirty="0" lang="ar-EG"/>
          </a:p>
        </p:txBody>
      </p:sp>
      <p:sp>
        <p:nvSpPr>
          <p:cNvPr id="8" name="Text 6"/>
          <p:cNvSpPr/>
          <p:nvPr/>
        </p:nvSpPr>
        <p:spPr>
          <a:xfrm>
            <a:off x="870458" y="3714055"/>
            <a:ext cx="434289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عمود لكل مادة، وارتفاعه يساوي التكرار Frequency</a:t>
            </a:r>
            <a:endParaRPr sz="1400" dirty="0" lang="ar-EG"/>
          </a:p>
        </p:txBody>
      </p:sp>
      <p:sp>
        <p:nvSpPr>
          <p:cNvPr id="9" name="Text 7"/>
          <p:cNvSpPr/>
          <p:nvPr/>
        </p:nvSpPr>
        <p:spPr>
          <a:xfrm>
            <a:off x="1600895" y="4048026"/>
            <a:ext cx="3612455" cy="274241"/>
          </a:xfrm>
          <a:prstGeom prst="roundRect">
            <a:avLst>
              <a:gd name="adj" fmla="val 50000"/>
            </a:avLst>
          </a:prstGeom>
          <a:solidFill>
            <a:srgbClr val="ECE8D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Mathematics 4 · English 3 · Science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05475" y="1961455"/>
            <a:ext cx="5670550" cy="3733800"/>
          </a:xfrm>
          <a:prstGeom prst="roundRect">
            <a:avLst>
              <a:gd name="adj" fmla="val 263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1" name="Image 0" descr="أعمدة بيانية لمتغير Subject: Mathematics 4، English 3، Science 3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5810250" y="2066230"/>
            <a:ext cx="5461000" cy="35242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3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الدائرة البيانية لمتغير المادة</a:t>
            </a:r>
            <a:endParaRPr sz="3600" dirty="0" lang="ar-EG"/>
          </a:p>
        </p:txBody>
      </p:sp>
      <p:sp>
        <p:nvSpPr>
          <p:cNvPr id="4" name="Text 2"/>
          <p:cNvSpPr/>
          <p:nvPr/>
        </p:nvSpPr>
        <p:spPr>
          <a:xfrm>
            <a:off x="812800" y="1958280"/>
            <a:ext cx="5346700" cy="609600"/>
          </a:xfrm>
          <a:prstGeom prst="roundRect">
            <a:avLst>
              <a:gd name="adj" fmla="val 8333"/>
            </a:avLst>
          </a:prstGeom>
          <a:solidFill>
            <a:srgbClr val="DCE7F5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 → Descriptive Statistics → Frequencies → Charts → Pie chart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2399" y="2745680"/>
            <a:ext cx="550710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ثم اختر متغير المادة subject</a:t>
            </a:r>
            <a:endParaRPr sz="1500" dirty="0" lang="ar-EG"/>
          </a:p>
        </p:txBody>
      </p:sp>
      <p:sp>
        <p:nvSpPr>
          <p:cNvPr id="6" name="Shape 4"/>
          <p:cNvSpPr/>
          <p:nvPr/>
        </p:nvSpPr>
        <p:spPr>
          <a:xfrm>
            <a:off x="815975" y="3202880"/>
            <a:ext cx="5340350" cy="924520"/>
          </a:xfrm>
          <a:prstGeom prst="roundRect">
            <a:avLst>
              <a:gd name="adj" fmla="val 1064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598" y="3383855"/>
            <a:ext cx="512775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00"/>
              </a:lnSpc>
              <a:buNone/>
            </a:pPr>
            <a:r>
              <a:rPr sz="1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النتيجة</a:t>
            </a:r>
            <a:endParaRPr sz="1600" dirty="0" lang="ar-EG"/>
          </a:p>
        </p:txBody>
      </p:sp>
      <p:sp>
        <p:nvSpPr>
          <p:cNvPr id="8" name="Text 6"/>
          <p:cNvSpPr/>
          <p:nvPr/>
        </p:nvSpPr>
        <p:spPr>
          <a:xfrm>
            <a:off x="847598" y="3688655"/>
            <a:ext cx="512775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شريحة لكل مادة حسب تكرارها، وأكبرها Mathematics</a:t>
            </a:r>
            <a:endParaRPr sz="1400" dirty="0" lang="ar-EG"/>
          </a:p>
        </p:txBody>
      </p:sp>
      <p:sp>
        <p:nvSpPr>
          <p:cNvPr id="9" name="Shape 7"/>
          <p:cNvSpPr/>
          <p:nvPr/>
        </p:nvSpPr>
        <p:spPr>
          <a:xfrm>
            <a:off x="6467475" y="1961455"/>
            <a:ext cx="4908550" cy="3746500"/>
          </a:xfrm>
          <a:prstGeom prst="roundRect">
            <a:avLst>
              <a:gd name="adj" fmla="val 2627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0" name="Image 0" descr="دائرة بيانية لمتغير Subject بثلاث شرائح: Mathematics و English و Science">    </p:cNvPr>
          <p:cNvPicPr>
            <a:picLocks noChangeAspect="1"/>
          </p:cNvPicPr>
          <p:nvPr/>
        </p:nvPicPr>
        <p:blipFill>
          <a:blip r:embed="rId1"/>
          <a:srcRect l="0" r="0" t="-21" b="-21"/>
          <a:stretch/>
        </p:blipFill>
        <p:spPr>
          <a:xfrm>
            <a:off x="6572250" y="2066230"/>
            <a:ext cx="4699000" cy="35369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5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75"/>
              </a:lnSpc>
              <a:buNone/>
            </a:pPr>
            <a:r>
              <a:rPr sz="1196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4</a:t>
            </a:r>
            <a:endParaRPr sz="1196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4049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062"/>
              </a:lnSpc>
              <a:buNone/>
            </a:pPr>
            <a:r>
              <a:rPr sz="3532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المدرج التكراري لمتغير العمر</a:t>
            </a:r>
            <a:endParaRPr sz="3532" dirty="0" lang="ar-EG"/>
          </a:p>
        </p:txBody>
      </p:sp>
      <p:sp>
        <p:nvSpPr>
          <p:cNvPr id="4" name="Shape 2"/>
          <p:cNvSpPr/>
          <p:nvPr/>
        </p:nvSpPr>
        <p:spPr>
          <a:xfrm>
            <a:off x="812800" y="1894880"/>
            <a:ext cx="3911600" cy="3650853"/>
          </a:xfrm>
          <a:prstGeom prst="roundRect">
            <a:avLst>
              <a:gd name="adj" fmla="val 2783"/>
            </a:avLst>
          </a:prstGeom>
          <a:solidFill>
            <a:srgbClr val="FBEBD0"/>
          </a:solidFill>
          <a:ln/>
        </p:spPr>
      </p:sp>
      <p:sp>
        <p:nvSpPr>
          <p:cNvPr id="5" name="Text 3"/>
          <p:cNvSpPr/>
          <p:nvPr/>
        </p:nvSpPr>
        <p:spPr>
          <a:xfrm>
            <a:off x="937768" y="2123480"/>
            <a:ext cx="35580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50"/>
              </a:lnSpc>
              <a:buNone/>
            </a:pPr>
            <a:r>
              <a:rPr sz="18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المطلوب</a:t>
            </a:r>
            <a:endParaRPr sz="1800" dirty="0" lang="ar-EG"/>
          </a:p>
        </p:txBody>
      </p:sp>
      <p:sp>
        <p:nvSpPr>
          <p:cNvPr id="6" name="Text 4"/>
          <p:cNvSpPr/>
          <p:nvPr/>
        </p:nvSpPr>
        <p:spPr>
          <a:xfrm>
            <a:off x="950722" y="2536230"/>
            <a:ext cx="311327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أدخل البيانات مستخدمًا أكواد النوع</a:t>
            </a:r>
            <a:endParaRPr sz="1400" dirty="0" lang="ar-EG"/>
          </a:p>
        </p:txBody>
      </p:sp>
      <p:sp>
        <p:nvSpPr>
          <p:cNvPr id="7" name="Text 5"/>
          <p:cNvSpPr/>
          <p:nvPr/>
        </p:nvSpPr>
        <p:spPr>
          <a:xfrm>
            <a:off x="1914823" y="2857500"/>
            <a:ext cx="2149177" cy="274241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 = Male · 2 = Female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91000" y="25362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0722" y="3258741"/>
            <a:ext cx="3113278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ارسم المدرج التكراري Histogram لمتغير العمر مع إضافة منحنى التوزيع الطبيعي</a:t>
            </a:r>
            <a:endParaRPr sz="1400" dirty="0" lang="ar-EG"/>
          </a:p>
        </p:txBody>
      </p:sp>
      <p:sp>
        <p:nvSpPr>
          <p:cNvPr id="10" name="Text 8"/>
          <p:cNvSpPr/>
          <p:nvPr/>
        </p:nvSpPr>
        <p:spPr>
          <a:xfrm>
            <a:off x="4191000" y="325874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722" y="4159052"/>
            <a:ext cx="31132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أوجد المتوسط والانحراف المعياري والتباين وحجم العينة</a:t>
            </a:r>
            <a:endParaRPr sz="1400" dirty="0" lang="ar-EG"/>
          </a:p>
        </p:txBody>
      </p:sp>
      <p:sp>
        <p:nvSpPr>
          <p:cNvPr id="12" name="Text 10"/>
          <p:cNvSpPr/>
          <p:nvPr/>
        </p:nvSpPr>
        <p:spPr>
          <a:xfrm>
            <a:off x="4191000" y="415905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722" y="4801592"/>
            <a:ext cx="31132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خذ لقطة واضحة لنافذتي Data View و Variable View وللنتائج</a:t>
            </a:r>
            <a:endParaRPr sz="1400" dirty="0" lang="ar-EG"/>
          </a:p>
        </p:txBody>
      </p:sp>
      <p:sp>
        <p:nvSpPr>
          <p:cNvPr id="14" name="Text 12"/>
          <p:cNvSpPr/>
          <p:nvPr/>
        </p:nvSpPr>
        <p:spPr>
          <a:xfrm>
            <a:off x="4191000" y="480159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894880"/>
            <a:ext cx="6350000" cy="4007048"/>
          </a:xfrm>
          <a:custGeom>
            <a:avLst/>
            <a:gdLst/>
            <a:ahLst/>
            <a:cxnLst/>
            <a:rect l="l" t="t" r="r" b="b"/>
            <a:pathLst>
              <a:path w="6350000" h="4007048">
                <a:moveTo>
                  <a:pt x="6299200" y="0"/>
                </a:moveTo>
                <a:lnTo>
                  <a:pt x="6299200" y="0"/>
                </a:lnTo>
                <a:arcTo hR="50800" wR="50800" stAng="16200000" swAng="5400000"/>
                <a:lnTo>
                  <a:pt x="6350000" y="3956248"/>
                </a:lnTo>
                <a:arcTo hR="50800" wR="50800" stAng="0" swAng="5400000"/>
                <a:lnTo>
                  <a:pt x="50800" y="4007048"/>
                </a:lnTo>
                <a:arcTo hR="50800" wR="50800" stAng="5400000" swAng="5400000"/>
                <a:lnTo>
                  <a:pt x="0" y="3956248"/>
                </a:lnTo>
                <a:arcTo hR="44450" wR="50800" stAng="10800000" swAng="-5400000"/>
                <a:lnTo>
                  <a:pt x="6299200" y="4000698"/>
                </a:lnTo>
                <a:arcTo hR="44450" wR="44450" stAng="5400000" swAng="-5400000"/>
                <a:lnTo>
                  <a:pt x="6343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1894880"/>
            <a:ext cx="6350000" cy="4007048"/>
          </a:xfrm>
          <a:custGeom>
            <a:avLst/>
            <a:gdLst/>
            <a:ahLst/>
            <a:cxnLst/>
            <a:rect l="l" t="t" r="r" b="b"/>
            <a:pathLst>
              <a:path w="6350000" h="4007048">
                <a:moveTo>
                  <a:pt x="50800" y="4007048"/>
                </a:moveTo>
                <a:lnTo>
                  <a:pt x="50800" y="4007048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99200" y="0"/>
                </a:lnTo>
                <a:arcTo hR="50800" wR="50800" stAng="16200000" swAng="5400000"/>
                <a:lnTo>
                  <a:pt x="6350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3956248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1900" y="1907580"/>
          <a:ext cx="6330950" cy="3987998"/>
        </p:xfrm>
        <a:graphic>
          <a:graphicData uri="http://schemas.openxmlformats.org/drawingml/2006/table">
            <a:tbl>
              <a:tblPr/>
              <a:tblGrid>
                <a:gridCol w="1139571"/>
                <a:gridCol w="823024"/>
                <a:gridCol w="1456119"/>
                <a:gridCol w="1139571"/>
                <a:gridCol w="1772666"/>
              </a:tblGrid>
              <a:tr h="362545"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النوع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العمر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المادة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الراتب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الرقم التعريفي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4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المدرج التكراري مع المنحنى الطبيعي</a:t>
            </a:r>
            <a:endParaRPr sz="3600" dirty="0" lang="ar-EG"/>
          </a:p>
        </p:txBody>
      </p:sp>
      <p:sp>
        <p:nvSpPr>
          <p:cNvPr id="4" name="Text 2"/>
          <p:cNvSpPr/>
          <p:nvPr/>
        </p:nvSpPr>
        <p:spPr>
          <a:xfrm>
            <a:off x="812800" y="1958280"/>
            <a:ext cx="4584700" cy="609600"/>
          </a:xfrm>
          <a:prstGeom prst="roundRect">
            <a:avLst>
              <a:gd name="adj" fmla="val 8333"/>
            </a:avLst>
          </a:prstGeom>
          <a:solidFill>
            <a:srgbClr val="DCE7F5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 → Descriptive Statistics → Frequencies → Charts → Histogram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5259" y="2745680"/>
            <a:ext cx="472224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ثم اختر متغير العمر age</a:t>
            </a:r>
            <a:endParaRPr sz="1500" dirty="0" lang="ar-EG"/>
          </a:p>
        </p:txBody>
      </p:sp>
      <p:sp>
        <p:nvSpPr>
          <p:cNvPr id="6" name="Shape 4"/>
          <p:cNvSpPr/>
          <p:nvPr/>
        </p:nvSpPr>
        <p:spPr>
          <a:xfrm>
            <a:off x="815975" y="3202880"/>
            <a:ext cx="4578350" cy="1028601"/>
          </a:xfrm>
          <a:prstGeom prst="roundRect">
            <a:avLst>
              <a:gd name="adj" fmla="val 9569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25353" y="3383855"/>
            <a:ext cx="2387997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Display normal curve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0458" y="3792736"/>
            <a:ext cx="434289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فعّلها لإظهار منحنى التوزيع الطبيعي على المدرج</a:t>
            </a:r>
            <a:endParaRPr sz="1400" dirty="0" lang="ar-EG"/>
          </a:p>
        </p:txBody>
      </p:sp>
      <p:sp>
        <p:nvSpPr>
          <p:cNvPr id="9" name="Shape 7"/>
          <p:cNvSpPr/>
          <p:nvPr/>
        </p:nvSpPr>
        <p:spPr>
          <a:xfrm>
            <a:off x="815975" y="4415631"/>
            <a:ext cx="4578350" cy="966391"/>
          </a:xfrm>
          <a:prstGeom prst="roundRect">
            <a:avLst>
              <a:gd name="adj" fmla="val 1018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0458" y="4596606"/>
            <a:ext cx="434289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00"/>
              </a:lnSpc>
              <a:buNone/>
            </a:pPr>
            <a:r>
              <a:rPr sz="1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يظهر بجوار المدرج</a:t>
            </a:r>
            <a:endParaRPr sz="1600" dirty="0" lang="ar-EG"/>
          </a:p>
        </p:txBody>
      </p:sp>
      <p:sp>
        <p:nvSpPr>
          <p:cNvPr id="11" name="Text 9"/>
          <p:cNvSpPr/>
          <p:nvPr/>
        </p:nvSpPr>
        <p:spPr>
          <a:xfrm>
            <a:off x="1326555" y="4926806"/>
            <a:ext cx="3886795" cy="274241"/>
          </a:xfrm>
          <a:prstGeom prst="roundRect">
            <a:avLst>
              <a:gd name="adj" fmla="val 50000"/>
            </a:avLst>
          </a:prstGeom>
          <a:solidFill>
            <a:srgbClr val="ECE8D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Mean = 34.2 · Std. Dev. = 4.894 · N = 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05475" y="1961455"/>
            <a:ext cx="5670550" cy="3778250"/>
          </a:xfrm>
          <a:prstGeom prst="roundRect">
            <a:avLst>
              <a:gd name="adj" fmla="val 260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3" name="Image 0" descr="مدرج تكراري لمتغير Age عليه منحنى التوزيع الطبيعي، وبجواره Mean = 34.2 و Std. Dev. = 4.894 و N = 10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5810250" y="2066230"/>
            <a:ext cx="5461000" cy="3568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4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إحصاءات متغير العمر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5975" y="1961455"/>
            <a:ext cx="2482850" cy="1852216"/>
          </a:xfrm>
          <a:prstGeom prst="roundRect">
            <a:avLst>
              <a:gd name="adj" fmla="val 5314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80891" y="2218630"/>
            <a:ext cx="3607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4095" y="2652911"/>
            <a:ext cx="2027555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14095" y="3280271"/>
            <a:ext cx="202755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حجم العينة</a:t>
            </a:r>
            <a:endParaRPr sz="1500" dirty="0" lang="ar-EG"/>
          </a:p>
        </p:txBody>
      </p:sp>
      <p:sp>
        <p:nvSpPr>
          <p:cNvPr id="8" name="Shape 6"/>
          <p:cNvSpPr/>
          <p:nvPr/>
        </p:nvSpPr>
        <p:spPr>
          <a:xfrm>
            <a:off x="3508375" y="1961455"/>
            <a:ext cx="2482850" cy="1852216"/>
          </a:xfrm>
          <a:prstGeom prst="roundRect">
            <a:avLst>
              <a:gd name="adj" fmla="val 5314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471" y="2218630"/>
            <a:ext cx="110757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Variance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6495" y="2652911"/>
            <a:ext cx="2027555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23.96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706495" y="3280271"/>
            <a:ext cx="202755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التباين</a:t>
            </a:r>
            <a:endParaRPr sz="1500" dirty="0" lang="ar-EG"/>
          </a:p>
        </p:txBody>
      </p:sp>
      <p:sp>
        <p:nvSpPr>
          <p:cNvPr id="12" name="Shape 10"/>
          <p:cNvSpPr/>
          <p:nvPr/>
        </p:nvSpPr>
        <p:spPr>
          <a:xfrm>
            <a:off x="6200775" y="1961455"/>
            <a:ext cx="2482850" cy="1852216"/>
          </a:xfrm>
          <a:prstGeom prst="roundRect">
            <a:avLst>
              <a:gd name="adj" fmla="val 5314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8613" y="2218630"/>
            <a:ext cx="174783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Std. Deviation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98895" y="2652911"/>
            <a:ext cx="2027555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4.89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98895" y="3280271"/>
            <a:ext cx="202755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الانحراف المعياري</a:t>
            </a:r>
            <a:endParaRPr sz="1500" dirty="0" lang="ar-EG"/>
          </a:p>
        </p:txBody>
      </p:sp>
      <p:sp>
        <p:nvSpPr>
          <p:cNvPr id="16" name="Shape 14"/>
          <p:cNvSpPr/>
          <p:nvPr/>
        </p:nvSpPr>
        <p:spPr>
          <a:xfrm>
            <a:off x="8893175" y="1961455"/>
            <a:ext cx="2482850" cy="1852216"/>
          </a:xfrm>
          <a:prstGeom prst="roundRect">
            <a:avLst>
              <a:gd name="adj" fmla="val 5314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38011" y="2218630"/>
            <a:ext cx="68083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91295" y="2652911"/>
            <a:ext cx="2027555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34.2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091295" y="3280271"/>
            <a:ext cx="202755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المتوسط</a:t>
            </a:r>
            <a:endParaRPr sz="1500" dirty="0" lang="ar-EG"/>
          </a:p>
        </p:txBody>
      </p:sp>
      <p:sp>
        <p:nvSpPr>
          <p:cNvPr id="20" name="Text 18"/>
          <p:cNvSpPr/>
          <p:nvPr/>
        </p:nvSpPr>
        <p:spPr>
          <a:xfrm>
            <a:off x="495808" y="4121646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المتوسط والانحراف المعياري وحجم العينة تظهر بجوار المدرج التكراري في المخرجات</a:t>
            </a:r>
            <a:endParaRPr sz="1600" dirty="0" lang="ar-EG"/>
          </a:p>
        </p:txBody>
      </p:sp>
      <p:sp>
        <p:nvSpPr>
          <p:cNvPr id="21" name="Text 19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5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75"/>
              </a:lnSpc>
              <a:buNone/>
            </a:pPr>
            <a:r>
              <a:rPr sz="1196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5</a:t>
            </a:r>
            <a:endParaRPr sz="1196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4049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062"/>
              </a:lnSpc>
              <a:buNone/>
            </a:pPr>
            <a:r>
              <a:rPr sz="3532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الرسم الصندوقي لمتغير العمر</a:t>
            </a:r>
            <a:endParaRPr sz="3532" dirty="0" lang="ar-EG"/>
          </a:p>
        </p:txBody>
      </p:sp>
      <p:sp>
        <p:nvSpPr>
          <p:cNvPr id="4" name="Shape 2"/>
          <p:cNvSpPr/>
          <p:nvPr/>
        </p:nvSpPr>
        <p:spPr>
          <a:xfrm>
            <a:off x="812800" y="1894880"/>
            <a:ext cx="3911600" cy="2750542"/>
          </a:xfrm>
          <a:prstGeom prst="roundRect">
            <a:avLst>
              <a:gd name="adj" fmla="val 3694"/>
            </a:avLst>
          </a:prstGeom>
          <a:solidFill>
            <a:srgbClr val="FBEBD0"/>
          </a:solidFill>
          <a:ln/>
        </p:spPr>
      </p:sp>
      <p:sp>
        <p:nvSpPr>
          <p:cNvPr id="5" name="Text 3"/>
          <p:cNvSpPr/>
          <p:nvPr/>
        </p:nvSpPr>
        <p:spPr>
          <a:xfrm>
            <a:off x="937768" y="2123480"/>
            <a:ext cx="35580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50"/>
              </a:lnSpc>
              <a:buNone/>
            </a:pPr>
            <a:r>
              <a:rPr sz="18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المطلوب</a:t>
            </a:r>
            <a:endParaRPr sz="1800" dirty="0" lang="ar-EG"/>
          </a:p>
        </p:txBody>
      </p:sp>
      <p:sp>
        <p:nvSpPr>
          <p:cNvPr id="6" name="Text 4"/>
          <p:cNvSpPr/>
          <p:nvPr/>
        </p:nvSpPr>
        <p:spPr>
          <a:xfrm>
            <a:off x="950722" y="2536230"/>
            <a:ext cx="311327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أدخل البيانات مستخدمًا أكواد النوع</a:t>
            </a:r>
            <a:endParaRPr sz="1400" dirty="0" lang="ar-EG"/>
          </a:p>
        </p:txBody>
      </p:sp>
      <p:sp>
        <p:nvSpPr>
          <p:cNvPr id="7" name="Text 5"/>
          <p:cNvSpPr/>
          <p:nvPr/>
        </p:nvSpPr>
        <p:spPr>
          <a:xfrm>
            <a:off x="1914823" y="2857500"/>
            <a:ext cx="2149177" cy="274241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 = Male · 2 = Female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91000" y="25362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0722" y="3258741"/>
            <a:ext cx="31132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ارسم الرسم الصندوقي Boxplot لمتغير العمر</a:t>
            </a:r>
            <a:endParaRPr sz="1400" dirty="0" lang="ar-EG"/>
          </a:p>
        </p:txBody>
      </p:sp>
      <p:sp>
        <p:nvSpPr>
          <p:cNvPr id="10" name="Text 8"/>
          <p:cNvSpPr/>
          <p:nvPr/>
        </p:nvSpPr>
        <p:spPr>
          <a:xfrm>
            <a:off x="4191000" y="325874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722" y="3901281"/>
            <a:ext cx="31132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خذ لقطة واضحة لنافذتي Data View و Variable View وللنتائج</a:t>
            </a:r>
            <a:endParaRPr sz="1400" dirty="0" lang="ar-EG"/>
          </a:p>
        </p:txBody>
      </p:sp>
      <p:sp>
        <p:nvSpPr>
          <p:cNvPr id="12" name="Text 10"/>
          <p:cNvSpPr/>
          <p:nvPr/>
        </p:nvSpPr>
        <p:spPr>
          <a:xfrm>
            <a:off x="4191000" y="390128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894880"/>
            <a:ext cx="6350000" cy="4007048"/>
          </a:xfrm>
          <a:custGeom>
            <a:avLst/>
            <a:gdLst/>
            <a:ahLst/>
            <a:cxnLst/>
            <a:rect l="l" t="t" r="r" b="b"/>
            <a:pathLst>
              <a:path w="6350000" h="4007048">
                <a:moveTo>
                  <a:pt x="6299200" y="0"/>
                </a:moveTo>
                <a:lnTo>
                  <a:pt x="6299200" y="0"/>
                </a:lnTo>
                <a:arcTo hR="50800" wR="50800" stAng="16200000" swAng="5400000"/>
                <a:lnTo>
                  <a:pt x="6350000" y="3956248"/>
                </a:lnTo>
                <a:arcTo hR="50800" wR="50800" stAng="0" swAng="5400000"/>
                <a:lnTo>
                  <a:pt x="50800" y="4007048"/>
                </a:lnTo>
                <a:arcTo hR="50800" wR="50800" stAng="5400000" swAng="5400000"/>
                <a:lnTo>
                  <a:pt x="0" y="3956248"/>
                </a:lnTo>
                <a:arcTo hR="44450" wR="50800" stAng="10800000" swAng="-5400000"/>
                <a:lnTo>
                  <a:pt x="6299200" y="4000698"/>
                </a:lnTo>
                <a:arcTo hR="44450" wR="44450" stAng="5400000" swAng="-5400000"/>
                <a:lnTo>
                  <a:pt x="6343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1894880"/>
            <a:ext cx="6350000" cy="4007048"/>
          </a:xfrm>
          <a:custGeom>
            <a:avLst/>
            <a:gdLst/>
            <a:ahLst/>
            <a:cxnLst/>
            <a:rect l="l" t="t" r="r" b="b"/>
            <a:pathLst>
              <a:path w="6350000" h="4007048">
                <a:moveTo>
                  <a:pt x="50800" y="4007048"/>
                </a:moveTo>
                <a:lnTo>
                  <a:pt x="50800" y="4007048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99200" y="0"/>
                </a:lnTo>
                <a:arcTo hR="50800" wR="50800" stAng="16200000" swAng="5400000"/>
                <a:lnTo>
                  <a:pt x="6350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3956248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1900" y="1907580"/>
          <a:ext cx="6330950" cy="3987998"/>
        </p:xfrm>
        <a:graphic>
          <a:graphicData uri="http://schemas.openxmlformats.org/drawingml/2006/table">
            <a:tbl>
              <a:tblPr/>
              <a:tblGrid>
                <a:gridCol w="1139571"/>
                <a:gridCol w="823024"/>
                <a:gridCol w="1456119"/>
                <a:gridCol w="1139571"/>
                <a:gridCol w="1772666"/>
              </a:tblGrid>
              <a:tr h="362545"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النوع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العمر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المادة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الراتب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الرقم التعريفي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5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الرسم الصندوقي لمتغير العمر</a:t>
            </a:r>
            <a:endParaRPr sz="3600" dirty="0" lang="ar-EG"/>
          </a:p>
        </p:txBody>
      </p:sp>
      <p:sp>
        <p:nvSpPr>
          <p:cNvPr id="4" name="Text 2"/>
          <p:cNvSpPr/>
          <p:nvPr/>
        </p:nvSpPr>
        <p:spPr>
          <a:xfrm>
            <a:off x="2216944" y="1958280"/>
            <a:ext cx="3180556" cy="381000"/>
          </a:xfrm>
          <a:prstGeom prst="roundRect">
            <a:avLst>
              <a:gd name="adj" fmla="val 13333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Graphs → Chart Builder → Boxplot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2520255"/>
            <a:ext cx="4578350" cy="2332831"/>
          </a:xfrm>
          <a:prstGeom prst="roundRect">
            <a:avLst>
              <a:gd name="adj" fmla="val 4219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0458" y="2701230"/>
            <a:ext cx="434289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00"/>
              </a:lnSpc>
              <a:buNone/>
            </a:pPr>
            <a:r>
              <a:rPr sz="1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الخطوات</a:t>
            </a:r>
            <a:endParaRPr sz="1600" dirty="0" lang="ar-EG"/>
          </a:p>
        </p:txBody>
      </p:sp>
      <p:sp>
        <p:nvSpPr>
          <p:cNvPr id="7" name="Text 5"/>
          <p:cNvSpPr/>
          <p:nvPr/>
        </p:nvSpPr>
        <p:spPr>
          <a:xfrm>
            <a:off x="883412" y="3082230"/>
            <a:ext cx="389813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اختر Boxplot ثم اسحبه إلى منطقة التصميم Design area</a:t>
            </a:r>
            <a:endParaRPr sz="1400" dirty="0" lang="ar-EG"/>
          </a:p>
        </p:txBody>
      </p:sp>
      <p:sp>
        <p:nvSpPr>
          <p:cNvPr id="8" name="Text 6"/>
          <p:cNvSpPr/>
          <p:nvPr/>
        </p:nvSpPr>
        <p:spPr>
          <a:xfrm>
            <a:off x="4908550" y="30822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412" y="3724771"/>
            <a:ext cx="389813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ضع المتغير الكمي محل الدراسة وهو العمر على المحور Y</a:t>
            </a:r>
            <a:endParaRPr sz="1400" dirty="0" lang="ar-EG"/>
          </a:p>
        </p:txBody>
      </p:sp>
      <p:sp>
        <p:nvSpPr>
          <p:cNvPr id="10" name="Text 8"/>
          <p:cNvSpPr/>
          <p:nvPr/>
        </p:nvSpPr>
        <p:spPr>
          <a:xfrm>
            <a:off x="4908550" y="37247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3412" y="4367312"/>
            <a:ext cx="389813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اضغط OK</a:t>
            </a:r>
            <a:endParaRPr sz="1400" dirty="0" lang="ar-EG"/>
          </a:p>
        </p:txBody>
      </p:sp>
      <p:sp>
        <p:nvSpPr>
          <p:cNvPr id="12" name="Text 10"/>
          <p:cNvSpPr/>
          <p:nvPr/>
        </p:nvSpPr>
        <p:spPr>
          <a:xfrm>
            <a:off x="4908550" y="436731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05475" y="1961455"/>
            <a:ext cx="5670550" cy="3384550"/>
          </a:xfrm>
          <a:prstGeom prst="roundRect">
            <a:avLst>
              <a:gd name="adj" fmla="val 2908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4" name="Image 0" descr="Simple Boxplot of Age: الصندوق من نحو 30 إلى نحو 38.5">    </p:cNvPr>
          <p:cNvPicPr>
            <a:picLocks noChangeAspect="1"/>
          </p:cNvPicPr>
          <p:nvPr/>
        </p:nvPicPr>
        <p:blipFill>
          <a:blip r:embed="rId1"/>
          <a:srcRect l="-19" r="-19" t="0" b="0"/>
          <a:stretch/>
        </p:blipFill>
        <p:spPr>
          <a:xfrm>
            <a:off x="5810250" y="2066230"/>
            <a:ext cx="5461000" cy="3175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082800"/>
            <a:ext cx="457200" cy="269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2500" y="179576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2222500" y="3472160"/>
            <a:ext cx="91567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7200"/>
              </a:lnSpc>
              <a:buNone/>
            </a:pPr>
            <a:r>
              <a:rPr sz="6000" b="1" dirty="0" lang="ar-EG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المقاييس</a:t>
            </a:r>
            <a:endParaRPr sz="6000" dirty="0" lang="ar-EG"/>
          </a:p>
        </p:txBody>
      </p:sp>
      <p:sp>
        <p:nvSpPr>
          <p:cNvPr id="5" name="Text 2"/>
          <p:cNvSpPr/>
          <p:nvPr/>
        </p:nvSpPr>
        <p:spPr>
          <a:xfrm>
            <a:off x="2222500" y="453896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20"/>
              </a:lnSpc>
              <a:buNone/>
            </a:pPr>
            <a:r>
              <a:rPr sz="18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مقاييس النزعة المركزية ومقاييس التشتت</a:t>
            </a:r>
            <a:endParaRPr sz="1800" dirty="0" lang="ar-EG"/>
          </a:p>
        </p:txBody>
      </p:sp>
      <p:sp>
        <p:nvSpPr>
          <p:cNvPr id="6" name="Text 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المقاييس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مقاييس النزعة المركزية والتشتت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5975" y="1961455"/>
            <a:ext cx="5175250" cy="2520255"/>
          </a:xfrm>
          <a:prstGeom prst="roundRect">
            <a:avLst>
              <a:gd name="adj" fmla="val 390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13052" y="2218630"/>
            <a:ext cx="132099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Dispersion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3323" y="2665611"/>
            <a:ext cx="4800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00"/>
              </a:lnSpc>
              <a:buNone/>
            </a:pPr>
            <a:r>
              <a:rPr sz="20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مقاييس التشتت</a:t>
            </a:r>
            <a:endParaRPr sz="2000" dirty="0" lang="ar-EG"/>
          </a:p>
        </p:txBody>
      </p:sp>
      <p:sp>
        <p:nvSpPr>
          <p:cNvPr id="7" name="Shape 5"/>
          <p:cNvSpPr/>
          <p:nvPr/>
        </p:nvSpPr>
        <p:spPr>
          <a:xfrm>
            <a:off x="1073150" y="3097411"/>
            <a:ext cx="4660900" cy="6350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8" name="Text 6"/>
          <p:cNvSpPr/>
          <p:nvPr/>
        </p:nvSpPr>
        <p:spPr>
          <a:xfrm>
            <a:off x="4450854" y="3219053"/>
            <a:ext cx="685899" cy="274241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69694" y="3218061"/>
            <a:ext cx="56435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المدى</a:t>
            </a:r>
            <a:endParaRPr sz="1500" dirty="0" lang="ar-EG"/>
          </a:p>
        </p:txBody>
      </p:sp>
      <p:sp>
        <p:nvSpPr>
          <p:cNvPr id="10" name="Text 8"/>
          <p:cNvSpPr/>
          <p:nvPr/>
        </p:nvSpPr>
        <p:spPr>
          <a:xfrm>
            <a:off x="4164707" y="3584178"/>
            <a:ext cx="960239" cy="274241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Variance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55525" y="3583186"/>
            <a:ext cx="57852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التباين</a:t>
            </a:r>
            <a:endParaRPr sz="1500" dirty="0" lang="ar-EG"/>
          </a:p>
        </p:txBody>
      </p:sp>
      <p:sp>
        <p:nvSpPr>
          <p:cNvPr id="12" name="Text 10"/>
          <p:cNvSpPr/>
          <p:nvPr/>
        </p:nvSpPr>
        <p:spPr>
          <a:xfrm>
            <a:off x="2315865" y="3949303"/>
            <a:ext cx="1874838" cy="274241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Standard deviation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90702" y="3948311"/>
            <a:ext cx="154334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الانحراف المعياري</a:t>
            </a:r>
            <a:endParaRPr sz="1500" dirty="0" lang="ar-EG"/>
          </a:p>
        </p:txBody>
      </p:sp>
      <p:sp>
        <p:nvSpPr>
          <p:cNvPr id="14" name="Shape 12"/>
          <p:cNvSpPr/>
          <p:nvPr/>
        </p:nvSpPr>
        <p:spPr>
          <a:xfrm>
            <a:off x="6200775" y="1961455"/>
            <a:ext cx="5175250" cy="2520255"/>
          </a:xfrm>
          <a:prstGeom prst="roundRect">
            <a:avLst>
              <a:gd name="adj" fmla="val 390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7692" y="2218630"/>
            <a:ext cx="19611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Central tendency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18123" y="2665611"/>
            <a:ext cx="4800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00"/>
              </a:lnSpc>
              <a:buNone/>
            </a:pPr>
            <a:r>
              <a:rPr sz="20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مقاييس النزعة المركزية</a:t>
            </a:r>
            <a:endParaRPr sz="2000" dirty="0" lang="ar-EG"/>
          </a:p>
        </p:txBody>
      </p:sp>
      <p:sp>
        <p:nvSpPr>
          <p:cNvPr id="17" name="Shape 15"/>
          <p:cNvSpPr/>
          <p:nvPr/>
        </p:nvSpPr>
        <p:spPr>
          <a:xfrm>
            <a:off x="6457950" y="3097411"/>
            <a:ext cx="4660900" cy="6350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18" name="Text 16"/>
          <p:cNvSpPr/>
          <p:nvPr/>
        </p:nvSpPr>
        <p:spPr>
          <a:xfrm>
            <a:off x="9679980" y="3219053"/>
            <a:ext cx="594420" cy="274241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74399" y="3218061"/>
            <a:ext cx="84445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المتوسط</a:t>
            </a:r>
            <a:endParaRPr sz="1500" dirty="0" lang="ar-EG"/>
          </a:p>
        </p:txBody>
      </p:sp>
      <p:sp>
        <p:nvSpPr>
          <p:cNvPr id="20" name="Text 18"/>
          <p:cNvSpPr/>
          <p:nvPr/>
        </p:nvSpPr>
        <p:spPr>
          <a:xfrm>
            <a:off x="9607153" y="3584178"/>
            <a:ext cx="777379" cy="274241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Median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90068" y="3583186"/>
            <a:ext cx="72878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الوسيط</a:t>
            </a:r>
            <a:endParaRPr sz="1500" dirty="0" lang="ar-EG"/>
          </a:p>
        </p:txBody>
      </p:sp>
      <p:sp>
        <p:nvSpPr>
          <p:cNvPr id="22" name="Text 20"/>
          <p:cNvSpPr/>
          <p:nvPr/>
        </p:nvSpPr>
        <p:spPr>
          <a:xfrm>
            <a:off x="9829006" y="3949303"/>
            <a:ext cx="594420" cy="274241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36741" y="3948311"/>
            <a:ext cx="682109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المنوال</a:t>
            </a:r>
            <a:endParaRPr sz="1500" dirty="0" lang="ar-EG"/>
          </a:p>
        </p:txBody>
      </p:sp>
      <p:sp>
        <p:nvSpPr>
          <p:cNvPr id="24" name="Text 22"/>
          <p:cNvSpPr/>
          <p:nvPr/>
        </p:nvSpPr>
        <p:spPr>
          <a:xfrm>
            <a:off x="5729288" y="4789686"/>
            <a:ext cx="5649913" cy="381000"/>
          </a:xfrm>
          <a:prstGeom prst="roundRect">
            <a:avLst>
              <a:gd name="adj" fmla="val 13333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 → Descriptive Statistics → Frequencies → Statistics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5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75"/>
              </a:lnSpc>
              <a:buNone/>
            </a:pPr>
            <a:r>
              <a:rPr sz="1196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6</a:t>
            </a:r>
            <a:endParaRPr sz="1196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4049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062"/>
              </a:lnSpc>
              <a:buNone/>
            </a:pPr>
            <a:r>
              <a:rPr sz="3532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مقاييس متغير الراتب</a:t>
            </a:r>
            <a:endParaRPr sz="3532" dirty="0" lang="ar-EG"/>
          </a:p>
        </p:txBody>
      </p:sp>
      <p:sp>
        <p:nvSpPr>
          <p:cNvPr id="4" name="Shape 2"/>
          <p:cNvSpPr/>
          <p:nvPr/>
        </p:nvSpPr>
        <p:spPr>
          <a:xfrm>
            <a:off x="812800" y="1894880"/>
            <a:ext cx="3911600" cy="3008313"/>
          </a:xfrm>
          <a:prstGeom prst="roundRect">
            <a:avLst>
              <a:gd name="adj" fmla="val 3377"/>
            </a:avLst>
          </a:prstGeom>
          <a:solidFill>
            <a:srgbClr val="FBEBD0"/>
          </a:solidFill>
          <a:ln/>
        </p:spPr>
      </p:sp>
      <p:sp>
        <p:nvSpPr>
          <p:cNvPr id="5" name="Text 3"/>
          <p:cNvSpPr/>
          <p:nvPr/>
        </p:nvSpPr>
        <p:spPr>
          <a:xfrm>
            <a:off x="937768" y="2123480"/>
            <a:ext cx="35580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50"/>
              </a:lnSpc>
              <a:buNone/>
            </a:pPr>
            <a:r>
              <a:rPr sz="18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المطلوب</a:t>
            </a:r>
            <a:endParaRPr sz="1800" dirty="0" lang="ar-EG"/>
          </a:p>
        </p:txBody>
      </p:sp>
      <p:sp>
        <p:nvSpPr>
          <p:cNvPr id="6" name="Text 4"/>
          <p:cNvSpPr/>
          <p:nvPr/>
        </p:nvSpPr>
        <p:spPr>
          <a:xfrm>
            <a:off x="950722" y="2536230"/>
            <a:ext cx="311327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أدخل البيانات مستخدمًا أكواد النوع</a:t>
            </a:r>
            <a:endParaRPr sz="1400" dirty="0" lang="ar-EG"/>
          </a:p>
        </p:txBody>
      </p:sp>
      <p:sp>
        <p:nvSpPr>
          <p:cNvPr id="7" name="Text 5"/>
          <p:cNvSpPr/>
          <p:nvPr/>
        </p:nvSpPr>
        <p:spPr>
          <a:xfrm>
            <a:off x="1914823" y="2857500"/>
            <a:ext cx="2149177" cy="274241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 = Male · 2 = Female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91000" y="25362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0722" y="3258741"/>
            <a:ext cx="3113278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احسب بالبرنامج المتوسط والوسيط والمنوال والتباين والانحراف المعياري للرواتب</a:t>
            </a:r>
            <a:endParaRPr sz="1400" dirty="0" lang="ar-EG"/>
          </a:p>
        </p:txBody>
      </p:sp>
      <p:sp>
        <p:nvSpPr>
          <p:cNvPr id="10" name="Text 8"/>
          <p:cNvSpPr/>
          <p:nvPr/>
        </p:nvSpPr>
        <p:spPr>
          <a:xfrm>
            <a:off x="4191000" y="325874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722" y="4159052"/>
            <a:ext cx="31132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خذ لقطة واضحة لنافذتي Data View و Variable View</a:t>
            </a:r>
            <a:endParaRPr sz="1400" dirty="0" lang="ar-EG"/>
          </a:p>
        </p:txBody>
      </p:sp>
      <p:sp>
        <p:nvSpPr>
          <p:cNvPr id="12" name="Text 10"/>
          <p:cNvSpPr/>
          <p:nvPr/>
        </p:nvSpPr>
        <p:spPr>
          <a:xfrm>
            <a:off x="4191000" y="415905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894880"/>
            <a:ext cx="6350000" cy="4007048"/>
          </a:xfrm>
          <a:custGeom>
            <a:avLst/>
            <a:gdLst/>
            <a:ahLst/>
            <a:cxnLst/>
            <a:rect l="l" t="t" r="r" b="b"/>
            <a:pathLst>
              <a:path w="6350000" h="4007048">
                <a:moveTo>
                  <a:pt x="6299200" y="0"/>
                </a:moveTo>
                <a:lnTo>
                  <a:pt x="6299200" y="0"/>
                </a:lnTo>
                <a:arcTo hR="50800" wR="50800" stAng="16200000" swAng="5400000"/>
                <a:lnTo>
                  <a:pt x="6350000" y="3956248"/>
                </a:lnTo>
                <a:arcTo hR="50800" wR="50800" stAng="0" swAng="5400000"/>
                <a:lnTo>
                  <a:pt x="50800" y="4007048"/>
                </a:lnTo>
                <a:arcTo hR="50800" wR="50800" stAng="5400000" swAng="5400000"/>
                <a:lnTo>
                  <a:pt x="0" y="3956248"/>
                </a:lnTo>
                <a:arcTo hR="44450" wR="50800" stAng="10800000" swAng="-5400000"/>
                <a:lnTo>
                  <a:pt x="6299200" y="4000698"/>
                </a:lnTo>
                <a:arcTo hR="44450" wR="44450" stAng="5400000" swAng="-5400000"/>
                <a:lnTo>
                  <a:pt x="6343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1894880"/>
            <a:ext cx="6350000" cy="4007048"/>
          </a:xfrm>
          <a:custGeom>
            <a:avLst/>
            <a:gdLst/>
            <a:ahLst/>
            <a:cxnLst/>
            <a:rect l="l" t="t" r="r" b="b"/>
            <a:pathLst>
              <a:path w="6350000" h="4007048">
                <a:moveTo>
                  <a:pt x="50800" y="4007048"/>
                </a:moveTo>
                <a:lnTo>
                  <a:pt x="50800" y="4007048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99200" y="0"/>
                </a:lnTo>
                <a:arcTo hR="50800" wR="50800" stAng="16200000" swAng="5400000"/>
                <a:lnTo>
                  <a:pt x="6350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3956248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1900" y="1907580"/>
          <a:ext cx="6330950" cy="3987998"/>
        </p:xfrm>
        <a:graphic>
          <a:graphicData uri="http://schemas.openxmlformats.org/drawingml/2006/table">
            <a:tbl>
              <a:tblPr/>
              <a:tblGrid>
                <a:gridCol w="1139571"/>
                <a:gridCol w="823024"/>
                <a:gridCol w="1456119"/>
                <a:gridCol w="1139571"/>
                <a:gridCol w="1772666"/>
              </a:tblGrid>
              <a:tr h="362545"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النوع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العمر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المادة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الراتب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الرقم التعريفي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English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Mathematics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Female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Science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6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مقاييس متغير الراتب</a:t>
            </a:r>
            <a:endParaRPr sz="3600" dirty="0" lang="ar-EG"/>
          </a:p>
        </p:txBody>
      </p:sp>
      <p:sp>
        <p:nvSpPr>
          <p:cNvPr id="4" name="Text 2"/>
          <p:cNvSpPr/>
          <p:nvPr/>
        </p:nvSpPr>
        <p:spPr>
          <a:xfrm>
            <a:off x="2236788" y="1958280"/>
            <a:ext cx="5649913" cy="381000"/>
          </a:xfrm>
          <a:prstGeom prst="roundRect">
            <a:avLst>
              <a:gd name="adj" fmla="val 13333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 → Descriptive Statistics → Frequencies → Statistics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517080"/>
            <a:ext cx="7073900" cy="274241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74139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Mean Median Mode Std. deviation Variance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" y="2969121"/>
            <a:ext cx="7073900" cy="2194322"/>
          </a:xfrm>
          <a:custGeom>
            <a:avLst/>
            <a:gdLst/>
            <a:ahLst/>
            <a:cxnLst/>
            <a:rect l="l" t="t" r="r" b="b"/>
            <a:pathLst>
              <a:path w="7073900" h="2194322">
                <a:moveTo>
                  <a:pt x="7023100" y="0"/>
                </a:moveTo>
                <a:lnTo>
                  <a:pt x="7023100" y="0"/>
                </a:lnTo>
                <a:arcTo hR="50800" wR="50800" stAng="16200000" swAng="5400000"/>
                <a:lnTo>
                  <a:pt x="7073900" y="2143522"/>
                </a:lnTo>
                <a:arcTo hR="50800" wR="50800" stAng="0" swAng="5400000"/>
                <a:lnTo>
                  <a:pt x="50800" y="2194322"/>
                </a:lnTo>
                <a:arcTo hR="50800" wR="50800" stAng="5400000" swAng="5400000"/>
                <a:lnTo>
                  <a:pt x="0" y="2143522"/>
                </a:lnTo>
                <a:arcTo hR="44450" wR="50800" stAng="10800000" swAng="-5400000"/>
                <a:lnTo>
                  <a:pt x="7023100" y="2187972"/>
                </a:lnTo>
                <a:arcTo hR="44450" wR="44450" stAng="5400000" swAng="-5400000"/>
                <a:lnTo>
                  <a:pt x="70675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2969121"/>
            <a:ext cx="7073900" cy="2194322"/>
          </a:xfrm>
          <a:custGeom>
            <a:avLst/>
            <a:gdLst/>
            <a:ahLst/>
            <a:cxnLst/>
            <a:rect l="l" t="t" r="r" b="b"/>
            <a:pathLst>
              <a:path w="7073900" h="2194322">
                <a:moveTo>
                  <a:pt x="50800" y="2194322"/>
                </a:moveTo>
                <a:lnTo>
                  <a:pt x="50800" y="2194322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7023100" y="0"/>
                </a:lnTo>
                <a:arcTo hR="50800" wR="50800" stAng="16200000" swAng="5400000"/>
                <a:lnTo>
                  <a:pt x="70739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2143522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981821"/>
          <a:ext cx="7054850" cy="2175272"/>
        </p:xfrm>
        <a:graphic>
          <a:graphicData uri="http://schemas.openxmlformats.org/drawingml/2006/table">
            <a:tbl>
              <a:tblPr/>
              <a:tblGrid>
                <a:gridCol w="1834261"/>
                <a:gridCol w="2116455"/>
                <a:gridCol w="3104134"/>
              </a:tblGrid>
              <a:tr h="362545"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القيمة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SPSS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المقياس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13900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المتوسط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14500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Median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الوسيط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Mode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المنوال، ويظهر أصغرها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2183.27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الانحراف المعياري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4766666.67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Variance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التباين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194675" y="1961455"/>
            <a:ext cx="3181350" cy="3765550"/>
          </a:xfrm>
          <a:prstGeom prst="roundRect">
            <a:avLst>
              <a:gd name="adj" fmla="val 3094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0" name="Image 0" descr="جدول Statistics لمتغير Salary: Mean 13900، Median 14500، Mode 14000، Std. Deviation 2183.270، Variance 4766666.667">    </p:cNvPr>
          <p:cNvPicPr>
            <a:picLocks noChangeAspect="1"/>
          </p:cNvPicPr>
          <p:nvPr/>
        </p:nvPicPr>
        <p:blipFill>
          <a:blip r:embed="rId1"/>
          <a:srcRect l="-19" r="-19" t="0" b="0"/>
          <a:stretch/>
        </p:blipFill>
        <p:spPr>
          <a:xfrm>
            <a:off x="8299450" y="2066230"/>
            <a:ext cx="2971800" cy="3556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082800"/>
            <a:ext cx="457200" cy="269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2500" y="179576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2222500" y="3472160"/>
            <a:ext cx="91567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7200"/>
              </a:lnSpc>
              <a:buNone/>
            </a:pPr>
            <a:r>
              <a:rPr sz="6000" b="1" dirty="0" lang="ar-EG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تمارين تطبيقية</a:t>
            </a:r>
            <a:endParaRPr sz="6000" dirty="0" lang="ar-EG"/>
          </a:p>
        </p:txBody>
      </p:sp>
      <p:sp>
        <p:nvSpPr>
          <p:cNvPr id="5" name="Text 2"/>
          <p:cNvSpPr/>
          <p:nvPr/>
        </p:nvSpPr>
        <p:spPr>
          <a:xfrm>
            <a:off x="2222500" y="453896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20"/>
              </a:lnSpc>
              <a:buNone/>
            </a:pPr>
            <a:r>
              <a:rPr sz="18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اقرأ مخرجات البرنامج وأكمل الفراغات</a:t>
            </a:r>
            <a:endParaRPr sz="1800" dirty="0" lang="ar-EG"/>
          </a:p>
        </p:txBody>
      </p:sp>
      <p:sp>
        <p:nvSpPr>
          <p:cNvPr id="6" name="Text 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1 · الأسئلة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قراءة الجدول التكراري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5975" y="1961455"/>
            <a:ext cx="3765550" cy="2330450"/>
          </a:xfrm>
          <a:prstGeom prst="roundRect">
            <a:avLst>
              <a:gd name="adj" fmla="val 4223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5" name="Image 0" descr="جدول تكراري لمتغير salary فيه 16 قيمة صالحة و4 قيم مفقودة بالكود 999">    </p:cNvPr>
          <p:cNvPicPr>
            <a:picLocks noChangeAspect="1"/>
          </p:cNvPicPr>
          <p:nvPr/>
        </p:nvPicPr>
        <p:blipFill>
          <a:blip r:embed="rId1"/>
          <a:srcRect l="-62" r="-62" t="0" b="0"/>
          <a:stretch/>
        </p:blipFill>
        <p:spPr>
          <a:xfrm>
            <a:off x="920750" y="2066230"/>
            <a:ext cx="3556000" cy="2120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6364" y="1958280"/>
            <a:ext cx="4618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قيمة</a:t>
            </a:r>
            <a:endParaRPr sz="1600" dirty="0" lang="ar-EG"/>
          </a:p>
        </p:txBody>
      </p:sp>
      <p:sp>
        <p:nvSpPr>
          <p:cNvPr id="7" name="Shape 4"/>
          <p:cNvSpPr/>
          <p:nvPr/>
        </p:nvSpPr>
        <p:spPr>
          <a:xfrm>
            <a:off x="6831707" y="22567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624668" y="1958280"/>
            <a:ext cx="32973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عدد القيم المفقودة في البيانات يساوي</a:t>
            </a:r>
            <a:endParaRPr sz="1600" dirty="0" lang="ar-EG"/>
          </a:p>
        </p:txBody>
      </p:sp>
      <p:sp>
        <p:nvSpPr>
          <p:cNvPr id="9" name="Text 6"/>
          <p:cNvSpPr/>
          <p:nvPr/>
        </p:nvSpPr>
        <p:spPr>
          <a:xfrm>
            <a:off x="11049000" y="19582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84673" y="2440880"/>
            <a:ext cx="4618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قيمة</a:t>
            </a:r>
            <a:endParaRPr sz="1600" dirty="0" lang="ar-EG"/>
          </a:p>
        </p:txBody>
      </p:sp>
      <p:sp>
        <p:nvSpPr>
          <p:cNvPr id="11" name="Shape 8"/>
          <p:cNvSpPr/>
          <p:nvPr/>
        </p:nvSpPr>
        <p:spPr>
          <a:xfrm>
            <a:off x="7910016" y="27393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8735327" y="2440880"/>
            <a:ext cx="218667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عدد القيم الصالحة يساوي</a:t>
            </a:r>
            <a:endParaRPr sz="1600" dirty="0" lang="ar-EG"/>
          </a:p>
        </p:txBody>
      </p:sp>
      <p:sp>
        <p:nvSpPr>
          <p:cNvPr id="13" name="Text 10"/>
          <p:cNvSpPr/>
          <p:nvPr/>
        </p:nvSpPr>
        <p:spPr>
          <a:xfrm>
            <a:off x="11049000" y="24408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36729" y="2923480"/>
            <a:ext cx="25032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50558" y="32219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820085" y="2923480"/>
            <a:ext cx="41019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النسبة الصالحة للموظفين براتب 20000 تساوي</a:t>
            </a:r>
            <a:endParaRPr sz="1600" dirty="0" lang="ar-EG"/>
          </a:p>
        </p:txBody>
      </p:sp>
      <p:sp>
        <p:nvSpPr>
          <p:cNvPr id="17" name="Text 14"/>
          <p:cNvSpPr/>
          <p:nvPr/>
        </p:nvSpPr>
        <p:spPr>
          <a:xfrm>
            <a:off x="11049000" y="29234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95180" y="3406080"/>
            <a:ext cx="25032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09009" y="37045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6159290" y="3406080"/>
            <a:ext cx="47627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النسبة الصالحة للموظفين براتب أقل من 18000 تساوي</a:t>
            </a:r>
            <a:endParaRPr sz="1600" dirty="0" lang="ar-EG"/>
          </a:p>
        </p:txBody>
      </p:sp>
      <p:sp>
        <p:nvSpPr>
          <p:cNvPr id="21" name="Text 18"/>
          <p:cNvSpPr/>
          <p:nvPr/>
        </p:nvSpPr>
        <p:spPr>
          <a:xfrm>
            <a:off x="11049000" y="34060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67920" y="3888680"/>
            <a:ext cx="25032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%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581749" y="41871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6337212" y="3888680"/>
            <a:ext cx="458478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النسبة الصالحة للموظفين براتب 30000 فأقل تساوي</a:t>
            </a:r>
            <a:endParaRPr sz="1600" dirty="0" lang="ar-EG"/>
          </a:p>
        </p:txBody>
      </p:sp>
      <p:sp>
        <p:nvSpPr>
          <p:cNvPr id="25" name="Text 22"/>
          <p:cNvSpPr/>
          <p:nvPr/>
        </p:nvSpPr>
        <p:spPr>
          <a:xfrm>
            <a:off x="11049000" y="38886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1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إجابات الجدول التكراري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2800" y="1958280"/>
            <a:ext cx="3556000" cy="2670572"/>
          </a:xfrm>
          <a:prstGeom prst="roundRect">
            <a:avLst>
              <a:gd name="adj" fmla="val 3804"/>
            </a:avLst>
          </a:prstGeom>
          <a:solidFill>
            <a:srgbClr val="FBEBD0"/>
          </a:solidFill>
          <a:ln/>
        </p:spPr>
      </p:sp>
      <p:sp>
        <p:nvSpPr>
          <p:cNvPr id="5" name="Text 3"/>
          <p:cNvSpPr/>
          <p:nvPr/>
        </p:nvSpPr>
        <p:spPr>
          <a:xfrm>
            <a:off x="948436" y="2186880"/>
            <a:ext cx="319176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50"/>
              </a:lnSpc>
              <a:buNone/>
            </a:pPr>
            <a:r>
              <a:rPr sz="18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لاحظ في الجدول</a:t>
            </a:r>
            <a:endParaRPr sz="1800" dirty="0" lang="ar-EG"/>
          </a:p>
        </p:txBody>
      </p:sp>
      <p:sp>
        <p:nvSpPr>
          <p:cNvPr id="6" name="Text 4"/>
          <p:cNvSpPr/>
          <p:nvPr/>
        </p:nvSpPr>
        <p:spPr>
          <a:xfrm>
            <a:off x="961390" y="2599630"/>
            <a:ext cx="274701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الكود 999 يمثل القيم المفقودة في هذا الجدول</a:t>
            </a:r>
            <a:endParaRPr sz="1400" dirty="0" lang="ar-EG"/>
          </a:p>
        </p:txBody>
      </p:sp>
      <p:sp>
        <p:nvSpPr>
          <p:cNvPr id="7" name="Text 5"/>
          <p:cNvSpPr/>
          <p:nvPr/>
        </p:nvSpPr>
        <p:spPr>
          <a:xfrm>
            <a:off x="3835400" y="25996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1390" y="3242171"/>
            <a:ext cx="274701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النسبة الصالحة من عمود Valid Percent</a:t>
            </a:r>
            <a:endParaRPr sz="1400" dirty="0" lang="ar-EG"/>
          </a:p>
        </p:txBody>
      </p:sp>
      <p:sp>
        <p:nvSpPr>
          <p:cNvPr id="9" name="Text 7"/>
          <p:cNvSpPr/>
          <p:nvPr/>
        </p:nvSpPr>
        <p:spPr>
          <a:xfrm>
            <a:off x="3835400" y="32421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1390" y="3884712"/>
            <a:ext cx="274701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عبارتا «أقل من» و«فأقل» من عمود Cumulative Percent</a:t>
            </a:r>
            <a:endParaRPr sz="1400" dirty="0" lang="ar-EG"/>
          </a:p>
        </p:txBody>
      </p:sp>
      <p:sp>
        <p:nvSpPr>
          <p:cNvPr id="11" name="Text 9"/>
          <p:cNvSpPr/>
          <p:nvPr/>
        </p:nvSpPr>
        <p:spPr>
          <a:xfrm>
            <a:off x="3835400" y="388471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73600" y="1958280"/>
            <a:ext cx="6705600" cy="2602111"/>
          </a:xfrm>
          <a:custGeom>
            <a:avLst/>
            <a:gdLst/>
            <a:ahLst/>
            <a:cxnLst/>
            <a:rect l="l" t="t" r="r" b="b"/>
            <a:pathLst>
              <a:path w="6705600" h="2602111">
                <a:moveTo>
                  <a:pt x="6654800" y="0"/>
                </a:moveTo>
                <a:lnTo>
                  <a:pt x="6654800" y="0"/>
                </a:lnTo>
                <a:arcTo hR="50800" wR="50800" stAng="16200000" swAng="5400000"/>
                <a:lnTo>
                  <a:pt x="6705600" y="2551311"/>
                </a:lnTo>
                <a:arcTo hR="50800" wR="50800" stAng="0" swAng="5400000"/>
                <a:lnTo>
                  <a:pt x="50800" y="2602111"/>
                </a:lnTo>
                <a:arcTo hR="50800" wR="50800" stAng="5400000" swAng="5400000"/>
                <a:lnTo>
                  <a:pt x="0" y="2551311"/>
                </a:lnTo>
                <a:arcTo hR="44450" wR="50800" stAng="10800000" swAng="-5400000"/>
                <a:lnTo>
                  <a:pt x="6654800" y="2595761"/>
                </a:lnTo>
                <a:arcTo hR="44450" wR="44450" stAng="5400000" swAng="-5400000"/>
                <a:lnTo>
                  <a:pt x="66992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3" name="Shape 11"/>
          <p:cNvSpPr/>
          <p:nvPr/>
        </p:nvSpPr>
        <p:spPr>
          <a:xfrm>
            <a:off x="4673600" y="1958280"/>
            <a:ext cx="6705600" cy="2602111"/>
          </a:xfrm>
          <a:custGeom>
            <a:avLst/>
            <a:gdLst/>
            <a:ahLst/>
            <a:cxnLst/>
            <a:rect l="l" t="t" r="r" b="b"/>
            <a:pathLst>
              <a:path w="6705600" h="2602111">
                <a:moveTo>
                  <a:pt x="50800" y="2602111"/>
                </a:moveTo>
                <a:lnTo>
                  <a:pt x="50800" y="2602111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654800" y="0"/>
                </a:lnTo>
                <a:arcTo hR="50800" wR="50800" stAng="16200000" swAng="5400000"/>
                <a:lnTo>
                  <a:pt x="67056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2551311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6300" y="1970980"/>
          <a:ext cx="6686550" cy="2583061"/>
        </p:xfrm>
        <a:graphic>
          <a:graphicData uri="http://schemas.openxmlformats.org/drawingml/2006/table">
            <a:tbl>
              <a:tblPr/>
              <a:tblGrid>
                <a:gridCol w="1471041"/>
                <a:gridCol w="4413123"/>
                <a:gridCol w="802386"/>
              </a:tblGrid>
              <a:tr h="430510"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الإجابة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المطلوب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عدد القيم المفقودة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عدد القيم الصالحة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12.5%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النسبة الصالحة لراتب 20000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43.8%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النسبة الصالحة لراتب أقل من 18000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81.3%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النسبة الصالحة لراتب 30000 فأقل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2 · الأسئلة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قراءة الجدول المتقاطع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5975" y="1961455"/>
            <a:ext cx="3765550" cy="2857500"/>
          </a:xfrm>
          <a:prstGeom prst="roundRect">
            <a:avLst>
              <a:gd name="adj" fmla="val 3444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5" name="Image 0" descr="مخرجات Crosstabs: جدول Case Processing Summary وجدول النوع * القسم لـ 15 موظفًا في أقسام HR و IT و Sales">    </p:cNvPr>
          <p:cNvPicPr>
            <a:picLocks noChangeAspect="1"/>
          </p:cNvPicPr>
          <p:nvPr/>
        </p:nvPicPr>
        <p:blipFill>
          <a:blip r:embed="rId1"/>
          <a:srcRect l="-36" r="-36" t="0" b="0"/>
          <a:stretch/>
        </p:blipFill>
        <p:spPr>
          <a:xfrm>
            <a:off x="920750" y="2066230"/>
            <a:ext cx="3556000" cy="2647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6364" y="1958280"/>
            <a:ext cx="4618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قيمة</a:t>
            </a:r>
            <a:endParaRPr sz="1600" dirty="0" lang="ar-EG"/>
          </a:p>
        </p:txBody>
      </p:sp>
      <p:sp>
        <p:nvSpPr>
          <p:cNvPr id="7" name="Shape 4"/>
          <p:cNvSpPr/>
          <p:nvPr/>
        </p:nvSpPr>
        <p:spPr>
          <a:xfrm>
            <a:off x="6831707" y="22567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624668" y="1958280"/>
            <a:ext cx="32973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عدد القيم المفقودة في البيانات يساوي</a:t>
            </a:r>
            <a:endParaRPr sz="1600" dirty="0" lang="ar-EG"/>
          </a:p>
        </p:txBody>
      </p:sp>
      <p:sp>
        <p:nvSpPr>
          <p:cNvPr id="9" name="Text 6"/>
          <p:cNvSpPr/>
          <p:nvPr/>
        </p:nvSpPr>
        <p:spPr>
          <a:xfrm>
            <a:off x="11049000" y="19582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84673" y="2440880"/>
            <a:ext cx="4618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قيمة</a:t>
            </a:r>
            <a:endParaRPr sz="1600" dirty="0" lang="ar-EG"/>
          </a:p>
        </p:txBody>
      </p:sp>
      <p:sp>
        <p:nvSpPr>
          <p:cNvPr id="11" name="Shape 8"/>
          <p:cNvSpPr/>
          <p:nvPr/>
        </p:nvSpPr>
        <p:spPr>
          <a:xfrm>
            <a:off x="7910016" y="27393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8735327" y="2440880"/>
            <a:ext cx="218667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عدد القيم الصالحة يساوي</a:t>
            </a:r>
            <a:endParaRPr sz="1600" dirty="0" lang="ar-EG"/>
          </a:p>
        </p:txBody>
      </p:sp>
      <p:sp>
        <p:nvSpPr>
          <p:cNvPr id="13" name="Text 10"/>
          <p:cNvSpPr/>
          <p:nvPr/>
        </p:nvSpPr>
        <p:spPr>
          <a:xfrm>
            <a:off x="11049000" y="24408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56660" y="32219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7282160" y="2923480"/>
            <a:ext cx="133379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ومستوى قياسه</a:t>
            </a:r>
            <a:endParaRPr sz="1600" dirty="0" lang="ar-EG"/>
          </a:p>
        </p:txBody>
      </p:sp>
      <p:sp>
        <p:nvSpPr>
          <p:cNvPr id="16" name="Shape 13"/>
          <p:cNvSpPr/>
          <p:nvPr/>
        </p:nvSpPr>
        <p:spPr>
          <a:xfrm>
            <a:off x="8679458" y="32219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9504958" y="2923480"/>
            <a:ext cx="141704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متغير النوع نوعه</a:t>
            </a:r>
            <a:endParaRPr sz="1600" dirty="0" lang="ar-EG"/>
          </a:p>
        </p:txBody>
      </p:sp>
      <p:sp>
        <p:nvSpPr>
          <p:cNvPr id="18" name="Text 15"/>
          <p:cNvSpPr/>
          <p:nvPr/>
        </p:nvSpPr>
        <p:spPr>
          <a:xfrm>
            <a:off x="11049000" y="29234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24898" y="37045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7150398" y="3406080"/>
            <a:ext cx="133379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ومستوى قياسه</a:t>
            </a:r>
            <a:endParaRPr sz="1600" dirty="0" lang="ar-EG"/>
          </a:p>
        </p:txBody>
      </p:sp>
      <p:sp>
        <p:nvSpPr>
          <p:cNvPr id="21" name="Shape 18"/>
          <p:cNvSpPr/>
          <p:nvPr/>
        </p:nvSpPr>
        <p:spPr>
          <a:xfrm>
            <a:off x="8547695" y="37045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9373195" y="3406080"/>
            <a:ext cx="15488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متغير القسم نوعه</a:t>
            </a:r>
            <a:endParaRPr sz="1600" dirty="0" lang="ar-EG"/>
          </a:p>
        </p:txBody>
      </p:sp>
      <p:sp>
        <p:nvSpPr>
          <p:cNvPr id="23" name="Text 20"/>
          <p:cNvSpPr/>
          <p:nvPr/>
        </p:nvSpPr>
        <p:spPr>
          <a:xfrm>
            <a:off x="11049000" y="34060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823446" y="3888680"/>
            <a:ext cx="70306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موظف</a:t>
            </a:r>
            <a:endParaRPr sz="1600" dirty="0" lang="ar-EG"/>
          </a:p>
        </p:txBody>
      </p:sp>
      <p:sp>
        <p:nvSpPr>
          <p:cNvPr id="25" name="Shape 22"/>
          <p:cNvSpPr/>
          <p:nvPr/>
        </p:nvSpPr>
        <p:spPr>
          <a:xfrm>
            <a:off x="6590010" y="41871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7415510" y="3888680"/>
            <a:ext cx="6204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يساوي</a:t>
            </a:r>
            <a:endParaRPr sz="1600" dirty="0" lang="ar-EG"/>
          </a:p>
        </p:txBody>
      </p:sp>
      <p:sp>
        <p:nvSpPr>
          <p:cNvPr id="27" name="Text 24"/>
          <p:cNvSpPr/>
          <p:nvPr/>
        </p:nvSpPr>
        <p:spPr>
          <a:xfrm>
            <a:off x="8048625" y="3888680"/>
            <a:ext cx="2365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71462" y="3888680"/>
            <a:ext cx="26505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عدد الموظفين الذكور في قسم</a:t>
            </a:r>
            <a:endParaRPr sz="1600" dirty="0" lang="ar-EG"/>
          </a:p>
        </p:txBody>
      </p:sp>
      <p:sp>
        <p:nvSpPr>
          <p:cNvPr id="29" name="Text 26"/>
          <p:cNvSpPr/>
          <p:nvPr/>
        </p:nvSpPr>
        <p:spPr>
          <a:xfrm>
            <a:off x="11049000" y="38886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770166" y="4371280"/>
            <a:ext cx="70306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موظف</a:t>
            </a:r>
            <a:endParaRPr sz="1600" dirty="0" lang="ar-EG"/>
          </a:p>
        </p:txBody>
      </p:sp>
      <p:sp>
        <p:nvSpPr>
          <p:cNvPr id="31" name="Shape 28"/>
          <p:cNvSpPr/>
          <p:nvPr/>
        </p:nvSpPr>
        <p:spPr>
          <a:xfrm>
            <a:off x="6536730" y="46697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32" name="Text 29"/>
          <p:cNvSpPr/>
          <p:nvPr/>
        </p:nvSpPr>
        <p:spPr>
          <a:xfrm>
            <a:off x="7362230" y="4371280"/>
            <a:ext cx="6204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يساوي</a:t>
            </a:r>
            <a:endParaRPr sz="1600" dirty="0" lang="ar-EG"/>
          </a:p>
        </p:txBody>
      </p:sp>
      <p:sp>
        <p:nvSpPr>
          <p:cNvPr id="33" name="Text 30"/>
          <p:cNvSpPr/>
          <p:nvPr/>
        </p:nvSpPr>
        <p:spPr>
          <a:xfrm>
            <a:off x="7989788" y="4371280"/>
            <a:ext cx="3381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315509" y="4371280"/>
            <a:ext cx="26064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عدد الموظفين الإناث في قسم</a:t>
            </a:r>
            <a:endParaRPr sz="1600" dirty="0" lang="ar-EG"/>
          </a:p>
        </p:txBody>
      </p:sp>
      <p:sp>
        <p:nvSpPr>
          <p:cNvPr id="35" name="Text 32"/>
          <p:cNvSpPr/>
          <p:nvPr/>
        </p:nvSpPr>
        <p:spPr>
          <a:xfrm>
            <a:off x="11049000" y="43712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32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2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إجابات الجدول المتقاطع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2800" y="1958280"/>
            <a:ext cx="3556000" cy="2285802"/>
          </a:xfrm>
          <a:prstGeom prst="roundRect">
            <a:avLst>
              <a:gd name="adj" fmla="val 4445"/>
            </a:avLst>
          </a:prstGeom>
          <a:solidFill>
            <a:srgbClr val="FBEBD0"/>
          </a:solidFill>
          <a:ln/>
        </p:spPr>
      </p:sp>
      <p:sp>
        <p:nvSpPr>
          <p:cNvPr id="5" name="Text 3"/>
          <p:cNvSpPr/>
          <p:nvPr/>
        </p:nvSpPr>
        <p:spPr>
          <a:xfrm>
            <a:off x="948436" y="2186880"/>
            <a:ext cx="319176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50"/>
              </a:lnSpc>
              <a:buNone/>
            </a:pPr>
            <a:r>
              <a:rPr sz="18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لاحظ في الجدول</a:t>
            </a:r>
            <a:endParaRPr sz="1800" dirty="0" lang="ar-EG"/>
          </a:p>
        </p:txBody>
      </p:sp>
      <p:sp>
        <p:nvSpPr>
          <p:cNvPr id="6" name="Text 4"/>
          <p:cNvSpPr/>
          <p:nvPr/>
        </p:nvSpPr>
        <p:spPr>
          <a:xfrm>
            <a:off x="961390" y="2599630"/>
            <a:ext cx="274701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الصالحة والمفقودة من جدول Case Processing Summary</a:t>
            </a:r>
            <a:endParaRPr sz="1400" dirty="0" lang="ar-EG"/>
          </a:p>
        </p:txBody>
      </p:sp>
      <p:sp>
        <p:nvSpPr>
          <p:cNvPr id="7" name="Text 5"/>
          <p:cNvSpPr/>
          <p:nvPr/>
        </p:nvSpPr>
        <p:spPr>
          <a:xfrm>
            <a:off x="3835400" y="25996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1390" y="3242171"/>
            <a:ext cx="274701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كل خانة داخل الجدول تساوي عدد الموظفين من هذا النوع في هذا القسم</a:t>
            </a:r>
            <a:endParaRPr sz="1400" dirty="0" lang="ar-EG"/>
          </a:p>
        </p:txBody>
      </p:sp>
      <p:sp>
        <p:nvSpPr>
          <p:cNvPr id="9" name="Text 7"/>
          <p:cNvSpPr/>
          <p:nvPr/>
        </p:nvSpPr>
        <p:spPr>
          <a:xfrm>
            <a:off x="3835400" y="32421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73600" y="1958280"/>
            <a:ext cx="6705600" cy="3032621"/>
          </a:xfrm>
          <a:custGeom>
            <a:avLst/>
            <a:gdLst/>
            <a:ahLst/>
            <a:cxnLst/>
            <a:rect l="l" t="t" r="r" b="b"/>
            <a:pathLst>
              <a:path w="6705600" h="3032621">
                <a:moveTo>
                  <a:pt x="6654800" y="0"/>
                </a:moveTo>
                <a:lnTo>
                  <a:pt x="6654800" y="0"/>
                </a:lnTo>
                <a:arcTo hR="50800" wR="50800" stAng="16200000" swAng="5400000"/>
                <a:lnTo>
                  <a:pt x="6705600" y="2981821"/>
                </a:lnTo>
                <a:arcTo hR="50800" wR="50800" stAng="0" swAng="5400000"/>
                <a:lnTo>
                  <a:pt x="50800" y="3032621"/>
                </a:lnTo>
                <a:arcTo hR="50800" wR="50800" stAng="5400000" swAng="5400000"/>
                <a:lnTo>
                  <a:pt x="0" y="2981821"/>
                </a:lnTo>
                <a:arcTo hR="44450" wR="50800" stAng="10800000" swAng="-5400000"/>
                <a:lnTo>
                  <a:pt x="6654800" y="3026271"/>
                </a:lnTo>
                <a:arcTo hR="44450" wR="44450" stAng="5400000" swAng="-5400000"/>
                <a:lnTo>
                  <a:pt x="66992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1" name="Shape 9"/>
          <p:cNvSpPr/>
          <p:nvPr/>
        </p:nvSpPr>
        <p:spPr>
          <a:xfrm>
            <a:off x="4673600" y="1958280"/>
            <a:ext cx="6705600" cy="3032621"/>
          </a:xfrm>
          <a:custGeom>
            <a:avLst/>
            <a:gdLst/>
            <a:ahLst/>
            <a:cxnLst/>
            <a:rect l="l" t="t" r="r" b="b"/>
            <a:pathLst>
              <a:path w="6705600" h="3032621">
                <a:moveTo>
                  <a:pt x="50800" y="3032621"/>
                </a:moveTo>
                <a:lnTo>
                  <a:pt x="50800" y="3032621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654800" y="0"/>
                </a:lnTo>
                <a:arcTo hR="50800" wR="50800" stAng="16200000" swAng="5400000"/>
                <a:lnTo>
                  <a:pt x="67056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2981821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6300" y="1970980"/>
          <a:ext cx="6686550" cy="3013571"/>
        </p:xfrm>
        <a:graphic>
          <a:graphicData uri="http://schemas.openxmlformats.org/drawingml/2006/table">
            <a:tbl>
              <a:tblPr/>
              <a:tblGrid>
                <a:gridCol w="1872234"/>
                <a:gridCol w="4011930"/>
                <a:gridCol w="802386"/>
              </a:tblGrid>
              <a:tr h="430510"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الإجابة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المطلوب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صفر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عدد القيم المفقودة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عدد القيم الصالحة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وصفي، اسمي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نوع متغير النوع ومستوى قياسه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وصفي، اسمي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نوع متغير القسم ومستوى قياسه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الذكور في قسم IT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305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960"/>
                        </a:lnSpc>
                        <a:buNone/>
                      </a:pPr>
                      <a:r>
                        <a:rPr sz="14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الإناث في قسم HR</a:t>
                      </a:r>
                      <a:endParaRPr sz="14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3 · الأسئلة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قراءة الرسم الصندوقي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5975" y="1961455"/>
            <a:ext cx="4273550" cy="3098800"/>
          </a:xfrm>
          <a:prstGeom prst="roundRect">
            <a:avLst>
              <a:gd name="adj" fmla="val 317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5" name="Image 0" descr="رسم صندوقي لدرجات اختبار رياضيات: الشارب من 30 إلى 90، والصندوق من 40 إلى 60، والوسيط 45، وقيمة متطرفة عند 98">    </p:cNvPr>
          <p:cNvPicPr>
            <a:picLocks noChangeAspect="1"/>
          </p:cNvPicPr>
          <p:nvPr/>
        </p:nvPicPr>
        <p:blipFill>
          <a:blip r:embed="rId1"/>
          <a:srcRect l="0" r="0" t="-49" b="-49"/>
          <a:stretch/>
        </p:blipFill>
        <p:spPr>
          <a:xfrm>
            <a:off x="920750" y="2066230"/>
            <a:ext cx="4064000" cy="2889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69437" y="22567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9494937" y="1958280"/>
            <a:ext cx="14270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أقل قيمة تساوي</a:t>
            </a:r>
            <a:endParaRPr sz="1600" dirty="0" lang="ar-EG"/>
          </a:p>
        </p:txBody>
      </p:sp>
      <p:sp>
        <p:nvSpPr>
          <p:cNvPr id="8" name="Text 5"/>
          <p:cNvSpPr/>
          <p:nvPr/>
        </p:nvSpPr>
        <p:spPr>
          <a:xfrm>
            <a:off x="11049000" y="19582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50288" y="26758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9475788" y="2377380"/>
            <a:ext cx="1446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أكبر قيمة تساوي</a:t>
            </a:r>
            <a:endParaRPr sz="1600" dirty="0" lang="ar-EG"/>
          </a:p>
        </p:txBody>
      </p:sp>
      <p:sp>
        <p:nvSpPr>
          <p:cNvPr id="11" name="Text 8"/>
          <p:cNvSpPr/>
          <p:nvPr/>
        </p:nvSpPr>
        <p:spPr>
          <a:xfrm>
            <a:off x="11049000" y="23773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92094" y="30949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7377867" y="2796480"/>
            <a:ext cx="35441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نسبة المشاهدات التي تقل عن 60 تساوي</a:t>
            </a:r>
            <a:endParaRPr sz="1600" dirty="0" lang="ar-EG"/>
          </a:p>
        </p:txBody>
      </p:sp>
      <p:sp>
        <p:nvSpPr>
          <p:cNvPr id="14" name="Text 11"/>
          <p:cNvSpPr/>
          <p:nvPr/>
        </p:nvSpPr>
        <p:spPr>
          <a:xfrm>
            <a:off x="11049000" y="27964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99448" y="35140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664441" y="3215580"/>
            <a:ext cx="42575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نسبة المشاهدات التي تنحصر بين 40 و 60 تساوي</a:t>
            </a:r>
            <a:endParaRPr sz="1600" dirty="0" lang="ar-EG"/>
          </a:p>
        </p:txBody>
      </p:sp>
      <p:sp>
        <p:nvSpPr>
          <p:cNvPr id="17" name="Text 14"/>
          <p:cNvSpPr/>
          <p:nvPr/>
        </p:nvSpPr>
        <p:spPr>
          <a:xfrm>
            <a:off x="11049000" y="32155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917384" y="39331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9742884" y="3634680"/>
            <a:ext cx="11791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المدى يساوي</a:t>
            </a:r>
            <a:endParaRPr sz="1600" dirty="0" lang="ar-EG"/>
          </a:p>
        </p:txBody>
      </p:sp>
      <p:sp>
        <p:nvSpPr>
          <p:cNvPr id="20" name="Text 17"/>
          <p:cNvSpPr/>
          <p:nvPr/>
        </p:nvSpPr>
        <p:spPr>
          <a:xfrm>
            <a:off x="11049000" y="36346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771136" y="43522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9596636" y="4053780"/>
            <a:ext cx="132536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الوسيط يساوي</a:t>
            </a:r>
            <a:endParaRPr sz="1600" dirty="0" lang="ar-EG"/>
          </a:p>
        </p:txBody>
      </p:sp>
      <p:sp>
        <p:nvSpPr>
          <p:cNvPr id="23" name="Text 20"/>
          <p:cNvSpPr/>
          <p:nvPr/>
        </p:nvSpPr>
        <p:spPr>
          <a:xfrm>
            <a:off x="11049000" y="40537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071868" y="47713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9897368" y="4472880"/>
            <a:ext cx="6204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يساوي</a:t>
            </a:r>
            <a:endParaRPr sz="1600" dirty="0" lang="ar-EG"/>
          </a:p>
        </p:txBody>
      </p:sp>
      <p:sp>
        <p:nvSpPr>
          <p:cNvPr id="26" name="Text 23"/>
          <p:cNvSpPr/>
          <p:nvPr/>
        </p:nvSpPr>
        <p:spPr>
          <a:xfrm>
            <a:off x="10517783" y="4472880"/>
            <a:ext cx="4042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IQR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049000" y="44728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635901" y="5190430"/>
            <a:ext cx="12700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9905901" y="4891980"/>
            <a:ext cx="101609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نوع البيانات</a:t>
            </a:r>
            <a:endParaRPr sz="1600" dirty="0" lang="ar-EG"/>
          </a:p>
        </p:txBody>
      </p:sp>
      <p:sp>
        <p:nvSpPr>
          <p:cNvPr id="30" name="Text 27"/>
          <p:cNvSpPr/>
          <p:nvPr/>
        </p:nvSpPr>
        <p:spPr>
          <a:xfrm>
            <a:off x="11049000" y="48919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786489" y="5609530"/>
            <a:ext cx="825500" cy="0"/>
          </a:xfrm>
          <a:prstGeom prst="line">
            <a:avLst/>
          </a:prstGeom>
          <a:noFill/>
          <a:ln w="12700">
            <a:solidFill>
              <a:srgbClr val="46546B"/>
            </a:solidFill>
            <a:prstDash val="dash"/>
          </a:ln>
        </p:spPr>
      </p:sp>
      <p:sp>
        <p:nvSpPr>
          <p:cNvPr id="32" name="Text 29"/>
          <p:cNvSpPr/>
          <p:nvPr/>
        </p:nvSpPr>
        <p:spPr>
          <a:xfrm>
            <a:off x="8608094" y="5311080"/>
            <a:ext cx="23139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400"/>
              </a:lnSpc>
              <a:buNone/>
            </a:pPr>
            <a:r>
              <a:rPr sz="1600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عدد القيم المتطرفة يساوي</a:t>
            </a:r>
            <a:endParaRPr sz="1600" dirty="0" lang="ar-EG"/>
          </a:p>
        </p:txBody>
      </p:sp>
      <p:sp>
        <p:nvSpPr>
          <p:cNvPr id="33" name="Text 30"/>
          <p:cNvSpPr/>
          <p:nvPr/>
        </p:nvSpPr>
        <p:spPr>
          <a:xfrm>
            <a:off x="11049000" y="531108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تمرين 3 · الحل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إجابات الرسم الصندوقي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2800" y="1958280"/>
            <a:ext cx="3556000" cy="2028031"/>
          </a:xfrm>
          <a:prstGeom prst="roundRect">
            <a:avLst>
              <a:gd name="adj" fmla="val 5010"/>
            </a:avLst>
          </a:prstGeom>
          <a:solidFill>
            <a:srgbClr val="FBEBD0"/>
          </a:solidFill>
          <a:ln/>
        </p:spPr>
      </p:sp>
      <p:sp>
        <p:nvSpPr>
          <p:cNvPr id="5" name="Text 3"/>
          <p:cNvSpPr/>
          <p:nvPr/>
        </p:nvSpPr>
        <p:spPr>
          <a:xfrm>
            <a:off x="948436" y="2186880"/>
            <a:ext cx="319176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50"/>
              </a:lnSpc>
              <a:buNone/>
            </a:pPr>
            <a:r>
              <a:rPr sz="1800" b="1" dirty="0" lang="ar-EG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لاحظ في الرسم</a:t>
            </a:r>
            <a:endParaRPr sz="1800" dirty="0" lang="ar-EG"/>
          </a:p>
        </p:txBody>
      </p:sp>
      <p:sp>
        <p:nvSpPr>
          <p:cNvPr id="6" name="Text 4"/>
          <p:cNvSpPr/>
          <p:nvPr/>
        </p:nvSpPr>
        <p:spPr>
          <a:xfrm>
            <a:off x="961390" y="2599630"/>
            <a:ext cx="274701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الصندوق من 40 إلى 60، والخط داخله هو الوسيط 45</a:t>
            </a:r>
            <a:endParaRPr sz="1400" dirty="0" lang="ar-EG"/>
          </a:p>
        </p:txBody>
      </p:sp>
      <p:sp>
        <p:nvSpPr>
          <p:cNvPr id="7" name="Text 5"/>
          <p:cNvSpPr/>
          <p:nvPr/>
        </p:nvSpPr>
        <p:spPr>
          <a:xfrm>
            <a:off x="3835400" y="25996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1390" y="3242171"/>
            <a:ext cx="274701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030"/>
              </a:lnSpc>
              <a:buNone/>
            </a:pPr>
            <a:r>
              <a:rPr sz="1400" dirty="0" lang="ar-EG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النجمة فوق الشارب قيمة متطرفة عند 98</a:t>
            </a:r>
            <a:endParaRPr sz="1400" dirty="0" lang="ar-EG"/>
          </a:p>
        </p:txBody>
      </p:sp>
      <p:sp>
        <p:nvSpPr>
          <p:cNvPr id="9" name="Text 7"/>
          <p:cNvSpPr/>
          <p:nvPr/>
        </p:nvSpPr>
        <p:spPr>
          <a:xfrm>
            <a:off x="3835400" y="32421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73600" y="1958280"/>
            <a:ext cx="6705600" cy="3644503"/>
          </a:xfrm>
          <a:custGeom>
            <a:avLst/>
            <a:gdLst/>
            <a:ahLst/>
            <a:cxnLst/>
            <a:rect l="l" t="t" r="r" b="b"/>
            <a:pathLst>
              <a:path w="6705600" h="3644503">
                <a:moveTo>
                  <a:pt x="6654800" y="0"/>
                </a:moveTo>
                <a:lnTo>
                  <a:pt x="6654800" y="0"/>
                </a:lnTo>
                <a:arcTo hR="50800" wR="50800" stAng="16200000" swAng="5400000"/>
                <a:lnTo>
                  <a:pt x="6705600" y="3593703"/>
                </a:lnTo>
                <a:arcTo hR="50800" wR="50800" stAng="0" swAng="5400000"/>
                <a:lnTo>
                  <a:pt x="50800" y="3644503"/>
                </a:lnTo>
                <a:arcTo hR="50800" wR="50800" stAng="5400000" swAng="5400000"/>
                <a:lnTo>
                  <a:pt x="0" y="3593703"/>
                </a:lnTo>
                <a:arcTo hR="44450" wR="50800" stAng="10800000" swAng="-5400000"/>
                <a:lnTo>
                  <a:pt x="6654800" y="3638153"/>
                </a:lnTo>
                <a:arcTo hR="44450" wR="44450" stAng="5400000" swAng="-5400000"/>
                <a:lnTo>
                  <a:pt x="66992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1" name="Shape 9"/>
          <p:cNvSpPr/>
          <p:nvPr/>
        </p:nvSpPr>
        <p:spPr>
          <a:xfrm>
            <a:off x="4673600" y="1958280"/>
            <a:ext cx="6705600" cy="3644503"/>
          </a:xfrm>
          <a:custGeom>
            <a:avLst/>
            <a:gdLst/>
            <a:ahLst/>
            <a:cxnLst/>
            <a:rect l="l" t="t" r="r" b="b"/>
            <a:pathLst>
              <a:path w="6705600" h="3644503">
                <a:moveTo>
                  <a:pt x="50800" y="3644503"/>
                </a:moveTo>
                <a:lnTo>
                  <a:pt x="50800" y="3644503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654800" y="0"/>
                </a:lnTo>
                <a:arcTo hR="50800" wR="50800" stAng="16200000" swAng="5400000"/>
                <a:lnTo>
                  <a:pt x="67056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3593703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6300" y="1970980"/>
          <a:ext cx="6686550" cy="3625453"/>
        </p:xfrm>
        <a:graphic>
          <a:graphicData uri="http://schemas.openxmlformats.org/drawingml/2006/table">
            <a:tbl>
              <a:tblPr/>
              <a:tblGrid>
                <a:gridCol w="2273427"/>
                <a:gridCol w="3610737"/>
                <a:gridCol w="802386"/>
              </a:tblGrid>
              <a:tr h="362545"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الإجابة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b="1" dirty="0" lang="ar-EG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المطلوب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أقل قيمة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أكبر قيمة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75%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نسبة المشاهدات التي تقل عن 60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50%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نسبة المشاهدات بين 40 و 60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المدى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الوسيط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IQR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ملتوية ناحية اليمين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نوع البيانات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6254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 rtl="1">
                        <a:lnSpc>
                          <a:spcPts val="1820"/>
                        </a:lnSpc>
                        <a:buNone/>
                      </a:pPr>
                      <a:r>
                        <a:rPr sz="1300" dirty="0" lang="ar-EG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عدد القيم المتطرفة</a:t>
                      </a:r>
                      <a:endParaRPr sz="1300" dirty="0" lang="ar-EG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b="1" dirty="0" lang="ar-EG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الخلاصة</a:t>
            </a:r>
            <a:endParaRPr sz="1200" dirty="0" lang="ar-EG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140"/>
              </a:lnSpc>
              <a:buNone/>
            </a:pPr>
            <a:r>
              <a:rPr sz="3600" b="1" dirty="0" lang="ar-EG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 الذي يجب أن تتذكره؟</a:t>
            </a:r>
            <a:endParaRPr sz="3600" dirty="0" lang="ar-EG"/>
          </a:p>
        </p:txBody>
      </p:sp>
      <p:sp>
        <p:nvSpPr>
          <p:cNvPr id="4" name="Shape 2"/>
          <p:cNvSpPr/>
          <p:nvPr/>
        </p:nvSpPr>
        <p:spPr>
          <a:xfrm>
            <a:off x="812899" y="1958280"/>
            <a:ext cx="3386634" cy="2540000"/>
          </a:xfrm>
          <a:prstGeom prst="roundRect">
            <a:avLst>
              <a:gd name="adj" fmla="val 4000"/>
            </a:avLst>
          </a:prstGeom>
          <a:solidFill>
            <a:srgbClr val="2E3C52"/>
          </a:solidFill>
          <a:ln/>
        </p:spPr>
      </p:sp>
      <p:sp>
        <p:nvSpPr>
          <p:cNvPr id="5" name="Text 3"/>
          <p:cNvSpPr/>
          <p:nvPr/>
        </p:nvSpPr>
        <p:spPr>
          <a:xfrm>
            <a:off x="3589933" y="22122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0540" y="2694880"/>
            <a:ext cx="29649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00"/>
              </a:lnSpc>
              <a:buNone/>
            </a:pPr>
            <a:r>
              <a:rPr sz="2000" b="1" dirty="0" lang="ar-EG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المقاييس</a:t>
            </a:r>
            <a:endParaRPr sz="2000" dirty="0" lang="ar-EG"/>
          </a:p>
        </p:txBody>
      </p:sp>
      <p:sp>
        <p:nvSpPr>
          <p:cNvPr id="7" name="Text 5"/>
          <p:cNvSpPr/>
          <p:nvPr/>
        </p:nvSpPr>
        <p:spPr>
          <a:xfrm>
            <a:off x="980540" y="3139380"/>
            <a:ext cx="2964993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النزعة المركزية: المتوسط والوسيط والمنوال، والتشتت: المدى والتباين والانحراف المعياري، وكلها من Frequencies ثم Statistics</a:t>
            </a:r>
            <a:endParaRPr sz="1500" dirty="0" lang="ar-EG"/>
          </a:p>
        </p:txBody>
      </p:sp>
      <p:sp>
        <p:nvSpPr>
          <p:cNvPr id="8" name="Shape 6"/>
          <p:cNvSpPr/>
          <p:nvPr/>
        </p:nvSpPr>
        <p:spPr>
          <a:xfrm>
            <a:off x="4402733" y="1958280"/>
            <a:ext cx="3386634" cy="2540000"/>
          </a:xfrm>
          <a:prstGeom prst="roundRect">
            <a:avLst>
              <a:gd name="adj" fmla="val 4000"/>
            </a:avLst>
          </a:prstGeom>
          <a:solidFill>
            <a:srgbClr val="2E3C52"/>
          </a:solidFill>
          <a:ln/>
        </p:spPr>
      </p:sp>
      <p:sp>
        <p:nvSpPr>
          <p:cNvPr id="9" name="Text 7"/>
          <p:cNvSpPr/>
          <p:nvPr/>
        </p:nvSpPr>
        <p:spPr>
          <a:xfrm>
            <a:off x="7179766" y="22122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0374" y="2694880"/>
            <a:ext cx="29649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00"/>
              </a:lnSpc>
              <a:buNone/>
            </a:pPr>
            <a:r>
              <a:rPr sz="2000" b="1" dirty="0" lang="ar-EG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الجداول والرسوم</a:t>
            </a:r>
            <a:endParaRPr sz="2000" dirty="0" lang="ar-EG"/>
          </a:p>
        </p:txBody>
      </p:sp>
      <p:sp>
        <p:nvSpPr>
          <p:cNvPr id="11" name="Text 9"/>
          <p:cNvSpPr/>
          <p:nvPr/>
        </p:nvSpPr>
        <p:spPr>
          <a:xfrm>
            <a:off x="4570374" y="3139380"/>
            <a:ext cx="2964993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Frequencies للجدول التكراري والأعمدة والدائرة والمدرج و Crosstabs للجدول المتقاطع و Chart Builder للرسم الصندوقي</a:t>
            </a:r>
            <a:endParaRPr sz="1500" dirty="0" lang="ar-EG"/>
          </a:p>
        </p:txBody>
      </p:sp>
      <p:sp>
        <p:nvSpPr>
          <p:cNvPr id="12" name="Shape 10"/>
          <p:cNvSpPr/>
          <p:nvPr/>
        </p:nvSpPr>
        <p:spPr>
          <a:xfrm>
            <a:off x="7992566" y="1958280"/>
            <a:ext cx="3386634" cy="2540000"/>
          </a:xfrm>
          <a:prstGeom prst="roundRect">
            <a:avLst>
              <a:gd name="adj" fmla="val 4000"/>
            </a:avLst>
          </a:prstGeom>
          <a:solidFill>
            <a:srgbClr val="2E3C52"/>
          </a:solidFill>
          <a:ln/>
        </p:spPr>
      </p:sp>
      <p:sp>
        <p:nvSpPr>
          <p:cNvPr id="13" name="Text 11"/>
          <p:cNvSpPr/>
          <p:nvPr/>
        </p:nvSpPr>
        <p:spPr>
          <a:xfrm>
            <a:off x="10769600" y="22122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60207" y="2694880"/>
            <a:ext cx="29649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500"/>
              </a:lnSpc>
              <a:buNone/>
            </a:pPr>
            <a:r>
              <a:rPr sz="2000" b="1" dirty="0" lang="ar-EG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القيم المفقودة</a:t>
            </a:r>
            <a:endParaRPr sz="2000" dirty="0" lang="ar-EG"/>
          </a:p>
        </p:txBody>
      </p:sp>
      <p:sp>
        <p:nvSpPr>
          <p:cNvPr id="15" name="Text 13"/>
          <p:cNvSpPr/>
          <p:nvPr/>
        </p:nvSpPr>
        <p:spPr>
          <a:xfrm>
            <a:off x="8160207" y="3139380"/>
            <a:ext cx="2964993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175"/>
              </a:lnSpc>
              <a:buNone/>
            </a:pPr>
            <a:r>
              <a:rPr sz="15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نُدخل مكانها كودًا مثل 500، ونعرّفه في خانة Missing في نافذة Variable View</a:t>
            </a:r>
            <a:endParaRPr sz="1500" dirty="0" lang="ar-EG"/>
          </a:p>
        </p:txBody>
      </p:sp>
      <p:sp>
        <p:nvSpPr>
          <p:cNvPr id="16" name="Text 14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25880" y="6238280"/>
            <a:ext cx="275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sz="1200" dirty="0" lang="ar-EG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2</a:t>
            </a:r>
            <a:endParaRPr sz="1200" dirty="0" lang="ar-E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سكشن 2 — القيم المفقودة والإحصاء الوصفي</dc:title>
  <dc:subject/>
  <dc:creator/>
  <cp:lastModifiedBy/>
  <cp:revision>1</cp:revision>
  <dcterms:created xsi:type="dcterms:W3CDTF">2026-10-11T20:24:24Z</dcterms:created>
  <dcterms:modified xsi:type="dcterms:W3CDTF">2026-10-11T20:24:24Z</dcterms:modified>
</cp:coreProperties>
</file>