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is an average of 3.7 from a small sample enough to move whole courses online? Take a few answers, then say: a hypothesis test is the tool that settles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attitude score is made in SPSS with Transform › Compute Variable as the mean of q1, q2, q3, q5 and q6. Today the score is given ready so we can focus on the test. Part A (gender, faculty) is kept for the independent-groups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null always has the equals sign; the alternative has not-equal. We start by assuming no difference, and the data has to convince us otherwise.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 is the chance of seeing a difference this big if the null were true; the smaller it is, the less likely the difference is chance. Note: strictly we “fail to reject” H0 rather than “accept” it, but we keep the lecture’s wording.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Value is the key box: leave it empty and SPSS compares the mean with zero. The confidence level in Options only changes the confidence interval; we use it to know 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Value = 20; 95% confidence means α = 0.05. Have students write the hypotheses before running SPSS.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Sig. (2-tailed) column decides. Newer SPSS also prints a One-Sample Effect Sizes table (shown in the lecture); we do not need it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3? It is the midpoint of the Likert scale (neutral). Significantly above 3 means students approve; significantly below means they oppose.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test says whether there is a difference; the sign of Mean Difference says which way. The confidence interval (.33 to 1.04) is all positive and excludes zero, which agrees with rejecting H0.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idea: SPSS takes each person’s difference (before − after) and tests whether the mean difference is zero, so each person must stay on one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Correction: the lecture’s table has 18 for employee 5 after, but its SPSS solution (Sig = 0.178) was run with 24. We use 24 so students reproduce the lecture’s answer. With 18, Sig = 0.115 and the decision is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SPSS also prints Paired Samples Correlations (r = .868 between before and after); it is not used for the decision. Mean = before − after = 1.5, positive, so errors went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paired? The same eight students are measured twice. Note the confidence level is 99% here, so α = 0.01.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SPSS subtracts Variable1 − Variable2 in the order entered. Put att_after first and the sign flips; the decision stays. For management: “Two weeks of online study significantly improved students’ attitude.”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exam mistake: always comparing with 0.05. Example 2, next, uses 99%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1: a | 2: c | 3: b | 4: c. Read the confidence level from the interval heading (99%), so α =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5: c | 6: a | 7: a. Sig = 0.064 &gt; α = 0.01, so accept H0. Even at 95% confidence, 0.064 would still be above 0.05.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1: a | 2: b | 3: c. The lecture’s output also shows Paired Samples Correlations (r = .905, Sig = .013): do not confuse that Sig with the test’s Sig.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4: b | 5: b. Sig = 0.012 &lt; α = 0.05, so reject H0: there is a significant before/after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13600" y="1346200"/>
            <a:ext cx="4165600" cy="4165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1397099"/>
            <a:ext cx="596493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12800" y="1813620"/>
            <a:ext cx="5964936" cy="2425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Hypothesis tests for the mean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12800" y="4417120"/>
            <a:ext cx="5964936" cy="3885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Is the difference real, or just chance?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12800" y="4983460"/>
            <a:ext cx="762000" cy="2540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7" name="Text 4"/>
          <p:cNvSpPr/>
          <p:nvPr/>
        </p:nvSpPr>
        <p:spPr>
          <a:xfrm>
            <a:off x="812800" y="5212060"/>
            <a:ext cx="59649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Horus University · 2026/2027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376759"/>
            <a:ext cx="98107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BEFORE WE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844080"/>
            <a:ext cx="9810750" cy="1427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3.7 out of 5: do students really approve?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500041"/>
            <a:ext cx="981075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We asked 12 students about e-learning and their average attitude was 3.7, above the neutral 3. Ask 12 other students and we might get 2.9.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4516041"/>
            <a:ext cx="981075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Before telling management “students approve”, we need a test that answers: is the difference real, or chance?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 we cover today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2104330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24000" y="2097980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Statistical hypotheses: null, alternative, and the decision rule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12800" y="253801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2800" y="2687241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24000" y="2680891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one-sample t-test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12800" y="312092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2800" y="3270151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24000" y="3263801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paired-samples t-test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12800" y="370383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800" y="3853061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24000" y="3846711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Applying both to the case: students’ attitude to e-learning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12800" y="4286746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2800" y="4435971"/>
            <a:ext cx="5080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4000" y="4429621"/>
            <a:ext cx="1015085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Reading the output: multiple-choice questions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22000" y="2362200"/>
            <a:ext cx="457200" cy="213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185291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812800" y="3529310"/>
            <a:ext cx="91567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Statistical hypotheses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12800" y="4481810"/>
            <a:ext cx="91567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claim we test, and one rule to judge it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From reliability to a decision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10655"/>
            <a:ext cx="3397250" cy="2240062"/>
          </a:xfrm>
          <a:prstGeom prst="roundRect">
            <a:avLst>
              <a:gd name="adj" fmla="val 4394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2350" y="2117030"/>
            <a:ext cx="1461790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 we are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22350" y="2538611"/>
            <a:ext cx="30740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reliable questionnaire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22350" y="2913261"/>
            <a:ext cx="3074035" cy="1056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Section 3 we dropped q4, so the five items became reliable (alpha = .828); then the questionnaire went out to students.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97375" y="1910655"/>
            <a:ext cx="3397250" cy="2240062"/>
          </a:xfrm>
          <a:prstGeom prst="roundRect">
            <a:avLst>
              <a:gd name="adj" fmla="val 4394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3750" y="2117030"/>
            <a:ext cx="1344116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variable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3750" y="2538611"/>
            <a:ext cx="30740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Attitude score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03750" y="2913261"/>
            <a:ext cx="3074035" cy="7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student’s average over the five items, from 1 to 5. A quantitative (Scale) variable; 3 means neutral.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78775" y="1910655"/>
            <a:ext cx="3397250" cy="2240062"/>
          </a:xfrm>
          <a:prstGeom prst="roundRect">
            <a:avLst>
              <a:gd name="adj" fmla="val 4394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85150" y="2117030"/>
            <a:ext cx="185300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Management asks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85150" y="2538611"/>
            <a:ext cx="307403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Two questions today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185150" y="2913261"/>
            <a:ext cx="3074035" cy="7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 students’ attitudes differ from neutral? Did trying online study change their minds?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407892"/>
            <a:ext cx="10566400" cy="33268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90981" tIns="2081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We answer both with a t-test: one sample, then paired samples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DEFINITION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 is a statistical hypothesis?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07480"/>
            <a:ext cx="10883392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claim or guess about a population parameter (such as the mean μ) whose truth we want to test.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5975" y="2469455"/>
            <a:ext cx="5175250" cy="2368352"/>
          </a:xfrm>
          <a:prstGeom prst="roundRect">
            <a:avLst>
              <a:gd name="adj" fmla="val 4156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7750" y="2701230"/>
            <a:ext cx="467420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7750" y="3135511"/>
            <a:ext cx="48530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null hypothesis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47750" y="3554611"/>
            <a:ext cx="485305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 difference or change. Any gap between sample and population is due to chance.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47750" y="4273352"/>
            <a:ext cx="4711700" cy="33268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90981" tIns="2081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Our case: mean attitude = 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00775" y="2469455"/>
            <a:ext cx="5175250" cy="2368352"/>
          </a:xfrm>
          <a:prstGeom prst="roundRect">
            <a:avLst>
              <a:gd name="adj" fmla="val 4156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2550" y="2701230"/>
            <a:ext cx="467420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32550" y="3135511"/>
            <a:ext cx="48530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alternative hypothesis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32550" y="3554611"/>
            <a:ext cx="485305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There is a real difference or change. It is the opposite of the null.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32550" y="4273352"/>
            <a:ext cx="4711700" cy="332680"/>
          </a:xfrm>
          <a:prstGeom prst="roundRect">
            <a:avLst>
              <a:gd name="adj" fmla="val 50000"/>
            </a:avLst>
          </a:prstGeom>
          <a:solidFill>
            <a:srgbClr val="FBEBD0"/>
          </a:solidFill>
          <a:ln/>
        </p:spPr>
        <p:txBody>
          <a:bodyPr wrap="none" lIns="90981" tIns="2081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Our case: mean attitude ≠ 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PROCEDURE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Three steps and one decision rule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9582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44600" y="1958280"/>
            <a:ext cx="51015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State the hypotheses (H0 and H1)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23900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44600" y="2390080"/>
            <a:ext cx="51015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Run the test in SPSS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800" y="28218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821880"/>
            <a:ext cx="510159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Compare Sig with the significance level α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2800" y="3279080"/>
            <a:ext cx="5384800" cy="871141"/>
          </a:xfrm>
          <a:prstGeom prst="roundRect">
            <a:avLst>
              <a:gd name="adj" fmla="val 11663"/>
            </a:avLst>
          </a:prstGeom>
          <a:solidFill>
            <a:srgbClr val="DCE7F5"/>
          </a:solidFill>
          <a:ln/>
        </p:spPr>
        <p:txBody>
          <a:bodyPr wrap="square" lIns="148042" tIns="148042" rIns="0" bIns="122642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Significance level α = 1 − confidence level. 95% confidence means α = 0.05; 99% means α = 0.01.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53200" y="1958280"/>
            <a:ext cx="4826000" cy="1444526"/>
          </a:xfrm>
          <a:prstGeom prst="roundRect">
            <a:avLst>
              <a:gd name="adj" fmla="val 7033"/>
            </a:avLst>
          </a:prstGeom>
          <a:solidFill>
            <a:srgbClr val="FBEBD0"/>
          </a:solidFill>
          <a:ln/>
        </p:spPr>
      </p:sp>
      <p:sp>
        <p:nvSpPr>
          <p:cNvPr id="12" name="Text 10"/>
          <p:cNvSpPr/>
          <p:nvPr/>
        </p:nvSpPr>
        <p:spPr>
          <a:xfrm>
            <a:off x="6756400" y="2161480"/>
            <a:ext cx="100091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Sig ≥ α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56400" y="2583061"/>
            <a:ext cx="455218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Accept H0, reject H1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56400" y="2941836"/>
            <a:ext cx="455218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difference in the sample could be chance.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53200" y="3555206"/>
            <a:ext cx="4826000" cy="1444526"/>
          </a:xfrm>
          <a:prstGeom prst="roundRect">
            <a:avLst>
              <a:gd name="adj" fmla="val 7033"/>
            </a:avLst>
          </a:prstGeom>
          <a:solidFill>
            <a:srgbClr val="DDEFE3"/>
          </a:solidFill>
          <a:ln/>
        </p:spPr>
      </p:sp>
      <p:sp>
        <p:nvSpPr>
          <p:cNvPr id="16" name="Text 14"/>
          <p:cNvSpPr/>
          <p:nvPr/>
        </p:nvSpPr>
        <p:spPr>
          <a:xfrm>
            <a:off x="6756400" y="3758406"/>
            <a:ext cx="100091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Sig &lt; 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56400" y="4179987"/>
            <a:ext cx="455218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2E7D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Reject H0, accept H1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756400" y="4538762"/>
            <a:ext cx="455218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difference is real (significant), not chance.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22000" y="2362200"/>
            <a:ext cx="457200" cy="213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185291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812800" y="3529310"/>
            <a:ext cx="91567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One-sample t-test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12800" y="4481810"/>
            <a:ext cx="91567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Does the population mean equal a given value?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783358" cy="289520"/>
          </a:xfrm>
          <a:custGeom>
            <a:avLst/>
            <a:gdLst/>
            <a:ahLst/>
            <a:cxnLst/>
            <a:rect l="l" t="t" r="r" b="b"/>
            <a:pathLst>
              <a:path w="1783358" h="289520">
                <a:moveTo>
                  <a:pt x="144760" y="0"/>
                </a:moveTo>
                <a:lnTo>
                  <a:pt x="1638598" y="0"/>
                </a:lnTo>
                <a:arcTo hR="144760" wR="144760" stAng="16200000" swAng="5400000"/>
                <a:lnTo>
                  <a:pt x="1783358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 Sample T-Test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039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 and how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037655"/>
            <a:ext cx="3549650" cy="2826742"/>
          </a:xfrm>
          <a:prstGeom prst="roundRect">
            <a:avLst>
              <a:gd name="adj" fmla="val 348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269430"/>
            <a:ext cx="317868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2682180"/>
            <a:ext cx="3178683" cy="1056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 we compare the mean of one quantitative variable with a hypothesised value μ0 given in the question.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7750" y="3840262"/>
            <a:ext cx="132099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 = μ0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47750" y="4299942"/>
            <a:ext cx="132099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 ≠ μ0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24400" y="2034480"/>
            <a:ext cx="100091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Analyze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26919" y="2034480"/>
            <a:ext cx="36075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89278" y="2034480"/>
            <a:ext cx="164107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Compare Means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31956" y="2034480"/>
            <a:ext cx="36075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94316" y="2034480"/>
            <a:ext cx="2067917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 Sample T-Test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24400" y="25195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56200" y="25195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Enter the data, then follow the menu path above.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24400" y="29513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56200" y="29513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Move the variable into Test Variable(s).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24400" y="33831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56200" y="33831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Type the hypothesised value from the question in Test Value.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24400" y="38149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56200" y="38149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 set the confidence level, click Options and type it.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24400" y="42467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56200" y="42467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Click Continue, then OK.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8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SPSS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One-sample t-test step by step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455"/>
            <a:ext cx="3380284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5" name="Image 0" descr="Analyze menu, Compare Means, One-Sample T Test">    </p:cNvPr>
          <p:cNvPicPr>
            <a:picLocks noChangeAspect="1"/>
          </p:cNvPicPr>
          <p:nvPr/>
        </p:nvPicPr>
        <p:blipFill>
          <a:blip r:embed="rId1"/>
          <a:srcRect l="0" r="0" t="-8598" b="-8598"/>
          <a:stretch/>
        </p:blipFill>
        <p:spPr>
          <a:xfrm>
            <a:off x="982067" y="2066230"/>
            <a:ext cx="3048000" cy="215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219200" y="4460180"/>
            <a:ext cx="306964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Analyze › Compare Means › One-Sample T Test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05809" y="1961455"/>
            <a:ext cx="3380383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9" name="Image 1" descr="One-Sample T Test dialog with Test Value 20">    </p:cNvPr>
          <p:cNvPicPr>
            <a:picLocks noChangeAspect="1"/>
          </p:cNvPicPr>
          <p:nvPr/>
        </p:nvPicPr>
        <p:blipFill>
          <a:blip r:embed="rId2"/>
          <a:srcRect l="0" r="0" t="-22787" b="-22787"/>
          <a:stretch/>
        </p:blipFill>
        <p:spPr>
          <a:xfrm>
            <a:off x="4572000" y="2066230"/>
            <a:ext cx="3048000" cy="2159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02634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809034" y="4460180"/>
            <a:ext cx="3069743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Move the variable to Test Variable(s) and type the Test Value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995741" y="1961455"/>
            <a:ext cx="3380284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13" name="Image 2" descr="Options dialog with Confidence Interval Percentage 95">    </p:cNvPr>
          <p:cNvPicPr>
            <a:picLocks noChangeAspect="1"/>
          </p:cNvPicPr>
          <p:nvPr/>
        </p:nvPicPr>
        <p:blipFill>
          <a:blip r:embed="rId3"/>
          <a:srcRect l="0" r="0" t="-1362" b="-1362"/>
          <a:stretch/>
        </p:blipFill>
        <p:spPr>
          <a:xfrm>
            <a:off x="8161834" y="2066230"/>
            <a:ext cx="3048000" cy="2159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992566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398966" y="4460180"/>
            <a:ext cx="306964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Options, type the confidence level, then Continue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EXAMPLE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Monthly training hours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82080"/>
            <a:ext cx="10883392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company aims for 20 training hours a month per employee. These are the monthly training hours of 10 randomly chosen employees.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2663130"/>
            <a:ext cx="10566400" cy="727670"/>
          </a:xfrm>
          <a:custGeom>
            <a:avLst/>
            <a:gdLst/>
            <a:ahLst/>
            <a:cxnLst/>
            <a:rect l="l" t="t" r="r" b="b"/>
            <a:pathLst>
              <a:path w="10566400" h="727670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676870"/>
                </a:lnTo>
                <a:arcTo hR="50800" wR="50800" stAng="0" swAng="5400000"/>
                <a:lnTo>
                  <a:pt x="50800" y="727670"/>
                </a:lnTo>
                <a:arcTo hR="50800" wR="50800" stAng="5400000" swAng="5400000"/>
                <a:lnTo>
                  <a:pt x="0" y="676870"/>
                </a:lnTo>
                <a:arcTo hR="44450" wR="50800" stAng="10800000" swAng="-5400000"/>
                <a:lnTo>
                  <a:pt x="10515600" y="721320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663130"/>
            <a:ext cx="10566400" cy="727670"/>
          </a:xfrm>
          <a:custGeom>
            <a:avLst/>
            <a:gdLst/>
            <a:ahLst/>
            <a:cxnLst/>
            <a:rect l="l" t="t" r="r" b="b"/>
            <a:pathLst>
              <a:path w="10566400" h="727670">
                <a:moveTo>
                  <a:pt x="50800" y="727670"/>
                </a:moveTo>
                <a:lnTo>
                  <a:pt x="50800" y="72767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67687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675830"/>
          <a:ext cx="10547350" cy="708620"/>
        </p:xfrm>
        <a:graphic>
          <a:graphicData uri="http://schemas.openxmlformats.org/drawingml/2006/table">
            <a:tbl>
              <a:tblPr/>
              <a:tblGrid>
                <a:gridCol w="3164205"/>
                <a:gridCol w="738315"/>
                <a:gridCol w="738315"/>
                <a:gridCol w="738315"/>
                <a:gridCol w="738315"/>
                <a:gridCol w="738315"/>
                <a:gridCol w="738315"/>
                <a:gridCol w="738315"/>
                <a:gridCol w="738315"/>
                <a:gridCol w="738315"/>
                <a:gridCol w="738315"/>
              </a:tblGrid>
              <a:tr h="35431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Employee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5431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Training hours (hours)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12800" y="3619401"/>
            <a:ext cx="10566400" cy="1527175"/>
          </a:xfrm>
          <a:prstGeom prst="roundRect">
            <a:avLst>
              <a:gd name="adj" fmla="val 6653"/>
            </a:avLst>
          </a:prstGeom>
          <a:solidFill>
            <a:srgbClr val="FBEBD0"/>
          </a:solidFill>
          <a:ln/>
        </p:spPr>
      </p:sp>
      <p:sp>
        <p:nvSpPr>
          <p:cNvPr id="9" name="Text 6"/>
          <p:cNvSpPr/>
          <p:nvPr/>
        </p:nvSpPr>
        <p:spPr>
          <a:xfrm>
            <a:off x="1016000" y="3822601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task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016000" y="4206776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447800" y="4206776"/>
            <a:ext cx="1002004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Enter the data in SPSS as one variable, hours.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6000" y="4638576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447800" y="4638576"/>
            <a:ext cx="1002004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Does the mean monthly training differ significantly from 20 hours at 0.95 confidence?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EXAMPLE 1 ·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gap is chance: target met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56680"/>
            <a:ext cx="132099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 = 20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35398" y="1903313"/>
            <a:ext cx="2589510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Null: no significant difference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824909" y="1856680"/>
            <a:ext cx="132099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 ≠ 20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47507" y="1903313"/>
            <a:ext cx="3262313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Alternative: a significant difference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2800" y="2392561"/>
            <a:ext cx="418592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Statistics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2800" y="265668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4013200" y="0"/>
                </a:moveTo>
                <a:lnTo>
                  <a:pt x="4013200" y="0"/>
                </a:lnTo>
                <a:arcTo hR="50800" wR="50800" stAng="16200000" swAng="5400000"/>
                <a:lnTo>
                  <a:pt x="40640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4013200" y="812800"/>
                </a:lnTo>
                <a:arcTo hR="44450" wR="44450" stAng="5400000" swAng="-5400000"/>
                <a:lnTo>
                  <a:pt x="4057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812800" y="265668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013200" y="0"/>
                </a:lnTo>
                <a:arcTo hR="50800" wR="50800" stAng="16200000" swAng="5400000"/>
                <a:lnTo>
                  <a:pt x="4064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669381"/>
          <a:ext cx="4044950" cy="800100"/>
        </p:xfrm>
        <a:graphic>
          <a:graphicData uri="http://schemas.openxmlformats.org/drawingml/2006/table">
            <a:tbl>
              <a:tblPr/>
              <a:tblGrid>
                <a:gridCol w="889889"/>
                <a:gridCol w="404495"/>
                <a:gridCol w="808990"/>
                <a:gridCol w="970788"/>
                <a:gridCol w="97078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hours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20.40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4.926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1.558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80000" y="2392561"/>
            <a:ext cx="6488176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Test Value = 20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80000" y="2656681"/>
            <a:ext cx="6299200" cy="819150"/>
          </a:xfrm>
          <a:custGeom>
            <a:avLst/>
            <a:gdLst/>
            <a:ahLst/>
            <a:cxnLst/>
            <a:rect l="l" t="t" r="r" b="b"/>
            <a:pathLst>
              <a:path w="6299200" h="819150">
                <a:moveTo>
                  <a:pt x="6248400" y="0"/>
                </a:moveTo>
                <a:lnTo>
                  <a:pt x="6248400" y="0"/>
                </a:lnTo>
                <a:arcTo hR="50800" wR="50800" stAng="16200000" swAng="5400000"/>
                <a:lnTo>
                  <a:pt x="62992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6248400" y="812800"/>
                </a:lnTo>
                <a:arcTo hR="44450" wR="44450" stAng="5400000" swAng="-5400000"/>
                <a:lnTo>
                  <a:pt x="62928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4" name="Shape 11"/>
          <p:cNvSpPr/>
          <p:nvPr/>
        </p:nvSpPr>
        <p:spPr>
          <a:xfrm>
            <a:off x="5080000" y="2656681"/>
            <a:ext cx="6299200" cy="819150"/>
          </a:xfrm>
          <a:custGeom>
            <a:avLst/>
            <a:gdLst/>
            <a:ahLst/>
            <a:cxnLst/>
            <a:rect l="l" t="t" r="r" b="b"/>
            <a:pathLst>
              <a:path w="62992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6248400" y="0"/>
                </a:lnTo>
                <a:arcTo hR="50800" wR="50800" stAng="16200000" swAng="5400000"/>
                <a:lnTo>
                  <a:pt x="62992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2700" y="2669381"/>
          <a:ext cx="6280150" cy="800100"/>
        </p:xfrm>
        <a:graphic>
          <a:graphicData uri="http://schemas.openxmlformats.org/drawingml/2006/table">
            <a:tbl>
              <a:tblPr/>
              <a:tblGrid>
                <a:gridCol w="1057055"/>
                <a:gridCol w="621797"/>
                <a:gridCol w="497438"/>
                <a:gridCol w="1057055"/>
                <a:gridCol w="1057055"/>
                <a:gridCol w="994875"/>
                <a:gridCol w="994875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 Difference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hours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.257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.803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.400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-3.12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3.92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812800" y="3679031"/>
            <a:ext cx="10566400" cy="1010245"/>
          </a:xfrm>
          <a:prstGeom prst="roundRect">
            <a:avLst>
              <a:gd name="adj" fmla="val 10057"/>
            </a:avLst>
          </a:prstGeom>
          <a:solidFill>
            <a:srgbClr val="FBEBD0"/>
          </a:solidFill>
          <a:ln/>
        </p:spPr>
      </p:sp>
      <p:sp>
        <p:nvSpPr>
          <p:cNvPr id="17" name="Text 13"/>
          <p:cNvSpPr/>
          <p:nvPr/>
        </p:nvSpPr>
        <p:spPr>
          <a:xfrm>
            <a:off x="1016000" y="3882231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Sig = 0.803 &gt; α = 0.05: accept H0, reject H1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6000" y="4228306"/>
            <a:ext cx="104648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Mean training (20.4 h) does not differ significantly from 20 hours; the 0.4-hour gap could be chance.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Are students neutral about e-learning?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82080"/>
            <a:ext cx="10883392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Management asks: does students’ attitude differ from neutral (3)? We picked 12 respondents at random; here is each one’s attitude score.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2663130"/>
            <a:ext cx="10566400" cy="727670"/>
          </a:xfrm>
          <a:custGeom>
            <a:avLst/>
            <a:gdLst/>
            <a:ahLst/>
            <a:cxnLst/>
            <a:rect l="l" t="t" r="r" b="b"/>
            <a:pathLst>
              <a:path w="10566400" h="727670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676870"/>
                </a:lnTo>
                <a:arcTo hR="50800" wR="50800" stAng="0" swAng="5400000"/>
                <a:lnTo>
                  <a:pt x="50800" y="727670"/>
                </a:lnTo>
                <a:arcTo hR="50800" wR="50800" stAng="5400000" swAng="5400000"/>
                <a:lnTo>
                  <a:pt x="0" y="676870"/>
                </a:lnTo>
                <a:arcTo hR="44450" wR="50800" stAng="10800000" swAng="-5400000"/>
                <a:lnTo>
                  <a:pt x="10515600" y="721320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663130"/>
            <a:ext cx="10566400" cy="727670"/>
          </a:xfrm>
          <a:custGeom>
            <a:avLst/>
            <a:gdLst/>
            <a:ahLst/>
            <a:cxnLst/>
            <a:rect l="l" t="t" r="r" b="b"/>
            <a:pathLst>
              <a:path w="10566400" h="727670">
                <a:moveTo>
                  <a:pt x="50800" y="727670"/>
                </a:moveTo>
                <a:lnTo>
                  <a:pt x="50800" y="72767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67687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675830"/>
          <a:ext cx="10547350" cy="708620"/>
        </p:xfrm>
        <a:graphic>
          <a:graphicData uri="http://schemas.openxmlformats.org/drawingml/2006/table">
            <a:tbl>
              <a:tblPr/>
              <a:tblGrid>
                <a:gridCol w="310216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  <a:gridCol w="620432"/>
              </a:tblGrid>
              <a:tr h="35431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Student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5431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Attitude to e-learning (attitude)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76200" marR="76200" marT="63500" marB="635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12800" y="3619401"/>
            <a:ext cx="10566400" cy="1527175"/>
          </a:xfrm>
          <a:prstGeom prst="roundRect">
            <a:avLst>
              <a:gd name="adj" fmla="val 6653"/>
            </a:avLst>
          </a:prstGeom>
          <a:solidFill>
            <a:srgbClr val="FBEBD0"/>
          </a:solidFill>
          <a:ln/>
        </p:spPr>
      </p:sp>
      <p:sp>
        <p:nvSpPr>
          <p:cNvPr id="9" name="Text 6"/>
          <p:cNvSpPr/>
          <p:nvPr/>
        </p:nvSpPr>
        <p:spPr>
          <a:xfrm>
            <a:off x="1016000" y="3822601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task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016000" y="4206776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447800" y="4206776"/>
            <a:ext cx="1002004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Define attitude in Variable View (Scale, Decimals = 1) and enter the scores.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6000" y="4638576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447800" y="4638576"/>
            <a:ext cx="10020046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Test at 95% confidence whether the mean attitude differs from 3. What do we tell management?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CASE 1 ·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Students are not neutral: they lean positive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56680"/>
            <a:ext cx="121433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 =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128738" y="1903313"/>
            <a:ext cx="2046784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Null: attitude is neutral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75522" y="1856680"/>
            <a:ext cx="121433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 ≠ 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91460" y="1903313"/>
            <a:ext cx="3672959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Alternative: attitude differs from neutral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2800" y="2392561"/>
            <a:ext cx="418592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Statistics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2800" y="265668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4013200" y="0"/>
                </a:moveTo>
                <a:lnTo>
                  <a:pt x="4013200" y="0"/>
                </a:lnTo>
                <a:arcTo hR="50800" wR="50800" stAng="16200000" swAng="5400000"/>
                <a:lnTo>
                  <a:pt x="40640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4013200" y="812800"/>
                </a:lnTo>
                <a:arcTo hR="44450" wR="44450" stAng="5400000" swAng="-5400000"/>
                <a:lnTo>
                  <a:pt x="4057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812800" y="265668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013200" y="0"/>
                </a:lnTo>
                <a:arcTo hR="50800" wR="50800" stAng="16200000" swAng="5400000"/>
                <a:lnTo>
                  <a:pt x="4064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669381"/>
          <a:ext cx="4044950" cy="800100"/>
        </p:xfrm>
        <a:graphic>
          <a:graphicData uri="http://schemas.openxmlformats.org/drawingml/2006/table">
            <a:tbl>
              <a:tblPr/>
              <a:tblGrid>
                <a:gridCol w="889889"/>
                <a:gridCol w="404495"/>
                <a:gridCol w="808990"/>
                <a:gridCol w="970788"/>
                <a:gridCol w="97078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attitude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3.68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.556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.160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80000" y="2392561"/>
            <a:ext cx="6488176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Test Value = 3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080000" y="265668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6248400" y="0"/>
                </a:moveTo>
                <a:lnTo>
                  <a:pt x="6248400" y="0"/>
                </a:lnTo>
                <a:arcTo hR="50800" wR="50800" stAng="16200000" swAng="5400000"/>
                <a:lnTo>
                  <a:pt x="6299200" y="958850"/>
                </a:lnTo>
                <a:arcTo hR="50800" wR="50800" stAng="0" swAng="5400000"/>
                <a:lnTo>
                  <a:pt x="50800" y="1009650"/>
                </a:lnTo>
                <a:arcTo hR="50800" wR="50800" stAng="5400000" swAng="5400000"/>
                <a:lnTo>
                  <a:pt x="0" y="958850"/>
                </a:lnTo>
                <a:arcTo hR="44450" wR="50800" stAng="10800000" swAng="-5400000"/>
                <a:lnTo>
                  <a:pt x="6248400" y="1003300"/>
                </a:lnTo>
                <a:arcTo hR="44450" wR="44450" stAng="5400000" swAng="-5400000"/>
                <a:lnTo>
                  <a:pt x="62928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4" name="Shape 11"/>
          <p:cNvSpPr/>
          <p:nvPr/>
        </p:nvSpPr>
        <p:spPr>
          <a:xfrm>
            <a:off x="5080000" y="265668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50800" y="1009650"/>
                </a:moveTo>
                <a:lnTo>
                  <a:pt x="50800" y="10096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6248400" y="0"/>
                </a:lnTo>
                <a:arcTo hR="50800" wR="50800" stAng="16200000" swAng="5400000"/>
                <a:lnTo>
                  <a:pt x="62992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588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2700" y="2669381"/>
          <a:ext cx="6280150" cy="990600"/>
        </p:xfrm>
        <a:graphic>
          <a:graphicData uri="http://schemas.openxmlformats.org/drawingml/2006/table">
            <a:tbl>
              <a:tblPr/>
              <a:tblGrid>
                <a:gridCol w="1057055"/>
                <a:gridCol w="621797"/>
                <a:gridCol w="497438"/>
                <a:gridCol w="1057055"/>
                <a:gridCol w="1057055"/>
                <a:gridCol w="994875"/>
                <a:gridCol w="994875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 Difference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attitude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4.260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.001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.683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.33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812800" y="3869531"/>
            <a:ext cx="10566400" cy="1268016"/>
          </a:xfrm>
          <a:prstGeom prst="roundRect">
            <a:avLst>
              <a:gd name="adj" fmla="val 8013"/>
            </a:avLst>
          </a:prstGeom>
          <a:solidFill>
            <a:srgbClr val="DDEFE3"/>
          </a:solidFill>
          <a:ln/>
        </p:spPr>
      </p:sp>
      <p:sp>
        <p:nvSpPr>
          <p:cNvPr id="17" name="Text 13"/>
          <p:cNvSpPr/>
          <p:nvPr/>
        </p:nvSpPr>
        <p:spPr>
          <a:xfrm>
            <a:off x="1016000" y="4072731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2E7D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Sig = 0.001 &lt; α = 0.05: reject H0, accept H1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6000" y="4418806"/>
            <a:ext cx="10464800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Mean Difference is positive (3.68 is above 3), so the attitude is positive. For management: “Students’ attitude to e-learning is significantly positive.”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17" grpId="0" animBg="1"/>
      <p:bldP spid="1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22000" y="2362200"/>
            <a:ext cx="457200" cy="213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185291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812800" y="3529310"/>
            <a:ext cx="91567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Paired samples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12800" y="4481810"/>
            <a:ext cx="91567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same people before and after: did anything change?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2149177" cy="289520"/>
          </a:xfrm>
          <a:custGeom>
            <a:avLst/>
            <a:gdLst/>
            <a:ahLst/>
            <a:cxnLst/>
            <a:rect l="l" t="t" r="r" b="b"/>
            <a:pathLst>
              <a:path w="2149177" h="289520">
                <a:moveTo>
                  <a:pt x="144760" y="0"/>
                </a:moveTo>
                <a:lnTo>
                  <a:pt x="2004417" y="0"/>
                </a:lnTo>
                <a:arcTo hR="144760" wR="144760" stAng="16200000" swAng="5400000"/>
                <a:lnTo>
                  <a:pt x="2149177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T-Test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039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 and how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037655"/>
            <a:ext cx="3549650" cy="2568972"/>
          </a:xfrm>
          <a:prstGeom prst="roundRect">
            <a:avLst>
              <a:gd name="adj" fmla="val 3831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269430"/>
            <a:ext cx="317868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2682180"/>
            <a:ext cx="3178683" cy="7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 we measure the same people twice (before and after) and want to know whether the mean changed.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7750" y="3582491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μ1 = μ2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47750" y="4042172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μ1 ≠ μ2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24400" y="2034480"/>
            <a:ext cx="100091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Analyze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26919" y="2034480"/>
            <a:ext cx="36075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89278" y="2034480"/>
            <a:ext cx="164107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Compare Means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31956" y="2034480"/>
            <a:ext cx="360759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›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94316" y="2034480"/>
            <a:ext cx="2494657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Paired-Samples T Test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24400" y="25195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56200" y="25195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Enter the data in two columns (before, after): one row per person.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24400" y="29513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56200" y="29513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Follow the path above and move both variables into Paired Variables.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24400" y="33831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56200" y="33831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 set the confidence level, click Options and type it.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24400" y="38149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56200" y="3814961"/>
            <a:ext cx="640969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Click Continue, then OK.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CE8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SPSS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Paired-samples t-test step by step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455"/>
            <a:ext cx="3380284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5" name="Image 0" descr="Analyze menu, Compare Means, Paired-Samples T Test">    </p:cNvPr>
          <p:cNvPicPr>
            <a:picLocks noChangeAspect="1"/>
          </p:cNvPicPr>
          <p:nvPr/>
        </p:nvPicPr>
        <p:blipFill>
          <a:blip r:embed="rId1"/>
          <a:srcRect l="-3039" r="-3039" t="0" b="0"/>
          <a:stretch/>
        </p:blipFill>
        <p:spPr>
          <a:xfrm>
            <a:off x="982067" y="2066230"/>
            <a:ext cx="3048000" cy="215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2800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219200" y="4460180"/>
            <a:ext cx="306964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Analyze › Compare Means › Paired-Samples T Test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405809" y="1961455"/>
            <a:ext cx="3380383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9" name="Image 1" descr="Paired-Samples T Test dialog with before as Variable1 and after as Variable2">    </p:cNvPr>
          <p:cNvPicPr>
            <a:picLocks noChangeAspect="1"/>
          </p:cNvPicPr>
          <p:nvPr/>
        </p:nvPicPr>
        <p:blipFill>
          <a:blip r:embed="rId2"/>
          <a:srcRect l="0" r="0" t="-14352" b="-14352"/>
          <a:stretch/>
        </p:blipFill>
        <p:spPr>
          <a:xfrm>
            <a:off x="4572000" y="2066230"/>
            <a:ext cx="3048000" cy="2159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02634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809034" y="4460180"/>
            <a:ext cx="3069743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Put before in Variable1 and after in Variable2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995741" y="1961455"/>
            <a:ext cx="3380284" cy="2368550"/>
          </a:xfrm>
          <a:prstGeom prst="roundRect">
            <a:avLst>
              <a:gd name="adj" fmla="val 415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13" name="Image 2" descr="Options dialog with Confidence Interval Percentage 95">    </p:cNvPr>
          <p:cNvPicPr>
            <a:picLocks noChangeAspect="1"/>
          </p:cNvPicPr>
          <p:nvPr/>
        </p:nvPicPr>
        <p:blipFill>
          <a:blip r:embed="rId3"/>
          <a:srcRect l="0" r="0" t="-3599" b="-3599"/>
          <a:stretch/>
        </p:blipFill>
        <p:spPr>
          <a:xfrm>
            <a:off x="8161834" y="2066230"/>
            <a:ext cx="3048000" cy="2159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992566" y="4460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398966" y="4460180"/>
            <a:ext cx="3069641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Options, type the confidence level, then Continue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EXAMPLE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new task-management program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07480"/>
            <a:ext cx="3556000" cy="2470150"/>
          </a:xfrm>
          <a:custGeom>
            <a:avLst/>
            <a:gdLst/>
            <a:ahLst/>
            <a:cxnLst/>
            <a:rect l="l" t="t" r="r" b="b"/>
            <a:pathLst>
              <a:path w="3556000" h="2470150">
                <a:moveTo>
                  <a:pt x="3505200" y="0"/>
                </a:moveTo>
                <a:lnTo>
                  <a:pt x="3505200" y="0"/>
                </a:lnTo>
                <a:arcTo hR="50800" wR="50800" stAng="16200000" swAng="5400000"/>
                <a:lnTo>
                  <a:pt x="3556000" y="2419350"/>
                </a:lnTo>
                <a:arcTo hR="50800" wR="50800" stAng="0" swAng="5400000"/>
                <a:lnTo>
                  <a:pt x="50800" y="2470150"/>
                </a:lnTo>
                <a:arcTo hR="50800" wR="50800" stAng="5400000" swAng="5400000"/>
                <a:lnTo>
                  <a:pt x="0" y="2419350"/>
                </a:lnTo>
                <a:arcTo hR="44450" wR="50800" stAng="10800000" swAng="-5400000"/>
                <a:lnTo>
                  <a:pt x="3505200" y="2463800"/>
                </a:lnTo>
                <a:arcTo hR="44450" wR="44450" stAng="5400000" swAng="-5400000"/>
                <a:lnTo>
                  <a:pt x="354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07480"/>
            <a:ext cx="3556000" cy="2470150"/>
          </a:xfrm>
          <a:custGeom>
            <a:avLst/>
            <a:gdLst/>
            <a:ahLst/>
            <a:cxnLst/>
            <a:rect l="l" t="t" r="r" b="b"/>
            <a:pathLst>
              <a:path w="3556000" h="2470150">
                <a:moveTo>
                  <a:pt x="50800" y="2470150"/>
                </a:moveTo>
                <a:lnTo>
                  <a:pt x="50800" y="2470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3505200" y="0"/>
                </a:lnTo>
                <a:arcTo hR="50800" wR="50800" stAng="16200000" swAng="5400000"/>
                <a:lnTo>
                  <a:pt x="355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2419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20180"/>
          <a:ext cx="3536950" cy="2451100"/>
        </p:xfrm>
        <a:graphic>
          <a:graphicData uri="http://schemas.openxmlformats.org/drawingml/2006/table">
            <a:tbl>
              <a:tblPr/>
              <a:tblGrid>
                <a:gridCol w="1061085"/>
                <a:gridCol w="1237932"/>
                <a:gridCol w="1237932"/>
              </a:tblGrid>
              <a:tr h="5270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Employee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 (before)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After (after)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19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724400" y="1907480"/>
            <a:ext cx="685444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company wants to know whether a new task-management program cuts the weekly errors of its customer-service staff. It picked 6 employees and recorded each one’s weekly errors before and after.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24400" y="2913955"/>
            <a:ext cx="6654800" cy="1737916"/>
          </a:xfrm>
          <a:prstGeom prst="roundRect">
            <a:avLst>
              <a:gd name="adj" fmla="val 5846"/>
            </a:avLst>
          </a:prstGeom>
          <a:solidFill>
            <a:srgbClr val="FBEBD0"/>
          </a:solidFill>
          <a:ln/>
        </p:spPr>
      </p:sp>
      <p:sp>
        <p:nvSpPr>
          <p:cNvPr id="9" name="Text 6"/>
          <p:cNvSpPr/>
          <p:nvPr/>
        </p:nvSpPr>
        <p:spPr>
          <a:xfrm>
            <a:off x="4927600" y="3117155"/>
            <a:ext cx="643585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task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927600" y="350133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59400" y="3501330"/>
            <a:ext cx="5991098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Does the new system have a significant effect on mean weekly errors? (Assume a normal population.)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927600" y="41438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59400" y="4143871"/>
            <a:ext cx="599109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Use 95% confidence.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EXAMPLE 3 · ANSWER</a:t>
            </a:r>
            <a:endParaRPr lang="en-US" sz="1121" dirty="0"/>
          </a:p>
        </p:txBody>
      </p:sp>
      <p:sp>
        <p:nvSpPr>
          <p:cNvPr id="3" name="Text 1"/>
          <p:cNvSpPr/>
          <p:nvPr/>
        </p:nvSpPr>
        <p:spPr>
          <a:xfrm>
            <a:off x="812800" y="1109266"/>
            <a:ext cx="10883392" cy="505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17"/>
              </a:lnSpc>
              <a:buNone/>
            </a:pPr>
            <a:r>
              <a:rPr lang="en-US" sz="3319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 significant effect</a:t>
            </a:r>
            <a:endParaRPr lang="en-US" sz="3319" dirty="0"/>
          </a:p>
        </p:txBody>
      </p:sp>
      <p:sp>
        <p:nvSpPr>
          <p:cNvPr id="4" name="Text 2"/>
          <p:cNvSpPr/>
          <p:nvPr/>
        </p:nvSpPr>
        <p:spPr>
          <a:xfrm>
            <a:off x="812800" y="1767483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μ1 = μ2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42158" y="1814116"/>
            <a:ext cx="1462445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Null: no change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65662" y="1767483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μ1 ≠ μ2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95020" y="1814116"/>
            <a:ext cx="1983224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Alternative: a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2800" y="2252762"/>
            <a:ext cx="4970780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Statistics</a:t>
            </a:r>
            <a:endParaRPr lang="en-US" sz="1121" dirty="0"/>
          </a:p>
        </p:txBody>
      </p:sp>
      <p:sp>
        <p:nvSpPr>
          <p:cNvPr id="9" name="Shape 7"/>
          <p:cNvSpPr/>
          <p:nvPr/>
        </p:nvSpPr>
        <p:spPr>
          <a:xfrm>
            <a:off x="812800" y="2498923"/>
            <a:ext cx="4826000" cy="1031180"/>
          </a:xfrm>
          <a:custGeom>
            <a:avLst/>
            <a:gdLst/>
            <a:ahLst/>
            <a:cxnLst/>
            <a:rect l="l" t="t" r="r" b="b"/>
            <a:pathLst>
              <a:path w="4826000" h="1031180">
                <a:moveTo>
                  <a:pt x="4775200" y="0"/>
                </a:moveTo>
                <a:lnTo>
                  <a:pt x="4775200" y="0"/>
                </a:lnTo>
                <a:arcTo hR="50800" wR="50800" stAng="16200000" swAng="5400000"/>
                <a:lnTo>
                  <a:pt x="4826000" y="980380"/>
                </a:lnTo>
                <a:arcTo hR="50800" wR="50800" stAng="0" swAng="5400000"/>
                <a:lnTo>
                  <a:pt x="50800" y="1031180"/>
                </a:lnTo>
                <a:arcTo hR="50800" wR="50800" stAng="5400000" swAng="5400000"/>
                <a:lnTo>
                  <a:pt x="0" y="980380"/>
                </a:lnTo>
                <a:arcTo hR="44450" wR="50800" stAng="10800000" swAng="-5400000"/>
                <a:lnTo>
                  <a:pt x="4775200" y="1024830"/>
                </a:lnTo>
                <a:arcTo hR="44450" wR="44450" stAng="5400000" swAng="-5400000"/>
                <a:lnTo>
                  <a:pt x="481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812800" y="2498923"/>
            <a:ext cx="4826000" cy="1031180"/>
          </a:xfrm>
          <a:custGeom>
            <a:avLst/>
            <a:gdLst/>
            <a:ahLst/>
            <a:cxnLst/>
            <a:rect l="l" t="t" r="r" b="b"/>
            <a:pathLst>
              <a:path w="4826000" h="1031180">
                <a:moveTo>
                  <a:pt x="50800" y="1031180"/>
                </a:moveTo>
                <a:lnTo>
                  <a:pt x="50800" y="103118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775200" y="0"/>
                </a:lnTo>
                <a:arcTo hR="50800" wR="50800" stAng="16200000" swAng="5400000"/>
                <a:lnTo>
                  <a:pt x="482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8038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511623"/>
          <a:ext cx="4806950" cy="1012130"/>
        </p:xfrm>
        <a:graphic>
          <a:graphicData uri="http://schemas.openxmlformats.org/drawingml/2006/table">
            <a:tbl>
              <a:tblPr/>
              <a:tblGrid>
                <a:gridCol w="1345946"/>
                <a:gridCol w="672973"/>
                <a:gridCol w="480695"/>
                <a:gridCol w="1153668"/>
                <a:gridCol w="1153668"/>
              </a:tblGrid>
              <a:tr h="448866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1583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20.17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4.070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1.662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81682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after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18.67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4.719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1.926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812800" y="3657104"/>
            <a:ext cx="10883392" cy="2205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Test </a:t>
            </a:r>
            <a:r>
              <a:rPr lang="en-US" sz="1121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Paired Differences</a:t>
            </a:r>
            <a:endParaRPr lang="en-US" sz="1121" dirty="0"/>
          </a:p>
        </p:txBody>
      </p:sp>
      <p:sp>
        <p:nvSpPr>
          <p:cNvPr id="13" name="Shape 10"/>
          <p:cNvSpPr/>
          <p:nvPr/>
        </p:nvSpPr>
        <p:spPr>
          <a:xfrm>
            <a:off x="812800" y="3903067"/>
            <a:ext cx="10566400" cy="750888"/>
          </a:xfrm>
          <a:custGeom>
            <a:avLst/>
            <a:gdLst/>
            <a:ahLst/>
            <a:cxnLst/>
            <a:rect l="l" t="t" r="r" b="b"/>
            <a:pathLst>
              <a:path w="10566400" h="750888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700088"/>
                </a:lnTo>
                <a:arcTo hR="50800" wR="50800" stAng="0" swAng="5400000"/>
                <a:lnTo>
                  <a:pt x="50800" y="750888"/>
                </a:lnTo>
                <a:arcTo hR="50800" wR="50800" stAng="5400000" swAng="5400000"/>
                <a:lnTo>
                  <a:pt x="0" y="700088"/>
                </a:lnTo>
                <a:arcTo hR="44450" wR="50800" stAng="10800000" swAng="-5400000"/>
                <a:lnTo>
                  <a:pt x="10515600" y="744538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4" name="Shape 11"/>
          <p:cNvSpPr/>
          <p:nvPr/>
        </p:nvSpPr>
        <p:spPr>
          <a:xfrm>
            <a:off x="812800" y="3903067"/>
            <a:ext cx="10566400" cy="750888"/>
          </a:xfrm>
          <a:custGeom>
            <a:avLst/>
            <a:gdLst/>
            <a:ahLst/>
            <a:cxnLst/>
            <a:rect l="l" t="t" r="r" b="b"/>
            <a:pathLst>
              <a:path w="10566400" h="750888">
                <a:moveTo>
                  <a:pt x="50800" y="750888"/>
                </a:moveTo>
                <a:lnTo>
                  <a:pt x="50800" y="750888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00088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915767"/>
          <a:ext cx="10547350" cy="731838"/>
        </p:xfrm>
        <a:graphic>
          <a:graphicData uri="http://schemas.openxmlformats.org/drawingml/2006/table">
            <a:tbl>
              <a:tblPr/>
              <a:tblGrid>
                <a:gridCol w="1793050"/>
                <a:gridCol w="949262"/>
                <a:gridCol w="1265682"/>
                <a:gridCol w="1160208"/>
                <a:gridCol w="1160208"/>
                <a:gridCol w="1160208"/>
                <a:gridCol w="949262"/>
                <a:gridCol w="632841"/>
                <a:gridCol w="1476629"/>
              </a:tblGrid>
              <a:tr h="449659">
                <a:tc>
                  <a:txBody>
                    <a:bodyPr/>
                    <a:lstStyle/>
                    <a:p>
                      <a:pPr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2178">
                <a:tc>
                  <a:txBody>
                    <a:bodyPr/>
                    <a:lstStyle/>
                    <a:p>
                      <a:pPr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 - after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1.500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2.345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.957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-.961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3.961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1.567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.178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812800" y="4831755"/>
            <a:ext cx="10566400" cy="1010245"/>
          </a:xfrm>
          <a:prstGeom prst="roundRect">
            <a:avLst>
              <a:gd name="adj" fmla="val 10057"/>
            </a:avLst>
          </a:prstGeom>
          <a:solidFill>
            <a:srgbClr val="FBEBD0"/>
          </a:solidFill>
          <a:ln/>
        </p:spPr>
      </p:sp>
      <p:sp>
        <p:nvSpPr>
          <p:cNvPr id="17" name="Text 13"/>
          <p:cNvSpPr/>
          <p:nvPr/>
        </p:nvSpPr>
        <p:spPr>
          <a:xfrm>
            <a:off x="1016000" y="5034955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Sig = 0.178 &gt; α = 0.05: accept H0, reject H1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6000" y="5381030"/>
            <a:ext cx="104648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Errors fell by 1.5 on average in the sample, but the drop is not significant: it could be chance.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Did trying online change students’ minds?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07480"/>
            <a:ext cx="4445000" cy="3111500"/>
          </a:xfrm>
          <a:custGeom>
            <a:avLst/>
            <a:gdLst/>
            <a:ahLst/>
            <a:cxnLst/>
            <a:rect l="l" t="t" r="r" b="b"/>
            <a:pathLst>
              <a:path w="4445000" h="3111500">
                <a:moveTo>
                  <a:pt x="4394200" y="0"/>
                </a:moveTo>
                <a:lnTo>
                  <a:pt x="4394200" y="0"/>
                </a:lnTo>
                <a:arcTo hR="50800" wR="50800" stAng="16200000" swAng="5400000"/>
                <a:lnTo>
                  <a:pt x="4445000" y="3060700"/>
                </a:lnTo>
                <a:arcTo hR="50800" wR="50800" stAng="0" swAng="5400000"/>
                <a:lnTo>
                  <a:pt x="50800" y="3111500"/>
                </a:lnTo>
                <a:arcTo hR="50800" wR="50800" stAng="5400000" swAng="5400000"/>
                <a:lnTo>
                  <a:pt x="0" y="3060700"/>
                </a:lnTo>
                <a:arcTo hR="44450" wR="50800" stAng="10800000" swAng="-5400000"/>
                <a:lnTo>
                  <a:pt x="4394200" y="3105150"/>
                </a:lnTo>
                <a:arcTo hR="44450" wR="44450" stAng="5400000" swAng="-5400000"/>
                <a:lnTo>
                  <a:pt x="4438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07480"/>
            <a:ext cx="4445000" cy="3111500"/>
          </a:xfrm>
          <a:custGeom>
            <a:avLst/>
            <a:gdLst/>
            <a:ahLst/>
            <a:cxnLst/>
            <a:rect l="l" t="t" r="r" b="b"/>
            <a:pathLst>
              <a:path w="4445000" h="3111500">
                <a:moveTo>
                  <a:pt x="50800" y="3111500"/>
                </a:moveTo>
                <a:lnTo>
                  <a:pt x="50800" y="311150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394200" y="0"/>
                </a:lnTo>
                <a:arcTo hR="50800" wR="50800" stAng="16200000" swAng="5400000"/>
                <a:lnTo>
                  <a:pt x="4445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306070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20180"/>
          <a:ext cx="4425950" cy="3092450"/>
        </p:xfrm>
        <a:graphic>
          <a:graphicData uri="http://schemas.openxmlformats.org/drawingml/2006/table">
            <a:tbl>
              <a:tblPr/>
              <a:tblGrid>
                <a:gridCol w="973709"/>
                <a:gridCol w="1726121"/>
                <a:gridCol w="1726121"/>
              </a:tblGrid>
              <a:tr h="527050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Student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Attitude before (att_before)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Attitude after (att_after)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20675"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13400" y="1907480"/>
            <a:ext cx="593877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Before deciding, the university taught one course fully online for two weeks to 8 students and measured their attitude score before and after.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13400" y="2913955"/>
            <a:ext cx="5765800" cy="1737916"/>
          </a:xfrm>
          <a:prstGeom prst="roundRect">
            <a:avLst>
              <a:gd name="adj" fmla="val 5846"/>
            </a:avLst>
          </a:prstGeom>
          <a:solidFill>
            <a:srgbClr val="FBEBD0"/>
          </a:solidFill>
          <a:ln/>
        </p:spPr>
      </p:sp>
      <p:sp>
        <p:nvSpPr>
          <p:cNvPr id="9" name="Text 6"/>
          <p:cNvSpPr/>
          <p:nvPr/>
        </p:nvSpPr>
        <p:spPr>
          <a:xfrm>
            <a:off x="5816600" y="3117155"/>
            <a:ext cx="5520182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task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816600" y="350133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48400" y="3501330"/>
            <a:ext cx="5075428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Enter the two columns and test the difference at 99% confidence.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16600" y="41438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48400" y="4143871"/>
            <a:ext cx="5075428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 is the decision? Did attitudes improve or worsen?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CASE 2 · ANSWER</a:t>
            </a:r>
            <a:endParaRPr lang="en-US" sz="1121" dirty="0"/>
          </a:p>
        </p:txBody>
      </p:sp>
      <p:sp>
        <p:nvSpPr>
          <p:cNvPr id="3" name="Text 1"/>
          <p:cNvSpPr/>
          <p:nvPr/>
        </p:nvSpPr>
        <p:spPr>
          <a:xfrm>
            <a:off x="812800" y="1109266"/>
            <a:ext cx="10883392" cy="505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17"/>
              </a:lnSpc>
              <a:buNone/>
            </a:pPr>
            <a:r>
              <a:rPr lang="en-US" sz="3319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trial improved attitudes</a:t>
            </a:r>
            <a:endParaRPr lang="en-US" sz="3319" dirty="0"/>
          </a:p>
        </p:txBody>
      </p:sp>
      <p:sp>
        <p:nvSpPr>
          <p:cNvPr id="4" name="Text 2"/>
          <p:cNvSpPr/>
          <p:nvPr/>
        </p:nvSpPr>
        <p:spPr>
          <a:xfrm>
            <a:off x="812800" y="1767483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H0: μ1 = μ2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42158" y="1814116"/>
            <a:ext cx="1462445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Null: no change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65662" y="1767483"/>
            <a:ext cx="1427758" cy="33268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H1: μ1 ≠ μ2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95020" y="1814116"/>
            <a:ext cx="1983224" cy="264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Alternative: a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2800" y="2252762"/>
            <a:ext cx="4970780" cy="2207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Statistics</a:t>
            </a:r>
            <a:endParaRPr lang="en-US" sz="1121" dirty="0"/>
          </a:p>
        </p:txBody>
      </p:sp>
      <p:sp>
        <p:nvSpPr>
          <p:cNvPr id="9" name="Shape 7"/>
          <p:cNvSpPr/>
          <p:nvPr/>
        </p:nvSpPr>
        <p:spPr>
          <a:xfrm>
            <a:off x="812800" y="2498923"/>
            <a:ext cx="4826000" cy="1031180"/>
          </a:xfrm>
          <a:custGeom>
            <a:avLst/>
            <a:gdLst/>
            <a:ahLst/>
            <a:cxnLst/>
            <a:rect l="l" t="t" r="r" b="b"/>
            <a:pathLst>
              <a:path w="4826000" h="1031180">
                <a:moveTo>
                  <a:pt x="4775200" y="0"/>
                </a:moveTo>
                <a:lnTo>
                  <a:pt x="4775200" y="0"/>
                </a:lnTo>
                <a:arcTo hR="50800" wR="50800" stAng="16200000" swAng="5400000"/>
                <a:lnTo>
                  <a:pt x="4826000" y="980380"/>
                </a:lnTo>
                <a:arcTo hR="50800" wR="50800" stAng="0" swAng="5400000"/>
                <a:lnTo>
                  <a:pt x="50800" y="1031180"/>
                </a:lnTo>
                <a:arcTo hR="50800" wR="50800" stAng="5400000" swAng="5400000"/>
                <a:lnTo>
                  <a:pt x="0" y="980380"/>
                </a:lnTo>
                <a:arcTo hR="44450" wR="50800" stAng="10800000" swAng="-5400000"/>
                <a:lnTo>
                  <a:pt x="4775200" y="1024830"/>
                </a:lnTo>
                <a:arcTo hR="44450" wR="44450" stAng="5400000" swAng="-5400000"/>
                <a:lnTo>
                  <a:pt x="481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8"/>
          <p:cNvSpPr/>
          <p:nvPr/>
        </p:nvSpPr>
        <p:spPr>
          <a:xfrm>
            <a:off x="812800" y="2498923"/>
            <a:ext cx="4826000" cy="1031180"/>
          </a:xfrm>
          <a:custGeom>
            <a:avLst/>
            <a:gdLst/>
            <a:ahLst/>
            <a:cxnLst/>
            <a:rect l="l" t="t" r="r" b="b"/>
            <a:pathLst>
              <a:path w="4826000" h="1031180">
                <a:moveTo>
                  <a:pt x="50800" y="1031180"/>
                </a:moveTo>
                <a:lnTo>
                  <a:pt x="50800" y="103118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775200" y="0"/>
                </a:lnTo>
                <a:arcTo hR="50800" wR="50800" stAng="16200000" swAng="5400000"/>
                <a:lnTo>
                  <a:pt x="482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8038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511623"/>
          <a:ext cx="4806950" cy="1012130"/>
        </p:xfrm>
        <a:graphic>
          <a:graphicData uri="http://schemas.openxmlformats.org/drawingml/2006/table">
            <a:tbl>
              <a:tblPr/>
              <a:tblGrid>
                <a:gridCol w="1345946"/>
                <a:gridCol w="672973"/>
                <a:gridCol w="480695"/>
                <a:gridCol w="1153668"/>
                <a:gridCol w="1153668"/>
              </a:tblGrid>
              <a:tr h="448866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1583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att_before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2.80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.400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.141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81682">
                <a:tc>
                  <a:txBody>
                    <a:bodyPr/>
                    <a:lstStyle/>
                    <a:p>
                      <a:pPr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att_after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3.35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.298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8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.105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812800" y="3657104"/>
            <a:ext cx="10883392" cy="2205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Test </a:t>
            </a:r>
            <a:r>
              <a:rPr lang="en-US" sz="1121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Paired Differences</a:t>
            </a:r>
            <a:endParaRPr lang="en-US" sz="1121" dirty="0"/>
          </a:p>
        </p:txBody>
      </p:sp>
      <p:sp>
        <p:nvSpPr>
          <p:cNvPr id="13" name="Shape 10"/>
          <p:cNvSpPr/>
          <p:nvPr/>
        </p:nvSpPr>
        <p:spPr>
          <a:xfrm>
            <a:off x="812800" y="3903067"/>
            <a:ext cx="10566400" cy="750888"/>
          </a:xfrm>
          <a:custGeom>
            <a:avLst/>
            <a:gdLst/>
            <a:ahLst/>
            <a:cxnLst/>
            <a:rect l="l" t="t" r="r" b="b"/>
            <a:pathLst>
              <a:path w="10566400" h="750888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700088"/>
                </a:lnTo>
                <a:arcTo hR="50800" wR="50800" stAng="0" swAng="5400000"/>
                <a:lnTo>
                  <a:pt x="50800" y="750888"/>
                </a:lnTo>
                <a:arcTo hR="50800" wR="50800" stAng="5400000" swAng="5400000"/>
                <a:lnTo>
                  <a:pt x="0" y="700088"/>
                </a:lnTo>
                <a:arcTo hR="44450" wR="50800" stAng="10800000" swAng="-5400000"/>
                <a:lnTo>
                  <a:pt x="10515600" y="744538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4" name="Shape 11"/>
          <p:cNvSpPr/>
          <p:nvPr/>
        </p:nvSpPr>
        <p:spPr>
          <a:xfrm>
            <a:off x="812800" y="3903067"/>
            <a:ext cx="10566400" cy="750888"/>
          </a:xfrm>
          <a:custGeom>
            <a:avLst/>
            <a:gdLst/>
            <a:ahLst/>
            <a:cxnLst/>
            <a:rect l="l" t="t" r="r" b="b"/>
            <a:pathLst>
              <a:path w="10566400" h="750888">
                <a:moveTo>
                  <a:pt x="50800" y="750888"/>
                </a:moveTo>
                <a:lnTo>
                  <a:pt x="50800" y="750888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00088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915767"/>
          <a:ext cx="10547350" cy="731838"/>
        </p:xfrm>
        <a:graphic>
          <a:graphicData uri="http://schemas.openxmlformats.org/drawingml/2006/table">
            <a:tbl>
              <a:tblPr/>
              <a:tblGrid>
                <a:gridCol w="1793050"/>
                <a:gridCol w="949262"/>
                <a:gridCol w="1265682"/>
                <a:gridCol w="1160208"/>
                <a:gridCol w="1160208"/>
                <a:gridCol w="1160208"/>
                <a:gridCol w="949262"/>
                <a:gridCol w="632841"/>
                <a:gridCol w="1476629"/>
              </a:tblGrid>
              <a:tr h="449659">
                <a:tc>
                  <a:txBody>
                    <a:bodyPr/>
                    <a:lstStyle/>
                    <a:p>
                      <a:pPr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Lower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Upper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2178">
                <a:tc>
                  <a:txBody>
                    <a:bodyPr/>
                    <a:lstStyle/>
                    <a:p>
                      <a:pPr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att_before - att_after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-.550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.256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.091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-.867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-.233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-6.068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391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.001</a:t>
                      </a:r>
                      <a:endParaRPr lang="en-US" sz="10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812800" y="4831755"/>
            <a:ext cx="10566400" cy="1010245"/>
          </a:xfrm>
          <a:prstGeom prst="roundRect">
            <a:avLst>
              <a:gd name="adj" fmla="val 10057"/>
            </a:avLst>
          </a:prstGeom>
          <a:solidFill>
            <a:srgbClr val="DDEFE3"/>
          </a:solidFill>
          <a:ln/>
        </p:spPr>
      </p:sp>
      <p:sp>
        <p:nvSpPr>
          <p:cNvPr id="17" name="Text 13"/>
          <p:cNvSpPr/>
          <p:nvPr/>
        </p:nvSpPr>
        <p:spPr>
          <a:xfrm>
            <a:off x="1016000" y="5034955"/>
            <a:ext cx="104648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25"/>
              </a:lnSpc>
              <a:buNone/>
            </a:pPr>
            <a:r>
              <a:rPr lang="en-US" sz="1700" b="1" dirty="0">
                <a:solidFill>
                  <a:srgbClr val="2E7D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Sig = 0.001 &lt; α = 0.01: reject H0, accept H1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1016000" y="5381030"/>
            <a:ext cx="104648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Mean = before − after = −0.55 (negative), so attitudes are higher after the trial: from 2.80 to 3.35.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79030"/>
            <a:ext cx="98107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WATCH 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46350"/>
            <a:ext cx="9810750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Know α before you compare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470870"/>
            <a:ext cx="9810750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α = 1 − the confidence level in the question. At 95% we compare Sig with 0.05; at 99%, with 0.01. Sig = 0.03 rejects H0 in the first case and accepts it in the second.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22000" y="2362200"/>
            <a:ext cx="457200" cy="213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185291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812800" y="3529310"/>
            <a:ext cx="91567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Read the output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12800" y="4481810"/>
            <a:ext cx="91567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Multiple-choice questions on ready-made output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EXAMPLE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Answer from the output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56680"/>
            <a:ext cx="418592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Statistics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12080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4013200" y="0"/>
                </a:moveTo>
                <a:lnTo>
                  <a:pt x="4013200" y="0"/>
                </a:lnTo>
                <a:arcTo hR="50800" wR="50800" stAng="16200000" swAng="5400000"/>
                <a:lnTo>
                  <a:pt x="40640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4013200" y="812800"/>
                </a:lnTo>
                <a:arcTo hR="44450" wR="44450" stAng="5400000" swAng="-5400000"/>
                <a:lnTo>
                  <a:pt x="4057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12080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013200" y="0"/>
                </a:lnTo>
                <a:arcTo hR="50800" wR="50800" stAng="16200000" swAng="5400000"/>
                <a:lnTo>
                  <a:pt x="4064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133501"/>
          <a:ext cx="4044950" cy="800100"/>
        </p:xfrm>
        <a:graphic>
          <a:graphicData uri="http://schemas.openxmlformats.org/drawingml/2006/table">
            <a:tbl>
              <a:tblPr/>
              <a:tblGrid>
                <a:gridCol w="889889"/>
                <a:gridCol w="404495"/>
                <a:gridCol w="808990"/>
                <a:gridCol w="970788"/>
                <a:gridCol w="97078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wage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407.80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161.560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51.090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80000" y="1856680"/>
            <a:ext cx="6488176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Test Value = 300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80000" y="212080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6248400" y="0"/>
                </a:moveTo>
                <a:lnTo>
                  <a:pt x="6248400" y="0"/>
                </a:lnTo>
                <a:arcTo hR="50800" wR="50800" stAng="16200000" swAng="5400000"/>
                <a:lnTo>
                  <a:pt x="6299200" y="958850"/>
                </a:lnTo>
                <a:arcTo hR="50800" wR="50800" stAng="0" swAng="5400000"/>
                <a:lnTo>
                  <a:pt x="50800" y="1009650"/>
                </a:lnTo>
                <a:arcTo hR="50800" wR="50800" stAng="5400000" swAng="5400000"/>
                <a:lnTo>
                  <a:pt x="0" y="958850"/>
                </a:lnTo>
                <a:arcTo hR="44450" wR="50800" stAng="10800000" swAng="-5400000"/>
                <a:lnTo>
                  <a:pt x="6248400" y="1003300"/>
                </a:lnTo>
                <a:arcTo hR="44450" wR="44450" stAng="5400000" swAng="-5400000"/>
                <a:lnTo>
                  <a:pt x="62928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7"/>
          <p:cNvSpPr/>
          <p:nvPr/>
        </p:nvSpPr>
        <p:spPr>
          <a:xfrm>
            <a:off x="5080000" y="212080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50800" y="1009650"/>
                </a:moveTo>
                <a:lnTo>
                  <a:pt x="50800" y="10096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6248400" y="0"/>
                </a:lnTo>
                <a:arcTo hR="50800" wR="50800" stAng="16200000" swAng="5400000"/>
                <a:lnTo>
                  <a:pt x="62992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588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2700" y="2133501"/>
          <a:ext cx="6280150" cy="990600"/>
        </p:xfrm>
        <a:graphic>
          <a:graphicData uri="http://schemas.openxmlformats.org/drawingml/2006/table">
            <a:tbl>
              <a:tblPr/>
              <a:tblGrid>
                <a:gridCol w="1057055"/>
                <a:gridCol w="621797"/>
                <a:gridCol w="497438"/>
                <a:gridCol w="1057055"/>
                <a:gridCol w="1057055"/>
                <a:gridCol w="994875"/>
                <a:gridCol w="994875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 Difference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wage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2.110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.064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107.800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-58.23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273.83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812800" y="36067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295400" y="3642916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Variable type and measure: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498975" y="3336826"/>
            <a:ext cx="215046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52950" y="3390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21250" y="3414911"/>
            <a:ext cx="162341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65"/>
              </a:lnSpc>
              <a:buNone/>
            </a:pPr>
            <a:r>
              <a:rPr lang="en-US" sz="135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Quantitative, Scale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744692" y="3336826"/>
            <a:ext cx="225375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98667" y="3390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7166967" y="3414911"/>
            <a:ext cx="172670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11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Qualitative, Nominal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9093696" y="3336826"/>
            <a:ext cx="2166243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147671" y="3390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9515971" y="3414911"/>
            <a:ext cx="163919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11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Qualitative, Ordinal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4498975" y="3819426"/>
            <a:ext cx="237390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552950" y="38734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4921250" y="3897511"/>
            <a:ext cx="1849940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11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Quantitative, Nominal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812800" y="43687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1295400" y="4404916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hypothesised value μ0 is: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498975" y="4340126"/>
            <a:ext cx="91033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552950" y="43941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21250" y="4418211"/>
            <a:ext cx="383282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500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5504557" y="4340126"/>
            <a:ext cx="957362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558532" y="43941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5926832" y="4418211"/>
            <a:ext cx="430312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0.64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557169" y="4340126"/>
            <a:ext cx="912019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611144" y="43941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6979444" y="4418211"/>
            <a:ext cx="384969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300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7564438" y="4340126"/>
            <a:ext cx="76239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7618412" y="43941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7986713" y="4418211"/>
            <a:ext cx="23534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400" dirty="0"/>
          </a:p>
        </p:txBody>
      </p:sp>
      <p:sp>
        <p:nvSpPr>
          <p:cNvPr id="40" name="Text 36"/>
          <p:cNvSpPr/>
          <p:nvPr/>
        </p:nvSpPr>
        <p:spPr>
          <a:xfrm>
            <a:off x="812800" y="48894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1295400" y="4925616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confidence level:</a:t>
            </a:r>
            <a:endParaRPr lang="en-US" sz="1400" dirty="0"/>
          </a:p>
        </p:txBody>
      </p:sp>
      <p:sp>
        <p:nvSpPr>
          <p:cNvPr id="42" name="Shape 38"/>
          <p:cNvSpPr/>
          <p:nvPr/>
        </p:nvSpPr>
        <p:spPr>
          <a:xfrm>
            <a:off x="4498975" y="4860826"/>
            <a:ext cx="952500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552950" y="4914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4921250" y="4938911"/>
            <a:ext cx="425450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0.05</a:t>
            </a:r>
            <a:endParaRPr lang="en-US" sz="1400" dirty="0"/>
          </a:p>
        </p:txBody>
      </p:sp>
      <p:sp>
        <p:nvSpPr>
          <p:cNvPr id="45" name="Shape 41"/>
          <p:cNvSpPr/>
          <p:nvPr/>
        </p:nvSpPr>
        <p:spPr>
          <a:xfrm>
            <a:off x="5546725" y="4860826"/>
            <a:ext cx="97303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5600700" y="4914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47" name="Text 43"/>
          <p:cNvSpPr/>
          <p:nvPr/>
        </p:nvSpPr>
        <p:spPr>
          <a:xfrm>
            <a:off x="5969000" y="4938911"/>
            <a:ext cx="445988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99%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615013" y="4860826"/>
            <a:ext cx="82480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6668988" y="4914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7037288" y="4938911"/>
            <a:ext cx="29775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1%</a:t>
            </a:r>
            <a:endParaRPr lang="en-US" sz="1400" dirty="0"/>
          </a:p>
        </p:txBody>
      </p:sp>
      <p:sp>
        <p:nvSpPr>
          <p:cNvPr id="51" name="Shape 47"/>
          <p:cNvSpPr/>
          <p:nvPr/>
        </p:nvSpPr>
        <p:spPr>
          <a:xfrm>
            <a:off x="7535069" y="4860826"/>
            <a:ext cx="936923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7589044" y="4914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53" name="Text 49"/>
          <p:cNvSpPr/>
          <p:nvPr/>
        </p:nvSpPr>
        <p:spPr>
          <a:xfrm>
            <a:off x="7957344" y="4938911"/>
            <a:ext cx="40987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10%</a:t>
            </a:r>
            <a:endParaRPr lang="en-US" sz="1400" dirty="0"/>
          </a:p>
        </p:txBody>
      </p:sp>
      <p:sp>
        <p:nvSpPr>
          <p:cNvPr id="54" name="Text 50"/>
          <p:cNvSpPr/>
          <p:nvPr/>
        </p:nvSpPr>
        <p:spPr>
          <a:xfrm>
            <a:off x="812800" y="54101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 dirty="0"/>
          </a:p>
        </p:txBody>
      </p:sp>
      <p:sp>
        <p:nvSpPr>
          <p:cNvPr id="55" name="Text 51"/>
          <p:cNvSpPr/>
          <p:nvPr/>
        </p:nvSpPr>
        <p:spPr>
          <a:xfrm>
            <a:off x="1295400" y="5446316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significance level:</a:t>
            </a:r>
            <a:endParaRPr lang="en-US" sz="1400" dirty="0"/>
          </a:p>
        </p:txBody>
      </p:sp>
      <p:sp>
        <p:nvSpPr>
          <p:cNvPr id="56" name="Shape 52"/>
          <p:cNvSpPr/>
          <p:nvPr/>
        </p:nvSpPr>
        <p:spPr>
          <a:xfrm>
            <a:off x="4498975" y="5381526"/>
            <a:ext cx="952500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7" name="Text 53"/>
          <p:cNvSpPr/>
          <p:nvPr/>
        </p:nvSpPr>
        <p:spPr>
          <a:xfrm>
            <a:off x="4552950" y="54355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58" name="Text 54"/>
          <p:cNvSpPr/>
          <p:nvPr/>
        </p:nvSpPr>
        <p:spPr>
          <a:xfrm>
            <a:off x="4921250" y="5459611"/>
            <a:ext cx="425450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0.05</a:t>
            </a:r>
            <a:endParaRPr lang="en-US" sz="1400" dirty="0"/>
          </a:p>
        </p:txBody>
      </p:sp>
      <p:sp>
        <p:nvSpPr>
          <p:cNvPr id="59" name="Shape 55"/>
          <p:cNvSpPr/>
          <p:nvPr/>
        </p:nvSpPr>
        <p:spPr>
          <a:xfrm>
            <a:off x="5546725" y="5381526"/>
            <a:ext cx="97303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5600700" y="54355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61" name="Text 57"/>
          <p:cNvSpPr/>
          <p:nvPr/>
        </p:nvSpPr>
        <p:spPr>
          <a:xfrm>
            <a:off x="5969000" y="5459611"/>
            <a:ext cx="445988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99%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6615013" y="5381526"/>
            <a:ext cx="82480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6668988" y="54355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64" name="Text 60"/>
          <p:cNvSpPr/>
          <p:nvPr/>
        </p:nvSpPr>
        <p:spPr>
          <a:xfrm>
            <a:off x="7037288" y="5459611"/>
            <a:ext cx="29775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1%</a:t>
            </a:r>
            <a:endParaRPr lang="en-US" sz="1400" dirty="0"/>
          </a:p>
        </p:txBody>
      </p:sp>
      <p:sp>
        <p:nvSpPr>
          <p:cNvPr id="65" name="Shape 61"/>
          <p:cNvSpPr/>
          <p:nvPr/>
        </p:nvSpPr>
        <p:spPr>
          <a:xfrm>
            <a:off x="7535069" y="5381526"/>
            <a:ext cx="936923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7589044" y="54355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67" name="Text 63"/>
          <p:cNvSpPr/>
          <p:nvPr/>
        </p:nvSpPr>
        <p:spPr>
          <a:xfrm>
            <a:off x="7957344" y="5459611"/>
            <a:ext cx="40987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10%</a:t>
            </a:r>
            <a:endParaRPr lang="en-US" sz="1400" dirty="0"/>
          </a:p>
        </p:txBody>
      </p:sp>
      <p:sp>
        <p:nvSpPr>
          <p:cNvPr id="68" name="Text 64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69" name="Text 65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24</a:t>
            </a:r>
            <a:endParaRPr lang="en-US" sz="1200" dirty="0"/>
          </a:p>
        </p:txBody>
      </p:sp>
      <p:sp>
        <p:nvSpPr>
          <p:cNvPr id="70" name="Answer 70"/>
          <p:cNvSpPr/>
          <p:nvPr/>
        </p:nvSpPr>
        <p:spPr>
          <a:xfrm>
            <a:off x="4460875" y="3298726"/>
            <a:ext cx="2226667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71" name="Answer 71"/>
          <p:cNvSpPr/>
          <p:nvPr/>
        </p:nvSpPr>
        <p:spPr>
          <a:xfrm>
            <a:off x="6519069" y="4302026"/>
            <a:ext cx="988219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72" name="Answer 72"/>
          <p:cNvSpPr/>
          <p:nvPr/>
        </p:nvSpPr>
        <p:spPr>
          <a:xfrm>
            <a:off x="5508625" y="4822726"/>
            <a:ext cx="1049238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73" name="Answer 73"/>
          <p:cNvSpPr/>
          <p:nvPr/>
        </p:nvSpPr>
        <p:spPr>
          <a:xfrm>
            <a:off x="6576913" y="5343426"/>
            <a:ext cx="901005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 animBg="1"/>
      <p:bldP spid="71" grpId="0" animBg="1"/>
      <p:bldP spid="72" grpId="0" animBg="1"/>
      <p:bldP spid="7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EXAMPLE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Answer from the output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56680"/>
            <a:ext cx="418592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Statistics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12080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4013200" y="0"/>
                </a:moveTo>
                <a:lnTo>
                  <a:pt x="4013200" y="0"/>
                </a:lnTo>
                <a:arcTo hR="50800" wR="50800" stAng="16200000" swAng="5400000"/>
                <a:lnTo>
                  <a:pt x="40640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4013200" y="812800"/>
                </a:lnTo>
                <a:arcTo hR="44450" wR="44450" stAng="5400000" swAng="-5400000"/>
                <a:lnTo>
                  <a:pt x="4057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120801"/>
            <a:ext cx="4064000" cy="819150"/>
          </a:xfrm>
          <a:custGeom>
            <a:avLst/>
            <a:gdLst/>
            <a:ahLst/>
            <a:cxnLst/>
            <a:rect l="l" t="t" r="r" b="b"/>
            <a:pathLst>
              <a:path w="40640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013200" y="0"/>
                </a:lnTo>
                <a:arcTo hR="50800" wR="50800" stAng="16200000" swAng="5400000"/>
                <a:lnTo>
                  <a:pt x="4064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133501"/>
          <a:ext cx="4044950" cy="800100"/>
        </p:xfrm>
        <a:graphic>
          <a:graphicData uri="http://schemas.openxmlformats.org/drawingml/2006/table">
            <a:tbl>
              <a:tblPr/>
              <a:tblGrid>
                <a:gridCol w="889889"/>
                <a:gridCol w="404495"/>
                <a:gridCol w="808990"/>
                <a:gridCol w="970788"/>
                <a:gridCol w="97078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wage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407.80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161.560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51.090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80000" y="1856680"/>
            <a:ext cx="6488176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One-Sample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Test Value = 300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80000" y="212080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6248400" y="0"/>
                </a:moveTo>
                <a:lnTo>
                  <a:pt x="6248400" y="0"/>
                </a:lnTo>
                <a:arcTo hR="50800" wR="50800" stAng="16200000" swAng="5400000"/>
                <a:lnTo>
                  <a:pt x="6299200" y="958850"/>
                </a:lnTo>
                <a:arcTo hR="50800" wR="50800" stAng="0" swAng="5400000"/>
                <a:lnTo>
                  <a:pt x="50800" y="1009650"/>
                </a:lnTo>
                <a:arcTo hR="50800" wR="50800" stAng="5400000" swAng="5400000"/>
                <a:lnTo>
                  <a:pt x="0" y="958850"/>
                </a:lnTo>
                <a:arcTo hR="44450" wR="50800" stAng="10800000" swAng="-5400000"/>
                <a:lnTo>
                  <a:pt x="6248400" y="1003300"/>
                </a:lnTo>
                <a:arcTo hR="44450" wR="44450" stAng="5400000" swAng="-5400000"/>
                <a:lnTo>
                  <a:pt x="62928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7"/>
          <p:cNvSpPr/>
          <p:nvPr/>
        </p:nvSpPr>
        <p:spPr>
          <a:xfrm>
            <a:off x="5080000" y="2120801"/>
            <a:ext cx="6299200" cy="1009650"/>
          </a:xfrm>
          <a:custGeom>
            <a:avLst/>
            <a:gdLst/>
            <a:ahLst/>
            <a:cxnLst/>
            <a:rect l="l" t="t" r="r" b="b"/>
            <a:pathLst>
              <a:path w="6299200" h="1009650">
                <a:moveTo>
                  <a:pt x="50800" y="1009650"/>
                </a:moveTo>
                <a:lnTo>
                  <a:pt x="50800" y="10096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6248400" y="0"/>
                </a:lnTo>
                <a:arcTo hR="50800" wR="50800" stAng="16200000" swAng="5400000"/>
                <a:lnTo>
                  <a:pt x="62992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9588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2700" y="2133501"/>
          <a:ext cx="6280150" cy="990600"/>
        </p:xfrm>
        <a:graphic>
          <a:graphicData uri="http://schemas.openxmlformats.org/drawingml/2006/table">
            <a:tbl>
              <a:tblPr/>
              <a:tblGrid>
                <a:gridCol w="1057055"/>
                <a:gridCol w="621797"/>
                <a:gridCol w="497438"/>
                <a:gridCol w="1057055"/>
                <a:gridCol w="1057055"/>
                <a:gridCol w="994875"/>
                <a:gridCol w="994875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 Difference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99%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wage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2.110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.064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107.800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-58.23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273.83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812800" y="33654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295400" y="3401616"/>
            <a:ext cx="39243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sample size: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260975" y="3336826"/>
            <a:ext cx="912019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4950" y="3390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683250" y="3414911"/>
            <a:ext cx="384969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300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268244" y="3336826"/>
            <a:ext cx="688181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22219" y="3390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690519" y="3414911"/>
            <a:ext cx="161131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051675" y="3336826"/>
            <a:ext cx="76239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105650" y="33908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7473950" y="3414911"/>
            <a:ext cx="23534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7909322" y="3336826"/>
            <a:ext cx="936923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963297" y="33908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331597" y="3414911"/>
            <a:ext cx="409873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10%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812800" y="38861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1295400" y="3922316"/>
            <a:ext cx="39624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Compared with the significance level, Sig is: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5260975" y="3857526"/>
            <a:ext cx="1121866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314950" y="39115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5683250" y="3935611"/>
            <a:ext cx="594816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Larger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6478091" y="3857526"/>
            <a:ext cx="120431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32066" y="39115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6900366" y="3935611"/>
            <a:ext cx="67726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Smaller</a:t>
            </a:r>
            <a:endParaRPr lang="en-US" sz="1400" dirty="0"/>
          </a:p>
        </p:txBody>
      </p:sp>
      <p:sp>
        <p:nvSpPr>
          <p:cNvPr id="34" name="Text 30"/>
          <p:cNvSpPr/>
          <p:nvPr/>
        </p:nvSpPr>
        <p:spPr>
          <a:xfrm>
            <a:off x="812800" y="440680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1"/>
          <p:cNvSpPr/>
          <p:nvPr/>
        </p:nvSpPr>
        <p:spPr>
          <a:xfrm>
            <a:off x="1295400" y="4443016"/>
            <a:ext cx="39243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this test we: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5260975" y="4378226"/>
            <a:ext cx="229403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14950" y="443220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5683250" y="4456311"/>
            <a:ext cx="1767672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11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Accept H0, reject H1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7650262" y="4378226"/>
            <a:ext cx="2319040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7704237" y="443220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8072537" y="4456311"/>
            <a:ext cx="1793426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11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Reject H0, accept H1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43" name="Text 39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25</a:t>
            </a:r>
            <a:endParaRPr lang="en-US" sz="1200" dirty="0"/>
          </a:p>
        </p:txBody>
      </p:sp>
      <p:sp>
        <p:nvSpPr>
          <p:cNvPr id="44" name="Answer 44"/>
          <p:cNvSpPr/>
          <p:nvPr/>
        </p:nvSpPr>
        <p:spPr>
          <a:xfrm>
            <a:off x="7013575" y="3298726"/>
            <a:ext cx="838597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45" name="Answer 45"/>
          <p:cNvSpPr/>
          <p:nvPr/>
        </p:nvSpPr>
        <p:spPr>
          <a:xfrm>
            <a:off x="5222875" y="3819426"/>
            <a:ext cx="1198066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46" name="Answer 46"/>
          <p:cNvSpPr/>
          <p:nvPr/>
        </p:nvSpPr>
        <p:spPr>
          <a:xfrm>
            <a:off x="5222875" y="4340126"/>
            <a:ext cx="2370237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6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EXAMPLE 4</a:t>
            </a:r>
            <a:endParaRPr lang="en-US" sz="1159" dirty="0"/>
          </a:p>
        </p:txBody>
      </p:sp>
      <p:sp>
        <p:nvSpPr>
          <p:cNvPr id="3" name="Text 1"/>
          <p:cNvSpPr/>
          <p:nvPr/>
        </p:nvSpPr>
        <p:spPr>
          <a:xfrm>
            <a:off x="812800" y="1115219"/>
            <a:ext cx="10883392" cy="520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3409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Answer from the output</a:t>
            </a:r>
            <a:endParaRPr lang="en-US" sz="3409" dirty="0"/>
          </a:p>
        </p:txBody>
      </p:sp>
      <p:sp>
        <p:nvSpPr>
          <p:cNvPr id="4" name="Text 2"/>
          <p:cNvSpPr/>
          <p:nvPr/>
        </p:nvSpPr>
        <p:spPr>
          <a:xfrm>
            <a:off x="812800" y="1813322"/>
            <a:ext cx="4970780" cy="226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Statistics</a:t>
            </a:r>
            <a:endParaRPr lang="en-US" sz="1159" dirty="0"/>
          </a:p>
        </p:txBody>
      </p:sp>
      <p:sp>
        <p:nvSpPr>
          <p:cNvPr id="5" name="Shape 3"/>
          <p:cNvSpPr/>
          <p:nvPr/>
        </p:nvSpPr>
        <p:spPr>
          <a:xfrm>
            <a:off x="812800" y="2065238"/>
            <a:ext cx="4826000" cy="1060946"/>
          </a:xfrm>
          <a:custGeom>
            <a:avLst/>
            <a:gdLst/>
            <a:ahLst/>
            <a:cxnLst/>
            <a:rect l="l" t="t" r="r" b="b"/>
            <a:pathLst>
              <a:path w="4826000" h="1060946">
                <a:moveTo>
                  <a:pt x="4775200" y="0"/>
                </a:moveTo>
                <a:lnTo>
                  <a:pt x="4775200" y="0"/>
                </a:lnTo>
                <a:arcTo hR="50800" wR="50800" stAng="16200000" swAng="5400000"/>
                <a:lnTo>
                  <a:pt x="4826000" y="1010146"/>
                </a:lnTo>
                <a:arcTo hR="50800" wR="50800" stAng="0" swAng="5400000"/>
                <a:lnTo>
                  <a:pt x="50800" y="1060946"/>
                </a:lnTo>
                <a:arcTo hR="50800" wR="50800" stAng="5400000" swAng="5400000"/>
                <a:lnTo>
                  <a:pt x="0" y="1010146"/>
                </a:lnTo>
                <a:arcTo hR="44450" wR="50800" stAng="10800000" swAng="-5400000"/>
                <a:lnTo>
                  <a:pt x="4775200" y="1054596"/>
                </a:lnTo>
                <a:arcTo hR="44450" wR="44450" stAng="5400000" swAng="-5400000"/>
                <a:lnTo>
                  <a:pt x="481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065238"/>
            <a:ext cx="4826000" cy="1060946"/>
          </a:xfrm>
          <a:custGeom>
            <a:avLst/>
            <a:gdLst/>
            <a:ahLst/>
            <a:cxnLst/>
            <a:rect l="l" t="t" r="r" b="b"/>
            <a:pathLst>
              <a:path w="4826000" h="1060946">
                <a:moveTo>
                  <a:pt x="50800" y="1060946"/>
                </a:moveTo>
                <a:lnTo>
                  <a:pt x="50800" y="1060946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775200" y="0"/>
                </a:lnTo>
                <a:arcTo hR="50800" wR="50800" stAng="16200000" swAng="5400000"/>
                <a:lnTo>
                  <a:pt x="482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1010146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077938"/>
          <a:ext cx="4806950" cy="1041896"/>
        </p:xfrm>
        <a:graphic>
          <a:graphicData uri="http://schemas.openxmlformats.org/drawingml/2006/table">
            <a:tbl>
              <a:tblPr/>
              <a:tblGrid>
                <a:gridCol w="1345946"/>
                <a:gridCol w="672973"/>
                <a:gridCol w="480695"/>
                <a:gridCol w="1153668"/>
                <a:gridCol w="1153668"/>
              </a:tblGrid>
              <a:tr h="463451">
                <a:tc>
                  <a:txBody>
                    <a:bodyPr/>
                    <a:lstStyle/>
                    <a:p>
                      <a:pPr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89223">
                <a:tc>
                  <a:txBody>
                    <a:bodyPr/>
                    <a:lstStyle/>
                    <a:p>
                      <a:pPr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5.538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2.261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289223">
                <a:tc>
                  <a:txBody>
                    <a:bodyPr/>
                    <a:lstStyle/>
                    <a:p>
                      <a:pPr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after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19.83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3.817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5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1.558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3253184"/>
            <a:ext cx="10883392" cy="2263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Test </a:t>
            </a:r>
            <a:r>
              <a:rPr lang="en-US" sz="1159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Paired Differences</a:t>
            </a:r>
            <a:endParaRPr lang="en-US" sz="1159" dirty="0"/>
          </a:p>
        </p:txBody>
      </p:sp>
      <p:sp>
        <p:nvSpPr>
          <p:cNvPr id="9" name="Shape 6"/>
          <p:cNvSpPr/>
          <p:nvPr/>
        </p:nvSpPr>
        <p:spPr>
          <a:xfrm>
            <a:off x="812800" y="3504902"/>
            <a:ext cx="10566400" cy="772815"/>
          </a:xfrm>
          <a:custGeom>
            <a:avLst/>
            <a:gdLst/>
            <a:ahLst/>
            <a:cxnLst/>
            <a:rect l="l" t="t" r="r" b="b"/>
            <a:pathLst>
              <a:path w="10566400" h="772815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722015"/>
                </a:lnTo>
                <a:arcTo hR="50800" wR="50800" stAng="0" swAng="5400000"/>
                <a:lnTo>
                  <a:pt x="50800" y="772815"/>
                </a:lnTo>
                <a:arcTo hR="50800" wR="50800" stAng="5400000" swAng="5400000"/>
                <a:lnTo>
                  <a:pt x="0" y="722015"/>
                </a:lnTo>
                <a:arcTo hR="44450" wR="50800" stAng="10800000" swAng="-5400000"/>
                <a:lnTo>
                  <a:pt x="10515600" y="766465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7"/>
          <p:cNvSpPr/>
          <p:nvPr/>
        </p:nvSpPr>
        <p:spPr>
          <a:xfrm>
            <a:off x="812800" y="3504902"/>
            <a:ext cx="10566400" cy="772815"/>
          </a:xfrm>
          <a:custGeom>
            <a:avLst/>
            <a:gdLst/>
            <a:ahLst/>
            <a:cxnLst/>
            <a:rect l="l" t="t" r="r" b="b"/>
            <a:pathLst>
              <a:path w="10566400" h="772815">
                <a:moveTo>
                  <a:pt x="50800" y="772815"/>
                </a:moveTo>
                <a:lnTo>
                  <a:pt x="50800" y="772815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22015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517602"/>
          <a:ext cx="10547350" cy="753765"/>
        </p:xfrm>
        <a:graphic>
          <a:graphicData uri="http://schemas.openxmlformats.org/drawingml/2006/table">
            <a:tbl>
              <a:tblPr/>
              <a:tblGrid>
                <a:gridCol w="1793050"/>
                <a:gridCol w="949262"/>
                <a:gridCol w="1265682"/>
                <a:gridCol w="1160208"/>
                <a:gridCol w="1160208"/>
                <a:gridCol w="1160208"/>
                <a:gridCol w="949262"/>
                <a:gridCol w="632841"/>
                <a:gridCol w="1476629"/>
              </a:tblGrid>
              <a:tr h="463252">
                <a:tc>
                  <a:txBody>
                    <a:bodyPr/>
                    <a:lstStyle/>
                    <a:p>
                      <a:pPr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290513">
                <a:tc>
                  <a:txBody>
                    <a:bodyPr/>
                    <a:lstStyle/>
                    <a:p>
                      <a:pPr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 - after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-4.167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2.639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1.078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-6.937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-1.397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-3.867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461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.012</a:t>
                      </a:r>
                      <a:endParaRPr lang="en-US" sz="10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812800" y="4500364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295400" y="4536579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confidence level is: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498975" y="4471789"/>
            <a:ext cx="97085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52950" y="452576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21250" y="4549874"/>
            <a:ext cx="44380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95%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65080" y="4471789"/>
            <a:ext cx="86052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619055" y="4525764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5987355" y="4549874"/>
            <a:ext cx="33347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5%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520855" y="4471789"/>
            <a:ext cx="688181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574830" y="452576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943130" y="4549874"/>
            <a:ext cx="161131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7304286" y="4471789"/>
            <a:ext cx="106332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358261" y="4525764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726561" y="4549874"/>
            <a:ext cx="53627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2.693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812800" y="4996359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1295400" y="5032573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significance level is: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4498975" y="4967883"/>
            <a:ext cx="97085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552950" y="5021858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921250" y="5045968"/>
            <a:ext cx="44380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95%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5565080" y="4967883"/>
            <a:ext cx="86052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5619055" y="5021858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5987355" y="5045968"/>
            <a:ext cx="33347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5%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520855" y="4967883"/>
            <a:ext cx="688181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574830" y="5021858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36" name="Text 32"/>
          <p:cNvSpPr/>
          <p:nvPr/>
        </p:nvSpPr>
        <p:spPr>
          <a:xfrm>
            <a:off x="6943130" y="5045968"/>
            <a:ext cx="161131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7304286" y="4967883"/>
            <a:ext cx="106332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7358261" y="5021858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39" name="Text 35"/>
          <p:cNvSpPr/>
          <p:nvPr/>
        </p:nvSpPr>
        <p:spPr>
          <a:xfrm>
            <a:off x="7726561" y="5045968"/>
            <a:ext cx="53627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2.693</a:t>
            </a:r>
            <a:endParaRPr lang="en-US" sz="1400" dirty="0"/>
          </a:p>
        </p:txBody>
      </p:sp>
      <p:sp>
        <p:nvSpPr>
          <p:cNvPr id="40" name="Text 36"/>
          <p:cNvSpPr/>
          <p:nvPr/>
        </p:nvSpPr>
        <p:spPr>
          <a:xfrm>
            <a:off x="812800" y="5492353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1295400" y="5528568"/>
            <a:ext cx="313944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Sig for this test:</a:t>
            </a:r>
            <a:endParaRPr lang="en-US" sz="1400" dirty="0"/>
          </a:p>
        </p:txBody>
      </p:sp>
      <p:sp>
        <p:nvSpPr>
          <p:cNvPr id="42" name="Shape 38"/>
          <p:cNvSpPr/>
          <p:nvPr/>
        </p:nvSpPr>
        <p:spPr>
          <a:xfrm>
            <a:off x="4498975" y="5463877"/>
            <a:ext cx="970855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552950" y="551785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4921250" y="5541963"/>
            <a:ext cx="443805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95%</a:t>
            </a:r>
            <a:endParaRPr lang="en-US" sz="1400" dirty="0"/>
          </a:p>
        </p:txBody>
      </p:sp>
      <p:sp>
        <p:nvSpPr>
          <p:cNvPr id="45" name="Shape 41"/>
          <p:cNvSpPr/>
          <p:nvPr/>
        </p:nvSpPr>
        <p:spPr>
          <a:xfrm>
            <a:off x="5565080" y="5463877"/>
            <a:ext cx="860524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5619055" y="551785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47" name="Text 43"/>
          <p:cNvSpPr/>
          <p:nvPr/>
        </p:nvSpPr>
        <p:spPr>
          <a:xfrm>
            <a:off x="5987355" y="5541963"/>
            <a:ext cx="333474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5%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520855" y="5463877"/>
            <a:ext cx="1025128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6574830" y="551785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6943130" y="5541963"/>
            <a:ext cx="498078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0.012</a:t>
            </a:r>
            <a:endParaRPr lang="en-US" sz="1400" dirty="0"/>
          </a:p>
        </p:txBody>
      </p:sp>
      <p:sp>
        <p:nvSpPr>
          <p:cNvPr id="51" name="Shape 47"/>
          <p:cNvSpPr/>
          <p:nvPr/>
        </p:nvSpPr>
        <p:spPr>
          <a:xfrm>
            <a:off x="7641233" y="5463877"/>
            <a:ext cx="106332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7695208" y="5517852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53" name="Text 49"/>
          <p:cNvSpPr/>
          <p:nvPr/>
        </p:nvSpPr>
        <p:spPr>
          <a:xfrm>
            <a:off x="8063508" y="5541963"/>
            <a:ext cx="53627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2.693</a:t>
            </a:r>
            <a:endParaRPr lang="en-US" sz="1400" dirty="0"/>
          </a:p>
        </p:txBody>
      </p:sp>
      <p:sp>
        <p:nvSpPr>
          <p:cNvPr id="54" name="Text 50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55" name="Text 51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26</a:t>
            </a:r>
            <a:endParaRPr lang="en-US" sz="1200" dirty="0"/>
          </a:p>
        </p:txBody>
      </p:sp>
      <p:sp>
        <p:nvSpPr>
          <p:cNvPr id="56" name="Answer 56"/>
          <p:cNvSpPr/>
          <p:nvPr/>
        </p:nvSpPr>
        <p:spPr>
          <a:xfrm>
            <a:off x="4460875" y="4433689"/>
            <a:ext cx="1047055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57" name="Answer 57"/>
          <p:cNvSpPr/>
          <p:nvPr/>
        </p:nvSpPr>
        <p:spPr>
          <a:xfrm>
            <a:off x="5526980" y="4929783"/>
            <a:ext cx="936724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58" name="Answer 58"/>
          <p:cNvSpPr/>
          <p:nvPr/>
        </p:nvSpPr>
        <p:spPr>
          <a:xfrm>
            <a:off x="6482755" y="5425777"/>
            <a:ext cx="1101328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57" grpId="0" animBg="1"/>
      <p:bldP spid="5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EXAMPLE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Answer from the output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56680"/>
            <a:ext cx="4970780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Statistics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120801"/>
            <a:ext cx="4826000" cy="1123950"/>
          </a:xfrm>
          <a:custGeom>
            <a:avLst/>
            <a:gdLst/>
            <a:ahLst/>
            <a:cxnLst/>
            <a:rect l="l" t="t" r="r" b="b"/>
            <a:pathLst>
              <a:path w="4826000" h="1123950">
                <a:moveTo>
                  <a:pt x="4775200" y="0"/>
                </a:moveTo>
                <a:lnTo>
                  <a:pt x="4775200" y="0"/>
                </a:lnTo>
                <a:arcTo hR="50800" wR="50800" stAng="16200000" swAng="5400000"/>
                <a:lnTo>
                  <a:pt x="4826000" y="1073150"/>
                </a:lnTo>
                <a:arcTo hR="50800" wR="50800" stAng="0" swAng="5400000"/>
                <a:lnTo>
                  <a:pt x="50800" y="1123950"/>
                </a:lnTo>
                <a:arcTo hR="50800" wR="50800" stAng="5400000" swAng="5400000"/>
                <a:lnTo>
                  <a:pt x="0" y="1073150"/>
                </a:lnTo>
                <a:arcTo hR="44450" wR="50800" stAng="10800000" swAng="-5400000"/>
                <a:lnTo>
                  <a:pt x="4775200" y="1117600"/>
                </a:lnTo>
                <a:arcTo hR="44450" wR="44450" stAng="5400000" swAng="-5400000"/>
                <a:lnTo>
                  <a:pt x="48196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6" name="Shape 4"/>
          <p:cNvSpPr/>
          <p:nvPr/>
        </p:nvSpPr>
        <p:spPr>
          <a:xfrm>
            <a:off x="812800" y="2120801"/>
            <a:ext cx="4826000" cy="1123950"/>
          </a:xfrm>
          <a:custGeom>
            <a:avLst/>
            <a:gdLst/>
            <a:ahLst/>
            <a:cxnLst/>
            <a:rect l="l" t="t" r="r" b="b"/>
            <a:pathLst>
              <a:path w="4826000" h="1123950">
                <a:moveTo>
                  <a:pt x="50800" y="1123950"/>
                </a:moveTo>
                <a:lnTo>
                  <a:pt x="50800" y="11239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4775200" y="0"/>
                </a:lnTo>
                <a:arcTo hR="50800" wR="50800" stAng="16200000" swAng="5400000"/>
                <a:lnTo>
                  <a:pt x="48260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10731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133501"/>
          <a:ext cx="4806950" cy="1104900"/>
        </p:xfrm>
        <a:graphic>
          <a:graphicData uri="http://schemas.openxmlformats.org/drawingml/2006/table">
            <a:tbl>
              <a:tblPr/>
              <a:tblGrid>
                <a:gridCol w="1345946"/>
                <a:gridCol w="672973"/>
                <a:gridCol w="480695"/>
                <a:gridCol w="1153668"/>
                <a:gridCol w="1153668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15.67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5.538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2.261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after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19.83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3.817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1.558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12800" y="3371751"/>
            <a:ext cx="10883392" cy="2387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Paired Samples Test </a:t>
            </a:r>
            <a:r>
              <a:rPr lang="en-US" sz="1200" b="1" dirty="0">
                <a:solidFill>
                  <a:srgbClr val="5E687C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· Paired Differences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2800" y="3635871"/>
            <a:ext cx="10566400" cy="819150"/>
          </a:xfrm>
          <a:custGeom>
            <a:avLst/>
            <a:gdLst/>
            <a:ahLst/>
            <a:cxnLst/>
            <a:rect l="l" t="t" r="r" b="b"/>
            <a:pathLst>
              <a:path w="10566400" h="819150">
                <a:moveTo>
                  <a:pt x="10515600" y="0"/>
                </a:moveTo>
                <a:lnTo>
                  <a:pt x="10515600" y="0"/>
                </a:lnTo>
                <a:arcTo hR="50800" wR="50800" stAng="16200000" swAng="5400000"/>
                <a:lnTo>
                  <a:pt x="10566400" y="768350"/>
                </a:lnTo>
                <a:arcTo hR="50800" wR="50800" stAng="0" swAng="5400000"/>
                <a:lnTo>
                  <a:pt x="50800" y="819150"/>
                </a:lnTo>
                <a:arcTo hR="50800" wR="50800" stAng="5400000" swAng="5400000"/>
                <a:lnTo>
                  <a:pt x="0" y="768350"/>
                </a:lnTo>
                <a:arcTo hR="44450" wR="50800" stAng="10800000" swAng="-5400000"/>
                <a:lnTo>
                  <a:pt x="10515600" y="812800"/>
                </a:lnTo>
                <a:arcTo hR="44450" wR="44450" stAng="5400000" swAng="-5400000"/>
                <a:lnTo>
                  <a:pt x="10560050" y="50800"/>
                </a:lnTo>
                <a:arcTo hR="50800" wR="4445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0" name="Shape 7"/>
          <p:cNvSpPr/>
          <p:nvPr/>
        </p:nvSpPr>
        <p:spPr>
          <a:xfrm>
            <a:off x="812800" y="3635871"/>
            <a:ext cx="10566400" cy="819150"/>
          </a:xfrm>
          <a:custGeom>
            <a:avLst/>
            <a:gdLst/>
            <a:ahLst/>
            <a:cxnLst/>
            <a:rect l="l" t="t" r="r" b="b"/>
            <a:pathLst>
              <a:path w="10566400" h="819150">
                <a:moveTo>
                  <a:pt x="50800" y="819150"/>
                </a:moveTo>
                <a:lnTo>
                  <a:pt x="50800" y="819150"/>
                </a:lnTo>
                <a:arcTo hR="50800" wR="50800" stAng="5400000" swAng="5400000"/>
                <a:lnTo>
                  <a:pt x="0" y="50800"/>
                </a:lnTo>
                <a:arcTo hR="50800" wR="50800" stAng="10800000" swAng="5400000"/>
                <a:lnTo>
                  <a:pt x="10515600" y="0"/>
                </a:lnTo>
                <a:arcTo hR="50800" wR="50800" stAng="16200000" swAng="5400000"/>
                <a:lnTo>
                  <a:pt x="10566400" y="50800"/>
                </a:lnTo>
                <a:arcTo hR="38100" wR="50800" stAng="0" swAng="-5400000"/>
                <a:lnTo>
                  <a:pt x="50800" y="12700"/>
                </a:lnTo>
                <a:arcTo hR="38100" wR="38100" stAng="16200000" swAng="-5400000"/>
                <a:lnTo>
                  <a:pt x="12700" y="768350"/>
                </a:lnTo>
                <a:arcTo hR="50800" wR="381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3648571"/>
          <a:ext cx="10547350" cy="800100"/>
        </p:xfrm>
        <a:graphic>
          <a:graphicData uri="http://schemas.openxmlformats.org/drawingml/2006/table">
            <a:tbl>
              <a:tblPr/>
              <a:tblGrid>
                <a:gridCol w="1793050"/>
                <a:gridCol w="949262"/>
                <a:gridCol w="1265682"/>
                <a:gridCol w="1160208"/>
                <a:gridCol w="1160208"/>
                <a:gridCol w="1160208"/>
                <a:gridCol w="949262"/>
                <a:gridCol w="632841"/>
                <a:gridCol w="1476629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Pair 1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Deviation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Std. Error Mean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Lower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95% CI Upper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t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df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Sig. (2-tailed)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before - after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-4.167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2.639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1.078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-6.937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-1.397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-3.867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lnSpc>
                          <a:spcPts val="1579"/>
                        </a:lnSpc>
                        <a:buNone/>
                      </a:pPr>
                      <a:r>
                        <a:rPr lang="en-US" sz="1150" dirty="0">
                          <a:solidFill>
                            <a:srgbClr val="9A5B00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.012</a:t>
                      </a:r>
                      <a:endParaRPr lang="en-US" sz="115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88900" marR="88900" marT="50800" marB="50800" anchor="t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812800" y="468997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295400" y="4726186"/>
            <a:ext cx="39624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Compared with the significance level, Sig is: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260975" y="4661396"/>
            <a:ext cx="1121866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4950" y="471537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683250" y="4739481"/>
            <a:ext cx="594816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Larger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478091" y="4661396"/>
            <a:ext cx="120431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32066" y="471537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900366" y="4739481"/>
            <a:ext cx="677267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Smaller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12800" y="5210671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295400" y="5246886"/>
            <a:ext cx="3924300" cy="283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this test we: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260975" y="5182096"/>
            <a:ext cx="2294037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14950" y="523607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5683250" y="5260181"/>
            <a:ext cx="1767672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11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Accept H0, reject H1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7650262" y="5182096"/>
            <a:ext cx="2319040" cy="38735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704237" y="5236071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279400" h="279400">
                <a:moveTo>
                  <a:pt x="139700" y="0"/>
                </a:moveTo>
                <a:lnTo>
                  <a:pt x="139700" y="0"/>
                </a:lnTo>
                <a:arcTo hR="139700" wR="139700" stAng="16200000" swAng="5400000"/>
                <a:lnTo>
                  <a:pt x="279400" y="139700"/>
                </a:lnTo>
                <a:arcTo hR="139700" wR="139700" stAng="0" swAng="5400000"/>
                <a:lnTo>
                  <a:pt x="139700" y="279400"/>
                </a:lnTo>
                <a:arcTo hR="139700" wR="139700" stAng="5400000" swAng="5400000"/>
                <a:lnTo>
                  <a:pt x="0" y="139700"/>
                </a:lnTo>
                <a:arcTo hR="139700" wR="139700" stAng="10800000" swAng="5400000"/>
                <a:close/>
              </a:path>
            </a:pathLst>
          </a:custGeom>
          <a:solidFill>
            <a:srgbClr val="DCE7F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072537" y="5260181"/>
            <a:ext cx="1793426" cy="2564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11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Reject H0, accept H1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27</a:t>
            </a:r>
            <a:endParaRPr lang="en-US" sz="1200" dirty="0"/>
          </a:p>
        </p:txBody>
      </p:sp>
      <p:sp>
        <p:nvSpPr>
          <p:cNvPr id="30" name="Answer 30"/>
          <p:cNvSpPr/>
          <p:nvPr/>
        </p:nvSpPr>
        <p:spPr>
          <a:xfrm>
            <a:off x="6439991" y="4623296"/>
            <a:ext cx="1280517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  <p:sp>
        <p:nvSpPr>
          <p:cNvPr id="31" name="Answer 31"/>
          <p:cNvSpPr/>
          <p:nvPr/>
        </p:nvSpPr>
        <p:spPr>
          <a:xfrm>
            <a:off x="7612162" y="5143996"/>
            <a:ext cx="2395240" cy="463550"/>
          </a:xfrm>
          <a:prstGeom prst="roundRect">
            <a:avLst>
              <a:gd name="adj" fmla="val 50000"/>
            </a:avLst>
          </a:prstGeom>
          <a:solidFill>
            <a:srgbClr val="2E8B57">
              <a:alpha val="22000"/>
            </a:srgbClr>
          </a:solidFill>
          <a:ln w="38100">
            <a:solidFill>
              <a:srgbClr val="2E8B57"/>
            </a:solidFill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20"/>
            <a:ext cx="10883392" cy="55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 to remember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280"/>
            <a:ext cx="3386634" cy="2540000"/>
          </a:xfrm>
          <a:prstGeom prst="roundRect">
            <a:avLst>
              <a:gd name="adj" fmla="val 4000"/>
            </a:avLst>
          </a:prstGeom>
          <a:solidFill>
            <a:srgbClr val="2E3C52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21228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6800" y="2694880"/>
            <a:ext cx="29649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Hypotheses first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6800" y="3139380"/>
            <a:ext cx="2964993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H0: no difference. H1: a difference. Write both before running SPSS.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2634" y="1958280"/>
            <a:ext cx="3386733" cy="2540000"/>
          </a:xfrm>
          <a:prstGeom prst="roundRect">
            <a:avLst>
              <a:gd name="adj" fmla="val 4000"/>
            </a:avLst>
          </a:prstGeom>
          <a:solidFill>
            <a:srgbClr val="2E3C52"/>
          </a:solidFill>
          <a:ln/>
        </p:spPr>
      </p:sp>
      <p:sp>
        <p:nvSpPr>
          <p:cNvPr id="9" name="Text 7"/>
          <p:cNvSpPr/>
          <p:nvPr/>
        </p:nvSpPr>
        <p:spPr>
          <a:xfrm>
            <a:off x="4656634" y="221228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56634" y="2694880"/>
            <a:ext cx="29650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Which test?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56634" y="3139380"/>
            <a:ext cx="2965095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mean against a fixed value: One Sample. The same people before and after: Paired Samples.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92566" y="1958280"/>
            <a:ext cx="3386634" cy="2540000"/>
          </a:xfrm>
          <a:prstGeom prst="roundRect">
            <a:avLst>
              <a:gd name="adj" fmla="val 4000"/>
            </a:avLst>
          </a:prstGeom>
          <a:solidFill>
            <a:srgbClr val="2E3C52"/>
          </a:solidFill>
          <a:ln/>
        </p:spPr>
      </p:sp>
      <p:sp>
        <p:nvSpPr>
          <p:cNvPr id="13" name="Text 11"/>
          <p:cNvSpPr/>
          <p:nvPr/>
        </p:nvSpPr>
        <p:spPr>
          <a:xfrm>
            <a:off x="8246566" y="221228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46566" y="2694880"/>
            <a:ext cx="296499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decision rule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246566" y="3139380"/>
            <a:ext cx="2964993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75"/>
              </a:lnSpc>
              <a:buNone/>
            </a:pPr>
            <a:r>
              <a:rPr lang="en-US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α = 1 − confidence. Sig &lt; α: reject H0. Sig ≥ α: accept H0.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28534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Section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31153" y="6238280"/>
            <a:ext cx="2480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4 — Hypothesis tests for the mean</dc:title>
  <dc:subject/>
  <dc:creator/>
  <cp:lastModifiedBy/>
  <cp:revision>1</cp:revision>
  <dcterms:created xsi:type="dcterms:W3CDTF">2026-10-24T11:26:43Z</dcterms:created>
  <dcterms:modified xsi:type="dcterms:W3CDTF">2026-10-24T11:26:43Z</dcterms:modified>
</cp:coreProperties>
</file>