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22A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201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ابدأ بالتعريف ثم اسأل الطلاب عن أمثلة من حياتهم قبل الانتقال لأنواع المقاييس.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اسأل: هل لمتوسط أرقام الطلاب أي معنى؟ الإجابة لا، إذن المتغير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أمثلة سريعة للسبورة: gender صحيح، monthly income خطأ (مسافة)، 2income خطأ (يبدأ برقم).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الإجابات: 1: a | 2: b | 3: c | 4: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الإجابات: 1: b | 2: b | 3: c | 4: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الإجابات: 1: b | 2: c | 3: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r" rtl="1"/>
            <a:r>
              <a:rPr lang="ar-EG" dirty="0"/>
              <a:t>الإجابات: 4: c | 5: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1346200"/>
            <a:ext cx="4165600" cy="4165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14264" y="1682750"/>
            <a:ext cx="596493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  <p:sp>
        <p:nvSpPr>
          <p:cNvPr id="4" name="Text 1"/>
          <p:cNvSpPr/>
          <p:nvPr/>
        </p:nvSpPr>
        <p:spPr>
          <a:xfrm>
            <a:off x="5414264" y="2099310"/>
            <a:ext cx="5964936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مقدمة في SPSS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5414264" y="4131310"/>
            <a:ext cx="5964936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860"/>
              </a:lnSpc>
              <a:buNone/>
            </a:pPr>
            <a:r>
              <a:rPr lang="ar-EG" sz="2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المتغيرات، نوافذ البرنامج، ومحرر البيانات</a:t>
            </a:r>
            <a:endParaRPr lang="ar-EG" sz="2200" dirty="0"/>
          </a:p>
        </p:txBody>
      </p:sp>
      <p:sp>
        <p:nvSpPr>
          <p:cNvPr id="6" name="Shape 3"/>
          <p:cNvSpPr/>
          <p:nvPr/>
        </p:nvSpPr>
        <p:spPr>
          <a:xfrm>
            <a:off x="10617200" y="4697730"/>
            <a:ext cx="762000" cy="2540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7" name="Text 4"/>
          <p:cNvSpPr/>
          <p:nvPr/>
        </p:nvSpPr>
        <p:spPr>
          <a:xfrm>
            <a:off x="5414264" y="4926330"/>
            <a:ext cx="5964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960"/>
              </a:lnSpc>
              <a:buNone/>
            </a:pPr>
            <a:r>
              <a:rPr lang="en-US" sz="14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Horus University · 2026/2027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خطة السكشن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0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سنتعلم اليوم؟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17144" y="209804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مصطلحات إحصائية هامة: المتغير وأنواعه ومقاييسه</a:t>
            </a:r>
            <a:endParaRPr lang="ar-EG" sz="1800" dirty="0"/>
          </a:p>
        </p:txBody>
      </p:sp>
      <p:sp>
        <p:nvSpPr>
          <p:cNvPr id="5" name="Text 3"/>
          <p:cNvSpPr/>
          <p:nvPr/>
        </p:nvSpPr>
        <p:spPr>
          <a:xfrm>
            <a:off x="10871200" y="210439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2800" y="253809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7144" y="267970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هو برنامج SPSS؟</a:t>
            </a:r>
            <a:endParaRPr lang="ar-EG" sz="1800" dirty="0"/>
          </a:p>
        </p:txBody>
      </p:sp>
      <p:sp>
        <p:nvSpPr>
          <p:cNvPr id="8" name="Text 6"/>
          <p:cNvSpPr/>
          <p:nvPr/>
        </p:nvSpPr>
        <p:spPr>
          <a:xfrm>
            <a:off x="10871200" y="268605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2800" y="311975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7144" y="326136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نوافذ البرنامج: محرر البيانات وعرض المخرجات</a:t>
            </a:r>
            <a:endParaRPr lang="ar-EG" sz="1800" dirty="0"/>
          </a:p>
        </p:txBody>
      </p:sp>
      <p:sp>
        <p:nvSpPr>
          <p:cNvPr id="11" name="Text 9"/>
          <p:cNvSpPr/>
          <p:nvPr/>
        </p:nvSpPr>
        <p:spPr>
          <a:xfrm>
            <a:off x="10871200" y="326771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2800" y="370141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7144" y="384302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خصائص المتغيرات في Variable View وإدخال البيانات في Data View</a:t>
            </a:r>
            <a:endParaRPr lang="ar-EG" sz="1800" dirty="0"/>
          </a:p>
        </p:txBody>
      </p:sp>
      <p:sp>
        <p:nvSpPr>
          <p:cNvPr id="14" name="Text 12"/>
          <p:cNvSpPr/>
          <p:nvPr/>
        </p:nvSpPr>
        <p:spPr>
          <a:xfrm>
            <a:off x="10871200" y="384937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2800" y="4283075"/>
            <a:ext cx="10566400" cy="0"/>
          </a:xfrm>
          <a:prstGeom prst="line">
            <a:avLst/>
          </a:prstGeom>
          <a:noFill/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144" y="4424680"/>
            <a:ext cx="10150856" cy="32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34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ثلاثة تمارين تطبيقية على SPSS</a:t>
            </a:r>
            <a:endParaRPr lang="ar-EG" sz="1800" dirty="0"/>
          </a:p>
        </p:txBody>
      </p:sp>
      <p:sp>
        <p:nvSpPr>
          <p:cNvPr id="17" name="Text 15"/>
          <p:cNvSpPr/>
          <p:nvPr/>
        </p:nvSpPr>
        <p:spPr>
          <a:xfrm>
            <a:off x="10871200" y="4431030"/>
            <a:ext cx="5080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2000" y="6238241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86755" y="6238241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2641600"/>
            <a:ext cx="457200" cy="157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80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80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مصطلحات إحصائية هامة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80"/>
            <a:ext cx="91567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المتغير، أنواعه، ومقياس كل نوع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41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86755" y="6238241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المصطلح الأول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495808" y="1958341"/>
            <a:ext cx="10883392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3000"/>
              </a:lnSpc>
              <a:buNone/>
            </a:pPr>
            <a:r>
              <a:rPr lang="ar-EG" sz="20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خاصية يمكن ملاحظتها أو قياسها، وتختلف من فرد إلى آخر أو من حالة إلى أخرى. تنقسم المتغيرات إلى نوعين رئيسيين:</a:t>
            </a:r>
            <a:endParaRPr lang="ar-EG" sz="2000" dirty="0"/>
          </a:p>
        </p:txBody>
      </p:sp>
      <p:sp>
        <p:nvSpPr>
          <p:cNvPr id="5" name="Shape 3"/>
          <p:cNvSpPr/>
          <p:nvPr/>
        </p:nvSpPr>
        <p:spPr>
          <a:xfrm>
            <a:off x="815975" y="3028316"/>
            <a:ext cx="5175250" cy="2057400"/>
          </a:xfrm>
          <a:prstGeom prst="roundRect">
            <a:avLst>
              <a:gd name="adj" fmla="val 4784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1880" y="3284220"/>
            <a:ext cx="133992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" name="Text 5"/>
          <p:cNvSpPr/>
          <p:nvPr/>
        </p:nvSpPr>
        <p:spPr>
          <a:xfrm>
            <a:off x="1160780" y="3335020"/>
            <a:ext cx="111132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 · Scale</a:t>
            </a:r>
            <a:endParaRPr lang="ar-EG" sz="1400" dirty="0"/>
          </a:p>
        </p:txBody>
      </p:sp>
      <p:sp>
        <p:nvSpPr>
          <p:cNvPr id="8" name="Text 6"/>
          <p:cNvSpPr/>
          <p:nvPr/>
        </p:nvSpPr>
        <p:spPr>
          <a:xfrm>
            <a:off x="931977" y="3743961"/>
            <a:ext cx="480334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50"/>
              </a:lnSpc>
              <a:buNone/>
            </a:pPr>
            <a:r>
              <a:rPr lang="ar-EG" sz="2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 الكمي</a:t>
            </a:r>
            <a:endParaRPr lang="ar-EG" sz="2200" dirty="0"/>
          </a:p>
        </p:txBody>
      </p:sp>
      <p:sp>
        <p:nvSpPr>
          <p:cNvPr id="9" name="Text 7"/>
          <p:cNvSpPr/>
          <p:nvPr/>
        </p:nvSpPr>
        <p:spPr>
          <a:xfrm>
            <a:off x="931977" y="4220211"/>
            <a:ext cx="480334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يعبّر عن مقدار عددي يمكن إجراء العمليات الحسابية عليه، ويكون مقياسه Scale.</a:t>
            </a:r>
            <a:endParaRPr lang="ar-EG" sz="1600" dirty="0"/>
          </a:p>
        </p:txBody>
      </p:sp>
      <p:sp>
        <p:nvSpPr>
          <p:cNvPr id="10" name="Shape 8"/>
          <p:cNvSpPr/>
          <p:nvPr/>
        </p:nvSpPr>
        <p:spPr>
          <a:xfrm>
            <a:off x="6200775" y="3028316"/>
            <a:ext cx="5175250" cy="2057400"/>
          </a:xfrm>
          <a:prstGeom prst="roundRect">
            <a:avLst>
              <a:gd name="adj" fmla="val 4784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56680" y="3284220"/>
            <a:ext cx="1516856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2" name="Text 10"/>
          <p:cNvSpPr/>
          <p:nvPr/>
        </p:nvSpPr>
        <p:spPr>
          <a:xfrm>
            <a:off x="6545580" y="3335020"/>
            <a:ext cx="1288256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رتبي · Ordinal</a:t>
            </a:r>
            <a:endParaRPr lang="ar-EG" sz="1400" dirty="0"/>
          </a:p>
        </p:txBody>
      </p:sp>
      <p:sp>
        <p:nvSpPr>
          <p:cNvPr id="13" name="Shape 11"/>
          <p:cNvSpPr/>
          <p:nvPr/>
        </p:nvSpPr>
        <p:spPr>
          <a:xfrm>
            <a:off x="8075137" y="3284220"/>
            <a:ext cx="1762443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4" name="Text 12"/>
          <p:cNvSpPr/>
          <p:nvPr/>
        </p:nvSpPr>
        <p:spPr>
          <a:xfrm>
            <a:off x="8164037" y="3335020"/>
            <a:ext cx="1533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اسمي · Nominal</a:t>
            </a:r>
            <a:endParaRPr lang="ar-EG" sz="1400" dirty="0"/>
          </a:p>
        </p:txBody>
      </p:sp>
      <p:sp>
        <p:nvSpPr>
          <p:cNvPr id="15" name="Text 13"/>
          <p:cNvSpPr/>
          <p:nvPr/>
        </p:nvSpPr>
        <p:spPr>
          <a:xfrm>
            <a:off x="6316777" y="3743961"/>
            <a:ext cx="480334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50"/>
              </a:lnSpc>
              <a:buNone/>
            </a:pPr>
            <a:r>
              <a:rPr lang="ar-EG" sz="2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 الوصفي (النوعي)</a:t>
            </a:r>
            <a:endParaRPr lang="ar-EG" sz="2200" dirty="0"/>
          </a:p>
        </p:txBody>
      </p:sp>
      <p:sp>
        <p:nvSpPr>
          <p:cNvPr id="16" name="Text 14"/>
          <p:cNvSpPr/>
          <p:nvPr/>
        </p:nvSpPr>
        <p:spPr>
          <a:xfrm>
            <a:off x="6316777" y="4220211"/>
            <a:ext cx="480334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يوجد في شكل كلمات أو أرقام لا تُجرى عليها العمليات الحسابية. وينقسم إلى نوعين: اسمي ورتبي.</a:t>
            </a:r>
            <a:endParaRPr lang="ar-EG" sz="1600" dirty="0"/>
          </a:p>
        </p:txBody>
      </p:sp>
      <p:sp>
        <p:nvSpPr>
          <p:cNvPr id="17" name="Text 15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086755" y="6238239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مقاييس المتغيرات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ثلاثة مقاييس في SPSS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514"/>
            <a:ext cx="3380264" cy="3473450"/>
          </a:xfrm>
          <a:prstGeom prst="roundRect">
            <a:avLst>
              <a:gd name="adj" fmla="val 291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2775" y="2217421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" name="Text 4"/>
          <p:cNvSpPr/>
          <p:nvPr/>
        </p:nvSpPr>
        <p:spPr>
          <a:xfrm>
            <a:off x="3228975" y="2268221"/>
            <a:ext cx="5843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5826" y="2664461"/>
            <a:ext cx="29545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</a:t>
            </a:r>
            <a:endParaRPr lang="ar-EG" sz="2000" dirty="0"/>
          </a:p>
        </p:txBody>
      </p:sp>
      <p:sp>
        <p:nvSpPr>
          <p:cNvPr id="8" name="Text 6"/>
          <p:cNvSpPr/>
          <p:nvPr/>
        </p:nvSpPr>
        <p:spPr>
          <a:xfrm>
            <a:off x="985826" y="3096261"/>
            <a:ext cx="2954507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مقدار عددي تُجرى عليه العمليات الحسابية.</a:t>
            </a:r>
            <a:endParaRPr lang="ar-EG" sz="1500" dirty="0"/>
          </a:p>
        </p:txBody>
      </p:sp>
      <p:sp>
        <p:nvSpPr>
          <p:cNvPr id="9" name="Shape 7"/>
          <p:cNvSpPr/>
          <p:nvPr/>
        </p:nvSpPr>
        <p:spPr>
          <a:xfrm>
            <a:off x="1071880" y="3763011"/>
            <a:ext cx="2868454" cy="6350"/>
          </a:xfrm>
          <a:prstGeom prst="rect">
            <a:avLst/>
          </a:prstGeom>
          <a:solidFill>
            <a:srgbClr val="D8D2C4"/>
          </a:solidFill>
          <a:ln/>
        </p:spPr>
      </p:sp>
      <p:sp>
        <p:nvSpPr>
          <p:cNvPr id="10" name="Text 8"/>
          <p:cNvSpPr/>
          <p:nvPr/>
        </p:nvSpPr>
        <p:spPr>
          <a:xfrm>
            <a:off x="985826" y="3883661"/>
            <a:ext cx="295450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عدد الموظفين</a:t>
            </a:r>
            <a:endParaRPr lang="ar-EG" sz="1500" dirty="0"/>
          </a:p>
        </p:txBody>
      </p:sp>
      <p:sp>
        <p:nvSpPr>
          <p:cNvPr id="11" name="Text 9"/>
          <p:cNvSpPr/>
          <p:nvPr/>
        </p:nvSpPr>
        <p:spPr>
          <a:xfrm>
            <a:off x="985826" y="4223386"/>
            <a:ext cx="295450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عدد الأطفال</a:t>
            </a:r>
            <a:endParaRPr lang="ar-EG" sz="1500" dirty="0"/>
          </a:p>
        </p:txBody>
      </p:sp>
      <p:sp>
        <p:nvSpPr>
          <p:cNvPr id="12" name="Text 10"/>
          <p:cNvSpPr/>
          <p:nvPr/>
        </p:nvSpPr>
        <p:spPr>
          <a:xfrm>
            <a:off x="985826" y="4563111"/>
            <a:ext cx="295450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الطول</a:t>
            </a:r>
            <a:endParaRPr lang="ar-EG" sz="1500" dirty="0"/>
          </a:p>
        </p:txBody>
      </p:sp>
      <p:sp>
        <p:nvSpPr>
          <p:cNvPr id="13" name="Text 11"/>
          <p:cNvSpPr/>
          <p:nvPr/>
        </p:nvSpPr>
        <p:spPr>
          <a:xfrm>
            <a:off x="985826" y="4902836"/>
            <a:ext cx="295450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الوزن</a:t>
            </a:r>
            <a:endParaRPr lang="ar-EG" sz="1500" dirty="0"/>
          </a:p>
        </p:txBody>
      </p:sp>
      <p:sp>
        <p:nvSpPr>
          <p:cNvPr id="14" name="Shape 12"/>
          <p:cNvSpPr/>
          <p:nvPr/>
        </p:nvSpPr>
        <p:spPr>
          <a:xfrm>
            <a:off x="4405789" y="1961514"/>
            <a:ext cx="3380343" cy="3473450"/>
          </a:xfrm>
          <a:prstGeom prst="roundRect">
            <a:avLst>
              <a:gd name="adj" fmla="val 291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29308" y="2217421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6" name="Text 14"/>
          <p:cNvSpPr/>
          <p:nvPr/>
        </p:nvSpPr>
        <p:spPr>
          <a:xfrm>
            <a:off x="6605508" y="2268221"/>
            <a:ext cx="79771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Ordinal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5638" y="2664461"/>
            <a:ext cx="29545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 رتبي</a:t>
            </a:r>
            <a:endParaRPr lang="ar-EG" sz="2000" dirty="0"/>
          </a:p>
        </p:txBody>
      </p:sp>
      <p:sp>
        <p:nvSpPr>
          <p:cNvPr id="18" name="Text 16"/>
          <p:cNvSpPr/>
          <p:nvPr/>
        </p:nvSpPr>
        <p:spPr>
          <a:xfrm>
            <a:off x="4575638" y="3096261"/>
            <a:ext cx="295458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صفاته قابلة للترتيب تصاعديًا أو تنازليًا.</a:t>
            </a:r>
            <a:endParaRPr lang="ar-EG" sz="1500" dirty="0"/>
          </a:p>
        </p:txBody>
      </p:sp>
      <p:sp>
        <p:nvSpPr>
          <p:cNvPr id="19" name="Shape 17"/>
          <p:cNvSpPr/>
          <p:nvPr/>
        </p:nvSpPr>
        <p:spPr>
          <a:xfrm>
            <a:off x="4661694" y="3763011"/>
            <a:ext cx="2868533" cy="6350"/>
          </a:xfrm>
          <a:prstGeom prst="rect">
            <a:avLst/>
          </a:prstGeom>
          <a:solidFill>
            <a:srgbClr val="D8D2C4"/>
          </a:solidFill>
          <a:ln/>
        </p:spPr>
      </p:sp>
      <p:sp>
        <p:nvSpPr>
          <p:cNvPr id="20" name="Text 18"/>
          <p:cNvSpPr/>
          <p:nvPr/>
        </p:nvSpPr>
        <p:spPr>
          <a:xfrm>
            <a:off x="4575638" y="3883661"/>
            <a:ext cx="295458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مستوى المعيشة: منخفض / متوسط / مرتفع</a:t>
            </a:r>
            <a:endParaRPr lang="ar-EG" sz="1500" dirty="0"/>
          </a:p>
        </p:txBody>
      </p:sp>
      <p:sp>
        <p:nvSpPr>
          <p:cNvPr id="21" name="Text 19"/>
          <p:cNvSpPr/>
          <p:nvPr/>
        </p:nvSpPr>
        <p:spPr>
          <a:xfrm>
            <a:off x="4575638" y="4499611"/>
            <a:ext cx="2954589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تقدير الطالب: A / B / C</a:t>
            </a:r>
            <a:endParaRPr lang="ar-EG" sz="1500" dirty="0"/>
          </a:p>
        </p:txBody>
      </p:sp>
      <p:sp>
        <p:nvSpPr>
          <p:cNvPr id="22" name="Shape 20"/>
          <p:cNvSpPr/>
          <p:nvPr/>
        </p:nvSpPr>
        <p:spPr>
          <a:xfrm>
            <a:off x="7995682" y="1961514"/>
            <a:ext cx="3380343" cy="3473450"/>
          </a:xfrm>
          <a:prstGeom prst="roundRect">
            <a:avLst>
              <a:gd name="adj" fmla="val 291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19202" y="2217421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4" name="Text 22"/>
          <p:cNvSpPr/>
          <p:nvPr/>
        </p:nvSpPr>
        <p:spPr>
          <a:xfrm>
            <a:off x="10195402" y="2268221"/>
            <a:ext cx="79771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Nominal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65531" y="2664461"/>
            <a:ext cx="29545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 اسمي</a:t>
            </a:r>
            <a:endParaRPr lang="ar-EG" sz="2000" dirty="0"/>
          </a:p>
        </p:txBody>
      </p:sp>
      <p:sp>
        <p:nvSpPr>
          <p:cNvPr id="26" name="Text 24"/>
          <p:cNvSpPr/>
          <p:nvPr/>
        </p:nvSpPr>
        <p:spPr>
          <a:xfrm>
            <a:off x="8165531" y="3096261"/>
            <a:ext cx="295458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صفاته غير قابلة للترتيب، أو أرقام لا تُجرى عليها العمليات الحسابية.</a:t>
            </a:r>
            <a:endParaRPr lang="ar-EG" sz="1500" dirty="0"/>
          </a:p>
        </p:txBody>
      </p:sp>
      <p:sp>
        <p:nvSpPr>
          <p:cNvPr id="27" name="Shape 25"/>
          <p:cNvSpPr/>
          <p:nvPr/>
        </p:nvSpPr>
        <p:spPr>
          <a:xfrm>
            <a:off x="8251587" y="3763011"/>
            <a:ext cx="2868533" cy="6350"/>
          </a:xfrm>
          <a:prstGeom prst="rect">
            <a:avLst/>
          </a:prstGeom>
          <a:solidFill>
            <a:srgbClr val="D8D2C4"/>
          </a:solidFill>
          <a:ln/>
        </p:spPr>
      </p:sp>
      <p:sp>
        <p:nvSpPr>
          <p:cNvPr id="28" name="Text 26"/>
          <p:cNvSpPr/>
          <p:nvPr/>
        </p:nvSpPr>
        <p:spPr>
          <a:xfrm>
            <a:off x="8165531" y="3883661"/>
            <a:ext cx="2954589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النوع: ذكر / أنثى</a:t>
            </a:r>
            <a:endParaRPr lang="ar-EG" sz="1500" dirty="0"/>
          </a:p>
        </p:txBody>
      </p:sp>
      <p:sp>
        <p:nvSpPr>
          <p:cNvPr id="29" name="Text 27"/>
          <p:cNvSpPr/>
          <p:nvPr/>
        </p:nvSpPr>
        <p:spPr>
          <a:xfrm>
            <a:off x="8165531" y="4223386"/>
            <a:ext cx="2954589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الحالة الاجتماعية: أعزب / متزوج</a:t>
            </a:r>
            <a:endParaRPr lang="ar-EG" sz="1500" dirty="0"/>
          </a:p>
        </p:txBody>
      </p:sp>
      <p:sp>
        <p:nvSpPr>
          <p:cNvPr id="30" name="Text 28"/>
          <p:cNvSpPr/>
          <p:nvPr/>
        </p:nvSpPr>
        <p:spPr>
          <a:xfrm>
            <a:off x="8165531" y="4563111"/>
            <a:ext cx="2954589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• رقم الطالب: 101 / 102 / 103</a:t>
            </a:r>
            <a:endParaRPr lang="ar-EG" sz="1500" dirty="0"/>
          </a:p>
        </p:txBody>
      </p:sp>
      <p:sp>
        <p:nvSpPr>
          <p:cNvPr id="31" name="Text 29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86755" y="6238239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A2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68450" y="2263139"/>
            <a:ext cx="981075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انتبه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1568450" y="2730500"/>
            <a:ext cx="9810750" cy="695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5280"/>
              </a:lnSpc>
              <a:buNone/>
            </a:pPr>
            <a:r>
              <a:rPr lang="ar-EG" sz="48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ليس كل رقم متغيرًا كميًا</a:t>
            </a:r>
            <a:endParaRPr lang="ar-EG" sz="4800" dirty="0"/>
          </a:p>
        </p:txBody>
      </p:sp>
      <p:sp>
        <p:nvSpPr>
          <p:cNvPr id="4" name="Text 2"/>
          <p:cNvSpPr/>
          <p:nvPr/>
        </p:nvSpPr>
        <p:spPr>
          <a:xfrm>
            <a:off x="1568450" y="3655061"/>
            <a:ext cx="9810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900"/>
              </a:lnSpc>
              <a:buNone/>
            </a:pPr>
            <a:r>
              <a:rPr lang="ar-EG" sz="20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رقم الطالب 101 / 102 / 103 يُستخدم كمعرّف فقط ولا تُجرى عليه العمليات الحسابية؛ لذلك فهو متغير وصفي اسمي (Nominal).</a:t>
            </a:r>
            <a:endParaRPr lang="ar-EG" sz="2000" dirty="0"/>
          </a:p>
        </p:txBody>
      </p:sp>
      <p:sp>
        <p:nvSpPr>
          <p:cNvPr id="5" name="Text 3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086755" y="6238239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2641600"/>
            <a:ext cx="457200" cy="157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82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02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82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برنامج SPSS ونوافذه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82"/>
            <a:ext cx="91567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هو البرنامج، وأين نعرّف المتغيرات وندخل البيانات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39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07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86755" y="6238239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تعريف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1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هو برنامج SPSS؟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632206" y="2694307"/>
            <a:ext cx="6200394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50"/>
              </a:lnSpc>
              <a:buNone/>
            </a:pPr>
            <a:r>
              <a:rPr lang="ar-EG" sz="2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الحزمة الإحصائية للعلوم الاجتماعية</a:t>
            </a:r>
            <a:endParaRPr lang="ar-EG" sz="2200" dirty="0"/>
          </a:p>
        </p:txBody>
      </p:sp>
      <p:sp>
        <p:nvSpPr>
          <p:cNvPr id="5" name="Text 3"/>
          <p:cNvSpPr/>
          <p:nvPr/>
        </p:nvSpPr>
        <p:spPr>
          <a:xfrm>
            <a:off x="632206" y="3221357"/>
            <a:ext cx="6200394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0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برنامج حاسوبي متكامل يُستخدم لإدخال البيانات وإدارتها وتحليلها، وإجراء مجموعة واسعة من الأساليب الإحصائية.</a:t>
            </a:r>
            <a:endParaRPr lang="ar-EG" sz="1800" dirty="0"/>
          </a:p>
        </p:txBody>
      </p:sp>
      <p:sp>
        <p:nvSpPr>
          <p:cNvPr id="6" name="Shape 4"/>
          <p:cNvSpPr/>
          <p:nvPr/>
        </p:nvSpPr>
        <p:spPr>
          <a:xfrm>
            <a:off x="812800" y="4084954"/>
            <a:ext cx="2253377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" name="Text 5"/>
          <p:cNvSpPr/>
          <p:nvPr/>
        </p:nvSpPr>
        <p:spPr>
          <a:xfrm>
            <a:off x="893281" y="4135754"/>
            <a:ext cx="2033196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أساليب إحصائية متعددة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3167777" y="4084954"/>
            <a:ext cx="844391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9" name="Text 7"/>
          <p:cNvSpPr/>
          <p:nvPr/>
        </p:nvSpPr>
        <p:spPr>
          <a:xfrm>
            <a:off x="3256677" y="4135754"/>
            <a:ext cx="61579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تحليلها</a:t>
            </a:r>
            <a:endParaRPr lang="ar-EG" sz="1400" dirty="0"/>
          </a:p>
        </p:txBody>
      </p:sp>
      <p:sp>
        <p:nvSpPr>
          <p:cNvPr id="10" name="Shape 8"/>
          <p:cNvSpPr/>
          <p:nvPr/>
        </p:nvSpPr>
        <p:spPr>
          <a:xfrm>
            <a:off x="4113768" y="4084954"/>
            <a:ext cx="79128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1" name="Text 9"/>
          <p:cNvSpPr/>
          <p:nvPr/>
        </p:nvSpPr>
        <p:spPr>
          <a:xfrm>
            <a:off x="4202668" y="4135754"/>
            <a:ext cx="56268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إدارتها</a:t>
            </a:r>
            <a:endParaRPr lang="ar-EG" sz="1400" dirty="0"/>
          </a:p>
        </p:txBody>
      </p:sp>
      <p:sp>
        <p:nvSpPr>
          <p:cNvPr id="12" name="Shape 10"/>
          <p:cNvSpPr/>
          <p:nvPr/>
        </p:nvSpPr>
        <p:spPr>
          <a:xfrm>
            <a:off x="5006658" y="4084954"/>
            <a:ext cx="1413431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3" name="Text 11"/>
          <p:cNvSpPr/>
          <p:nvPr/>
        </p:nvSpPr>
        <p:spPr>
          <a:xfrm>
            <a:off x="5095558" y="4135754"/>
            <a:ext cx="118483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إدخال البيانات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7442200" y="1958339"/>
            <a:ext cx="558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128000" y="2212339"/>
            <a:ext cx="1332071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Statistical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442200" y="2694939"/>
            <a:ext cx="558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8128000" y="2948939"/>
            <a:ext cx="1153239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Package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42200" y="3431539"/>
            <a:ext cx="558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128000" y="3685539"/>
            <a:ext cx="826691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Social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442200" y="4168142"/>
            <a:ext cx="5588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8128000" y="4422142"/>
            <a:ext cx="1199039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Sciences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442200" y="4904742"/>
            <a:ext cx="40551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Statistical Package for the Social Sciences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نوافذ البرنامج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نافذتان رئيسيتان للعمل مع البيانات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517"/>
            <a:ext cx="5175250" cy="2646680"/>
          </a:xfrm>
          <a:prstGeom prst="roundRect">
            <a:avLst>
              <a:gd name="adj" fmla="val 371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47323" y="2217421"/>
            <a:ext cx="2387997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" name="Text 4"/>
          <p:cNvSpPr/>
          <p:nvPr/>
        </p:nvSpPr>
        <p:spPr>
          <a:xfrm>
            <a:off x="3410303" y="2268221"/>
            <a:ext cx="2198017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Viewer Window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31977" y="2677164"/>
            <a:ext cx="480334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50"/>
              </a:lnSpc>
              <a:buNone/>
            </a:pPr>
            <a:r>
              <a:rPr lang="ar-EG" sz="2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نافذة عرض المخرجات</a:t>
            </a:r>
            <a:endParaRPr lang="ar-EG" sz="2200" dirty="0"/>
          </a:p>
        </p:txBody>
      </p:sp>
      <p:sp>
        <p:nvSpPr>
          <p:cNvPr id="8" name="Text 6"/>
          <p:cNvSpPr/>
          <p:nvPr/>
        </p:nvSpPr>
        <p:spPr>
          <a:xfrm>
            <a:off x="931977" y="3153414"/>
            <a:ext cx="480334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تعرض نتائج تحليل البيانات: الجداول والرسوم التي ينتجها البرنامج.</a:t>
            </a:r>
            <a:endParaRPr lang="ar-EG" sz="1600" dirty="0"/>
          </a:p>
        </p:txBody>
      </p:sp>
      <p:sp>
        <p:nvSpPr>
          <p:cNvPr id="9" name="Shape 7"/>
          <p:cNvSpPr/>
          <p:nvPr/>
        </p:nvSpPr>
        <p:spPr>
          <a:xfrm>
            <a:off x="6200775" y="1961517"/>
            <a:ext cx="5175250" cy="2646680"/>
          </a:xfrm>
          <a:prstGeom prst="roundRect">
            <a:avLst>
              <a:gd name="adj" fmla="val 3719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45563" y="2217421"/>
            <a:ext cx="2174558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1" name="Text 9"/>
          <p:cNvSpPr/>
          <p:nvPr/>
        </p:nvSpPr>
        <p:spPr>
          <a:xfrm>
            <a:off x="9014946" y="2268221"/>
            <a:ext cx="197817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Editor Window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6777" y="2677164"/>
            <a:ext cx="4803343" cy="374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50"/>
              </a:lnSpc>
              <a:buNone/>
            </a:pPr>
            <a:r>
              <a:rPr lang="ar-EG" sz="22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نافذة محرر البيانات</a:t>
            </a:r>
            <a:endParaRPr lang="ar-EG" sz="2200" dirty="0"/>
          </a:p>
        </p:txBody>
      </p:sp>
      <p:sp>
        <p:nvSpPr>
          <p:cNvPr id="13" name="Text 11"/>
          <p:cNvSpPr/>
          <p:nvPr/>
        </p:nvSpPr>
        <p:spPr>
          <a:xfrm>
            <a:off x="6316777" y="3153414"/>
            <a:ext cx="480334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تعرض البيانات في صورتين:</a:t>
            </a:r>
            <a:endParaRPr lang="ar-EG" sz="1600" dirty="0"/>
          </a:p>
        </p:txBody>
      </p:sp>
      <p:sp>
        <p:nvSpPr>
          <p:cNvPr id="14" name="Shape 12"/>
          <p:cNvSpPr/>
          <p:nvPr/>
        </p:nvSpPr>
        <p:spPr>
          <a:xfrm>
            <a:off x="6456680" y="3585214"/>
            <a:ext cx="2973546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5" name="Text 13"/>
          <p:cNvSpPr/>
          <p:nvPr/>
        </p:nvSpPr>
        <p:spPr>
          <a:xfrm>
            <a:off x="6515556" y="3636014"/>
            <a:ext cx="277497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Variable View · عرض المتغيرات</a:t>
            </a:r>
            <a:endParaRPr lang="ar-EG" sz="1400" dirty="0"/>
          </a:p>
        </p:txBody>
      </p:sp>
      <p:sp>
        <p:nvSpPr>
          <p:cNvPr id="16" name="Shape 14"/>
          <p:cNvSpPr/>
          <p:nvPr/>
        </p:nvSpPr>
        <p:spPr>
          <a:xfrm>
            <a:off x="6456680" y="4019550"/>
            <a:ext cx="2474595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7" name="Text 15"/>
          <p:cNvSpPr/>
          <p:nvPr/>
        </p:nvSpPr>
        <p:spPr>
          <a:xfrm>
            <a:off x="6530524" y="4070350"/>
            <a:ext cx="226105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Data View · عرض البيانات</a:t>
            </a:r>
            <a:endParaRPr lang="ar-EG" sz="1400" dirty="0"/>
          </a:p>
        </p:txBody>
      </p:sp>
      <p:sp>
        <p:nvSpPr>
          <p:cNvPr id="18" name="Text 1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09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8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1642" y="812800"/>
            <a:ext cx="1417558" cy="28956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" name="Text 1"/>
          <p:cNvSpPr/>
          <p:nvPr/>
        </p:nvSpPr>
        <p:spPr>
          <a:xfrm>
            <a:off x="10025142" y="850900"/>
            <a:ext cx="123975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95808" y="12039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نافذة عرض المتغيرات</a:t>
            </a:r>
            <a:endParaRPr lang="ar-EG" sz="3600" dirty="0"/>
          </a:p>
        </p:txBody>
      </p:sp>
      <p:sp>
        <p:nvSpPr>
          <p:cNvPr id="5" name="Shape 3"/>
          <p:cNvSpPr/>
          <p:nvPr/>
        </p:nvSpPr>
        <p:spPr>
          <a:xfrm>
            <a:off x="815975" y="2037717"/>
            <a:ext cx="4072890" cy="922020"/>
          </a:xfrm>
          <a:prstGeom prst="roundRect">
            <a:avLst>
              <a:gd name="adj" fmla="val 1067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4276" y="2217421"/>
            <a:ext cx="382488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00"/>
              </a:lnSpc>
              <a:buNone/>
            </a:pPr>
            <a:r>
              <a:rPr lang="ar-EG" sz="1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كل صف = متغير</a:t>
            </a:r>
            <a:endParaRPr lang="ar-EG" sz="1600" dirty="0"/>
          </a:p>
        </p:txBody>
      </p:sp>
      <p:sp>
        <p:nvSpPr>
          <p:cNvPr id="7" name="Text 5"/>
          <p:cNvSpPr/>
          <p:nvPr/>
        </p:nvSpPr>
        <p:spPr>
          <a:xfrm>
            <a:off x="884276" y="2522221"/>
            <a:ext cx="3824884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كل صف تُدخل خصائص متغير واحد.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815975" y="3143889"/>
            <a:ext cx="4072890" cy="922020"/>
          </a:xfrm>
          <a:prstGeom prst="roundRect">
            <a:avLst>
              <a:gd name="adj" fmla="val 1067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4276" y="3323592"/>
            <a:ext cx="382488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00"/>
              </a:lnSpc>
              <a:buNone/>
            </a:pPr>
            <a:r>
              <a:rPr lang="ar-EG" sz="1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كل عمود = خاصية</a:t>
            </a:r>
            <a:endParaRPr lang="ar-EG" sz="1600" dirty="0"/>
          </a:p>
        </p:txBody>
      </p:sp>
      <p:sp>
        <p:nvSpPr>
          <p:cNvPr id="10" name="Text 8"/>
          <p:cNvSpPr/>
          <p:nvPr/>
        </p:nvSpPr>
        <p:spPr>
          <a:xfrm>
            <a:off x="884276" y="3628392"/>
            <a:ext cx="3824884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Name حتى Role، ونشرحها واحدة واحدة.</a:t>
            </a:r>
            <a:endParaRPr lang="ar-EG" sz="1400" dirty="0"/>
          </a:p>
        </p:txBody>
      </p:sp>
      <p:sp>
        <p:nvSpPr>
          <p:cNvPr id="11" name="Shape 9"/>
          <p:cNvSpPr/>
          <p:nvPr/>
        </p:nvSpPr>
        <p:spPr>
          <a:xfrm>
            <a:off x="815975" y="4250054"/>
            <a:ext cx="4072890" cy="922020"/>
          </a:xfrm>
          <a:prstGeom prst="roundRect">
            <a:avLst>
              <a:gd name="adj" fmla="val 1067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4276" y="4429764"/>
            <a:ext cx="382488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00"/>
              </a:lnSpc>
              <a:buNone/>
            </a:pPr>
            <a:r>
              <a:rPr lang="ar-EG" sz="1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الوصول إليها</a:t>
            </a:r>
            <a:endParaRPr lang="ar-EG" sz="1600" dirty="0"/>
          </a:p>
        </p:txBody>
      </p:sp>
      <p:sp>
        <p:nvSpPr>
          <p:cNvPr id="13" name="Text 11"/>
          <p:cNvSpPr/>
          <p:nvPr/>
        </p:nvSpPr>
        <p:spPr>
          <a:xfrm>
            <a:off x="884276" y="4734564"/>
            <a:ext cx="3824884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من تبويب Variable View أسفل النافذة.</a:t>
            </a:r>
            <a:endParaRPr lang="ar-EG" sz="1400" dirty="0"/>
          </a:p>
        </p:txBody>
      </p:sp>
      <p:sp>
        <p:nvSpPr>
          <p:cNvPr id="14" name="Shape 12"/>
          <p:cNvSpPr/>
          <p:nvPr/>
        </p:nvSpPr>
        <p:spPr>
          <a:xfrm>
            <a:off x="5200015" y="2037717"/>
            <a:ext cx="6176010" cy="3058160"/>
          </a:xfrm>
          <a:prstGeom prst="roundRect">
            <a:avLst>
              <a:gd name="adj" fmla="val 3218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5" name="Image 0" descr="نافذة Variable View في SPSS مع أسماء الخصائص"/>
          <p:cNvPicPr>
            <a:picLocks noChangeAspect="1"/>
          </p:cNvPicPr>
          <p:nvPr/>
        </p:nvPicPr>
        <p:blipFill>
          <a:blip r:embed="rId3"/>
          <a:srcRect t="-30" b="-30"/>
          <a:stretch/>
        </p:blipFill>
        <p:spPr>
          <a:xfrm>
            <a:off x="5303520" y="2141221"/>
            <a:ext cx="5969000" cy="285115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4761" y="812800"/>
            <a:ext cx="594439" cy="28956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" name="Text 1"/>
          <p:cNvSpPr/>
          <p:nvPr/>
        </p:nvSpPr>
        <p:spPr>
          <a:xfrm>
            <a:off x="10848261" y="850900"/>
            <a:ext cx="41663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95808" y="12039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اسم المتغير</a:t>
            </a:r>
            <a:endParaRPr lang="ar-EG" sz="3600" dirty="0"/>
          </a:p>
        </p:txBody>
      </p:sp>
      <p:sp>
        <p:nvSpPr>
          <p:cNvPr id="5" name="Text 3"/>
          <p:cNvSpPr/>
          <p:nvPr/>
        </p:nvSpPr>
        <p:spPr>
          <a:xfrm>
            <a:off x="495808" y="1983742"/>
            <a:ext cx="1088339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0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الاسم الذي يختاره المستخدم للمتغير، ويمكن كتابته بالعربية أو الإنجليزية.</a:t>
            </a:r>
            <a:endParaRPr lang="ar-EG" sz="1800" dirty="0"/>
          </a:p>
        </p:txBody>
      </p:sp>
      <p:sp>
        <p:nvSpPr>
          <p:cNvPr id="6" name="Shape 4"/>
          <p:cNvSpPr/>
          <p:nvPr/>
        </p:nvSpPr>
        <p:spPr>
          <a:xfrm>
            <a:off x="815975" y="2583817"/>
            <a:ext cx="4751308" cy="3016250"/>
          </a:xfrm>
          <a:prstGeom prst="roundRect">
            <a:avLst>
              <a:gd name="adj" fmla="val 3263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4695" y="2839721"/>
            <a:ext cx="43666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الاسم الافتراضي</a:t>
            </a:r>
            <a:endParaRPr lang="ar-EG" sz="2000" dirty="0"/>
          </a:p>
        </p:txBody>
      </p:sp>
      <p:sp>
        <p:nvSpPr>
          <p:cNvPr id="8" name="Text 6"/>
          <p:cNvSpPr/>
          <p:nvPr/>
        </p:nvSpPr>
        <p:spPr>
          <a:xfrm>
            <a:off x="944695" y="3284221"/>
            <a:ext cx="4366683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3360"/>
              </a:lnSpc>
              <a:buNone/>
            </a:pPr>
            <a:r>
              <a:rPr lang="en-US" sz="28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VAR00001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44695" y="3837942"/>
            <a:ext cx="436668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يُعطى تلقائيًا إذا لم يكتب المستخدم اسمًا، ثم VAR00002 للمتغير الثاني، وهكذا.</a:t>
            </a:r>
            <a:endParaRPr lang="ar-EG" sz="1500" dirty="0"/>
          </a:p>
        </p:txBody>
      </p:sp>
      <p:sp>
        <p:nvSpPr>
          <p:cNvPr id="10" name="Shape 8"/>
          <p:cNvSpPr/>
          <p:nvPr/>
        </p:nvSpPr>
        <p:spPr>
          <a:xfrm>
            <a:off x="5776833" y="2583817"/>
            <a:ext cx="5599192" cy="3016250"/>
          </a:xfrm>
          <a:prstGeom prst="roundRect">
            <a:avLst>
              <a:gd name="adj" fmla="val 3263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80117" y="2839721"/>
            <a:ext cx="52400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قواعد التسمية</a:t>
            </a:r>
            <a:endParaRPr lang="ar-EG" sz="2000" dirty="0"/>
          </a:p>
        </p:txBody>
      </p:sp>
      <p:sp>
        <p:nvSpPr>
          <p:cNvPr id="12" name="Text 10"/>
          <p:cNvSpPr/>
          <p:nvPr/>
        </p:nvSpPr>
        <p:spPr>
          <a:xfrm>
            <a:off x="5890785" y="3284221"/>
            <a:ext cx="4873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مسافات بين الأحرف</a:t>
            </a:r>
            <a:endParaRPr lang="ar-EG" sz="1600" dirty="0"/>
          </a:p>
        </p:txBody>
      </p:sp>
      <p:pic>
        <p:nvPicPr>
          <p:cNvPr id="13" name="Image 0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6120" y="3309621"/>
            <a:ext cx="254000" cy="2540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890785" y="3716021"/>
            <a:ext cx="4873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يبدأ برقم</a:t>
            </a:r>
            <a:endParaRPr lang="ar-EG" sz="1600" dirty="0"/>
          </a:p>
        </p:txBody>
      </p:sp>
      <p:pic>
        <p:nvPicPr>
          <p:cNvPr id="15" name="Image 1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6120" y="3741421"/>
            <a:ext cx="254000" cy="254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890785" y="4147821"/>
            <a:ext cx="4873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ينتهي بنقطة</a:t>
            </a:r>
            <a:endParaRPr lang="ar-EG" sz="1600" dirty="0"/>
          </a:p>
        </p:txBody>
      </p:sp>
      <p:pic>
        <p:nvPicPr>
          <p:cNvPr id="17" name="Image 2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6120" y="4173221"/>
            <a:ext cx="254000" cy="2540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90785" y="4579621"/>
            <a:ext cx="4873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 رموز خاصة مثل:</a:t>
            </a:r>
            <a:endParaRPr lang="ar-EG" sz="1600" dirty="0"/>
          </a:p>
        </p:txBody>
      </p:sp>
      <p:pic>
        <p:nvPicPr>
          <p:cNvPr id="19" name="Image 3" descr="War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866120" y="4605021"/>
            <a:ext cx="254000" cy="2540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032738" y="5011421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1" name="Text 15"/>
          <p:cNvSpPr/>
          <p:nvPr/>
        </p:nvSpPr>
        <p:spPr>
          <a:xfrm>
            <a:off x="6108938" y="5062221"/>
            <a:ext cx="1575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6495098" y="5011421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3" name="Text 17"/>
          <p:cNvSpPr/>
          <p:nvPr/>
        </p:nvSpPr>
        <p:spPr>
          <a:xfrm>
            <a:off x="6571298" y="5062221"/>
            <a:ext cx="1575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957457" y="5011421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5" name="Text 19"/>
          <p:cNvSpPr/>
          <p:nvPr/>
        </p:nvSpPr>
        <p:spPr>
          <a:xfrm>
            <a:off x="7033657" y="5062221"/>
            <a:ext cx="1575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7419816" y="5011421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7" name="Text 21"/>
          <p:cNvSpPr/>
          <p:nvPr/>
        </p:nvSpPr>
        <p:spPr>
          <a:xfrm>
            <a:off x="7496016" y="5062221"/>
            <a:ext cx="1575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7882175" y="5011421"/>
            <a:ext cx="3607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9" name="Text 23"/>
          <p:cNvSpPr/>
          <p:nvPr/>
        </p:nvSpPr>
        <p:spPr>
          <a:xfrm>
            <a:off x="7958375" y="5062221"/>
            <a:ext cx="1575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E8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4761" y="812800"/>
            <a:ext cx="594439" cy="28956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" name="Text 1"/>
          <p:cNvSpPr/>
          <p:nvPr/>
        </p:nvSpPr>
        <p:spPr>
          <a:xfrm>
            <a:off x="10848261" y="850900"/>
            <a:ext cx="41663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95808" y="12039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نوع المتغير</a:t>
            </a:r>
            <a:endParaRPr lang="ar-EG" sz="3600" dirty="0"/>
          </a:p>
        </p:txBody>
      </p:sp>
      <p:sp>
        <p:nvSpPr>
          <p:cNvPr id="5" name="Text 3"/>
          <p:cNvSpPr/>
          <p:nvPr/>
        </p:nvSpPr>
        <p:spPr>
          <a:xfrm>
            <a:off x="694233" y="2034542"/>
            <a:ext cx="407080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انقر النقاط الثلاث في خانة Type فيظهر مربع الحوار Variable Type.</a:t>
            </a:r>
            <a:endParaRPr lang="ar-EG" sz="1600" dirty="0"/>
          </a:p>
        </p:txBody>
      </p:sp>
      <p:sp>
        <p:nvSpPr>
          <p:cNvPr id="6" name="Text 4"/>
          <p:cNvSpPr/>
          <p:nvPr/>
        </p:nvSpPr>
        <p:spPr>
          <a:xfrm>
            <a:off x="694233" y="2821942"/>
            <a:ext cx="4070807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يعرض عدة أنواع، ونركّز على نوعين رئيسيين:</a:t>
            </a:r>
            <a:endParaRPr lang="ar-EG" sz="1500" dirty="0"/>
          </a:p>
        </p:txBody>
      </p:sp>
      <p:sp>
        <p:nvSpPr>
          <p:cNvPr id="7" name="Shape 5"/>
          <p:cNvSpPr/>
          <p:nvPr/>
        </p:nvSpPr>
        <p:spPr>
          <a:xfrm>
            <a:off x="815975" y="3279142"/>
            <a:ext cx="3945890" cy="1044575"/>
          </a:xfrm>
          <a:prstGeom prst="roundRect">
            <a:avLst>
              <a:gd name="adj" fmla="val 942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81241" y="3458846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9" name="Text 7"/>
          <p:cNvSpPr/>
          <p:nvPr/>
        </p:nvSpPr>
        <p:spPr>
          <a:xfrm>
            <a:off x="3657441" y="3509646"/>
            <a:ext cx="79771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Numeric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086" y="3867789"/>
            <a:ext cx="369407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إذا كان المتغير رقميًا — وهو النوع الافتراضي.</a:t>
            </a:r>
            <a:endParaRPr lang="ar-EG" sz="1500" dirty="0"/>
          </a:p>
        </p:txBody>
      </p:sp>
      <p:sp>
        <p:nvSpPr>
          <p:cNvPr id="11" name="Shape 9"/>
          <p:cNvSpPr/>
          <p:nvPr/>
        </p:nvSpPr>
        <p:spPr>
          <a:xfrm>
            <a:off x="815975" y="4507867"/>
            <a:ext cx="3945890" cy="1044575"/>
          </a:xfrm>
          <a:prstGeom prst="roundRect">
            <a:avLst>
              <a:gd name="adj" fmla="val 942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87921" y="4687571"/>
            <a:ext cx="89423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3" name="Text 11"/>
          <p:cNvSpPr/>
          <p:nvPr/>
        </p:nvSpPr>
        <p:spPr>
          <a:xfrm>
            <a:off x="3764121" y="4738371"/>
            <a:ext cx="69103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8086" y="5096514"/>
            <a:ext cx="369407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إذا كان المتغير نصيًا.</a:t>
            </a:r>
            <a:endParaRPr lang="ar-EG" sz="1500" dirty="0"/>
          </a:p>
        </p:txBody>
      </p:sp>
      <p:sp>
        <p:nvSpPr>
          <p:cNvPr id="15" name="Shape 13"/>
          <p:cNvSpPr/>
          <p:nvPr/>
        </p:nvSpPr>
        <p:spPr>
          <a:xfrm>
            <a:off x="5073015" y="2037717"/>
            <a:ext cx="6303010" cy="3610610"/>
          </a:xfrm>
          <a:prstGeom prst="roundRect">
            <a:avLst>
              <a:gd name="adj" fmla="val 2726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6" name="Image 0" descr="مربع الحوار Variable Type في SPSS"/>
          <p:cNvPicPr>
            <a:picLocks noChangeAspect="1"/>
          </p:cNvPicPr>
          <p:nvPr/>
        </p:nvPicPr>
        <p:blipFill>
          <a:blip r:embed="rId3"/>
          <a:srcRect t="-19" b="-19"/>
          <a:stretch/>
        </p:blipFill>
        <p:spPr>
          <a:xfrm>
            <a:off x="5176520" y="2141221"/>
            <a:ext cx="6096000" cy="34036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خصائص المتغيرات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العرض والمنازل العشرية والوصف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517"/>
            <a:ext cx="3380264" cy="3056890"/>
          </a:xfrm>
          <a:prstGeom prst="roundRect">
            <a:avLst>
              <a:gd name="adj" fmla="val 322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152775" y="2217421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" name="Text 4"/>
          <p:cNvSpPr/>
          <p:nvPr/>
        </p:nvSpPr>
        <p:spPr>
          <a:xfrm>
            <a:off x="3228975" y="2268221"/>
            <a:ext cx="5843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5826" y="2664464"/>
            <a:ext cx="29545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 المتغير</a:t>
            </a:r>
            <a:endParaRPr lang="ar-EG" sz="2000" dirty="0"/>
          </a:p>
        </p:txBody>
      </p:sp>
      <p:sp>
        <p:nvSpPr>
          <p:cNvPr id="8" name="Text 6"/>
          <p:cNvSpPr/>
          <p:nvPr/>
        </p:nvSpPr>
        <p:spPr>
          <a:xfrm>
            <a:off x="985826" y="3096264"/>
            <a:ext cx="2954507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 يوضح ما يمثله المتغير؛ يُكتب بالعربية وبمسافات ورموز بلا قيود، ويظهر بدل اسم المتغير في نتائج التحليل.</a:t>
            </a:r>
            <a:endParaRPr lang="ar-EG" sz="1500" dirty="0"/>
          </a:p>
        </p:txBody>
      </p:sp>
      <p:sp>
        <p:nvSpPr>
          <p:cNvPr id="9" name="Shape 7"/>
          <p:cNvSpPr/>
          <p:nvPr/>
        </p:nvSpPr>
        <p:spPr>
          <a:xfrm>
            <a:off x="1071880" y="4429764"/>
            <a:ext cx="2868454" cy="332740"/>
          </a:xfrm>
          <a:prstGeom prst="roundRect">
            <a:avLst>
              <a:gd name="adj" fmla="val 50000"/>
            </a:avLst>
          </a:prstGeom>
          <a:solidFill>
            <a:srgbClr val="ECE8DE"/>
          </a:solidFill>
          <a:ln/>
        </p:spPr>
      </p:sp>
      <p:sp>
        <p:nvSpPr>
          <p:cNvPr id="10" name="Text 8"/>
          <p:cNvSpPr/>
          <p:nvPr/>
        </p:nvSpPr>
        <p:spPr>
          <a:xfrm>
            <a:off x="1133908" y="4480564"/>
            <a:ext cx="2666725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الافتراضي: فارغ</a:t>
            </a:r>
            <a:endParaRPr lang="ar-EG" sz="1400" dirty="0"/>
          </a:p>
        </p:txBody>
      </p:sp>
      <p:sp>
        <p:nvSpPr>
          <p:cNvPr id="11" name="Shape 9"/>
          <p:cNvSpPr/>
          <p:nvPr/>
        </p:nvSpPr>
        <p:spPr>
          <a:xfrm>
            <a:off x="4405789" y="1961517"/>
            <a:ext cx="3380343" cy="3056890"/>
          </a:xfrm>
          <a:prstGeom prst="roundRect">
            <a:avLst>
              <a:gd name="adj" fmla="val 322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2628" y="2217421"/>
            <a:ext cx="110759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3" name="Text 11"/>
          <p:cNvSpPr/>
          <p:nvPr/>
        </p:nvSpPr>
        <p:spPr>
          <a:xfrm>
            <a:off x="6498828" y="2268221"/>
            <a:ext cx="90439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5638" y="2664464"/>
            <a:ext cx="29545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المنازل العشرية</a:t>
            </a:r>
            <a:endParaRPr lang="ar-EG" sz="2000" dirty="0"/>
          </a:p>
        </p:txBody>
      </p:sp>
      <p:sp>
        <p:nvSpPr>
          <p:cNvPr id="15" name="Text 13"/>
          <p:cNvSpPr/>
          <p:nvPr/>
        </p:nvSpPr>
        <p:spPr>
          <a:xfrm>
            <a:off x="4575638" y="3096264"/>
            <a:ext cx="2954589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عدد الخانات العشرية المرغوبة للأعداد، وتكون عادةً صفرًا للأعداد الصحيحة.</a:t>
            </a:r>
            <a:endParaRPr lang="ar-EG" sz="1500" dirty="0"/>
          </a:p>
        </p:txBody>
      </p:sp>
      <p:sp>
        <p:nvSpPr>
          <p:cNvPr id="16" name="Shape 14"/>
          <p:cNvSpPr/>
          <p:nvPr/>
        </p:nvSpPr>
        <p:spPr>
          <a:xfrm>
            <a:off x="4661694" y="4429764"/>
            <a:ext cx="2868533" cy="332740"/>
          </a:xfrm>
          <a:prstGeom prst="roundRect">
            <a:avLst>
              <a:gd name="adj" fmla="val 50000"/>
            </a:avLst>
          </a:prstGeom>
          <a:solidFill>
            <a:srgbClr val="ECE8DE"/>
          </a:solidFill>
          <a:ln/>
        </p:spPr>
      </p:sp>
      <p:sp>
        <p:nvSpPr>
          <p:cNvPr id="17" name="Text 15"/>
          <p:cNvSpPr/>
          <p:nvPr/>
        </p:nvSpPr>
        <p:spPr>
          <a:xfrm>
            <a:off x="4723720" y="4480564"/>
            <a:ext cx="2666807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الافتراضي: 2</a:t>
            </a:r>
            <a:endParaRPr lang="ar-EG" sz="1400" dirty="0"/>
          </a:p>
        </p:txBody>
      </p:sp>
      <p:sp>
        <p:nvSpPr>
          <p:cNvPr id="18" name="Shape 16"/>
          <p:cNvSpPr/>
          <p:nvPr/>
        </p:nvSpPr>
        <p:spPr>
          <a:xfrm>
            <a:off x="7995682" y="1961517"/>
            <a:ext cx="3380343" cy="3056890"/>
          </a:xfrm>
          <a:prstGeom prst="roundRect">
            <a:avLst>
              <a:gd name="adj" fmla="val 322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562" y="2217421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0" name="Text 18"/>
          <p:cNvSpPr/>
          <p:nvPr/>
        </p:nvSpPr>
        <p:spPr>
          <a:xfrm>
            <a:off x="10408762" y="2268221"/>
            <a:ext cx="5843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Width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65531" y="2664464"/>
            <a:ext cx="29545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عرض المتغير</a:t>
            </a:r>
            <a:endParaRPr lang="ar-EG" sz="2000" dirty="0"/>
          </a:p>
        </p:txBody>
      </p:sp>
      <p:sp>
        <p:nvSpPr>
          <p:cNvPr id="22" name="Text 20"/>
          <p:cNvSpPr/>
          <p:nvPr/>
        </p:nvSpPr>
        <p:spPr>
          <a:xfrm>
            <a:off x="8165531" y="3096264"/>
            <a:ext cx="295458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يحدد عدد الأحرف التي يسمح برنامج SPSS بإدخالها للمتغير.</a:t>
            </a:r>
            <a:endParaRPr lang="ar-EG" sz="1500" dirty="0"/>
          </a:p>
        </p:txBody>
      </p:sp>
      <p:sp>
        <p:nvSpPr>
          <p:cNvPr id="23" name="Text 21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E8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01802" y="812800"/>
            <a:ext cx="777399" cy="28956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" name="Text 1"/>
          <p:cNvSpPr/>
          <p:nvPr/>
        </p:nvSpPr>
        <p:spPr>
          <a:xfrm>
            <a:off x="10665302" y="850900"/>
            <a:ext cx="59959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95808" y="12039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تسميات القيم</a:t>
            </a:r>
            <a:endParaRPr lang="ar-EG" sz="3600" dirty="0"/>
          </a:p>
        </p:txBody>
      </p:sp>
      <p:sp>
        <p:nvSpPr>
          <p:cNvPr id="5" name="Text 3"/>
          <p:cNvSpPr/>
          <p:nvPr/>
        </p:nvSpPr>
        <p:spPr>
          <a:xfrm>
            <a:off x="690423" y="2034542"/>
            <a:ext cx="420161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توضّح الأرقام التي تمثل كل فئة عندما يكون المتغير فئويًا.</a:t>
            </a:r>
            <a:endParaRPr lang="ar-EG" sz="1600" dirty="0"/>
          </a:p>
        </p:txBody>
      </p:sp>
      <p:sp>
        <p:nvSpPr>
          <p:cNvPr id="6" name="Text 4"/>
          <p:cNvSpPr/>
          <p:nvPr/>
        </p:nvSpPr>
        <p:spPr>
          <a:xfrm>
            <a:off x="703377" y="2821942"/>
            <a:ext cx="375686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انقر النقاط الثلاث في خانة Values ليظهر مربع Value Labels.</a:t>
            </a:r>
            <a:endParaRPr lang="ar-EG" sz="1500" dirty="0"/>
          </a:p>
        </p:txBody>
      </p:sp>
      <p:sp>
        <p:nvSpPr>
          <p:cNvPr id="7" name="Shape 5"/>
          <p:cNvSpPr/>
          <p:nvPr/>
        </p:nvSpPr>
        <p:spPr>
          <a:xfrm>
            <a:off x="4587240" y="2821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8" name="Text 6"/>
          <p:cNvSpPr/>
          <p:nvPr/>
        </p:nvSpPr>
        <p:spPr>
          <a:xfrm>
            <a:off x="4665663" y="2898142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3377" y="3501392"/>
            <a:ext cx="3756863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خانة Value اكتب الرقم، وفي خانة Label اكتب اسم الفئة.</a:t>
            </a:r>
            <a:endParaRPr lang="ar-EG" sz="1500" dirty="0"/>
          </a:p>
        </p:txBody>
      </p:sp>
      <p:sp>
        <p:nvSpPr>
          <p:cNvPr id="10" name="Shape 8"/>
          <p:cNvSpPr/>
          <p:nvPr/>
        </p:nvSpPr>
        <p:spPr>
          <a:xfrm>
            <a:off x="4587240" y="350139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1" name="Text 9"/>
          <p:cNvSpPr/>
          <p:nvPr/>
        </p:nvSpPr>
        <p:spPr>
          <a:xfrm>
            <a:off x="4665663" y="3577592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3377" y="4180842"/>
            <a:ext cx="3756863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اضغط Add، ثم OK بعد إضافة كل القيم.</a:t>
            </a:r>
            <a:endParaRPr lang="ar-EG" sz="1500" dirty="0"/>
          </a:p>
        </p:txBody>
      </p:sp>
      <p:sp>
        <p:nvSpPr>
          <p:cNvPr id="13" name="Shape 11"/>
          <p:cNvSpPr/>
          <p:nvPr/>
        </p:nvSpPr>
        <p:spPr>
          <a:xfrm>
            <a:off x="4587240" y="41808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4" name="Text 12"/>
          <p:cNvSpPr/>
          <p:nvPr/>
        </p:nvSpPr>
        <p:spPr>
          <a:xfrm>
            <a:off x="4665663" y="4257042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800" y="4663442"/>
            <a:ext cx="4079240" cy="332740"/>
          </a:xfrm>
          <a:prstGeom prst="roundRect">
            <a:avLst>
              <a:gd name="adj" fmla="val 50000"/>
            </a:avLst>
          </a:prstGeom>
          <a:solidFill>
            <a:srgbClr val="F6F4EF"/>
          </a:solidFill>
          <a:ln/>
        </p:spPr>
      </p:sp>
      <p:sp>
        <p:nvSpPr>
          <p:cNvPr id="16" name="Text 14"/>
          <p:cNvSpPr/>
          <p:nvPr/>
        </p:nvSpPr>
        <p:spPr>
          <a:xfrm>
            <a:off x="838505" y="4714242"/>
            <a:ext cx="3913835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مثال: 1 = ذكر · 2 = أنثى</a:t>
            </a:r>
            <a:endParaRPr lang="ar-EG" sz="1400" dirty="0"/>
          </a:p>
        </p:txBody>
      </p:sp>
      <p:sp>
        <p:nvSpPr>
          <p:cNvPr id="17" name="Shape 15"/>
          <p:cNvSpPr/>
          <p:nvPr/>
        </p:nvSpPr>
        <p:spPr>
          <a:xfrm>
            <a:off x="5200015" y="2037717"/>
            <a:ext cx="6176010" cy="3642360"/>
          </a:xfrm>
          <a:prstGeom prst="roundRect">
            <a:avLst>
              <a:gd name="adj" fmla="val 270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8" name="Image 0" descr="مربع الحوار Value Labels في SPSS"/>
          <p:cNvPicPr>
            <a:picLocks noChangeAspect="1"/>
          </p:cNvPicPr>
          <p:nvPr/>
        </p:nvPicPr>
        <p:blipFill>
          <a:blip r:embed="rId3"/>
          <a:srcRect t="-51" b="-51"/>
          <a:stretch/>
        </p:blipFill>
        <p:spPr>
          <a:xfrm>
            <a:off x="5303520" y="2141221"/>
            <a:ext cx="5969000" cy="343535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510362" y="812800"/>
            <a:ext cx="868839" cy="28956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" name="Text 1"/>
          <p:cNvSpPr/>
          <p:nvPr/>
        </p:nvSpPr>
        <p:spPr>
          <a:xfrm>
            <a:off x="10573862" y="850900"/>
            <a:ext cx="69103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Missing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95808" y="12039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القيم المفقودة</a:t>
            </a:r>
            <a:endParaRPr lang="ar-EG" sz="3600" dirty="0"/>
          </a:p>
        </p:txBody>
      </p:sp>
      <p:sp>
        <p:nvSpPr>
          <p:cNvPr id="5" name="Text 3"/>
          <p:cNvSpPr/>
          <p:nvPr/>
        </p:nvSpPr>
        <p:spPr>
          <a:xfrm>
            <a:off x="495808" y="1983742"/>
            <a:ext cx="10883392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700"/>
              </a:lnSpc>
              <a:buNone/>
            </a:pPr>
            <a:r>
              <a:rPr lang="ar-EG" sz="18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تُستخدم لتعريف القيم المفقودة كما يرغب المستخدم، والتمييز بين أسبابها — كما في الاستبيانات:</a:t>
            </a:r>
            <a:endParaRPr lang="ar-EG" sz="1800" dirty="0"/>
          </a:p>
        </p:txBody>
      </p:sp>
      <p:sp>
        <p:nvSpPr>
          <p:cNvPr id="6" name="Shape 4"/>
          <p:cNvSpPr/>
          <p:nvPr/>
        </p:nvSpPr>
        <p:spPr>
          <a:xfrm>
            <a:off x="815975" y="2583817"/>
            <a:ext cx="5175250" cy="1261110"/>
          </a:xfrm>
          <a:prstGeom prst="roundRect">
            <a:avLst>
              <a:gd name="adj" fmla="val 780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1977" y="2839721"/>
            <a:ext cx="48033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عدم الاستجابة</a:t>
            </a:r>
            <a:endParaRPr lang="ar-EG" sz="2000" dirty="0"/>
          </a:p>
        </p:txBody>
      </p:sp>
      <p:sp>
        <p:nvSpPr>
          <p:cNvPr id="8" name="Text 6"/>
          <p:cNvSpPr/>
          <p:nvPr/>
        </p:nvSpPr>
        <p:spPr>
          <a:xfrm>
            <a:off x="931977" y="3284221"/>
            <a:ext cx="480334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المستجيب لا يرغب في الإجابة عن سؤال معيّن.</a:t>
            </a:r>
            <a:endParaRPr lang="ar-EG" sz="1600" dirty="0"/>
          </a:p>
        </p:txBody>
      </p:sp>
      <p:sp>
        <p:nvSpPr>
          <p:cNvPr id="9" name="Shape 7"/>
          <p:cNvSpPr/>
          <p:nvPr/>
        </p:nvSpPr>
        <p:spPr>
          <a:xfrm>
            <a:off x="6200775" y="2583817"/>
            <a:ext cx="5175250" cy="1261110"/>
          </a:xfrm>
          <a:prstGeom prst="roundRect">
            <a:avLst>
              <a:gd name="adj" fmla="val 7805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6777" y="2839721"/>
            <a:ext cx="48033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مفقودة فعليًا</a:t>
            </a:r>
            <a:endParaRPr lang="ar-EG" sz="2000" dirty="0"/>
          </a:p>
        </p:txBody>
      </p:sp>
      <p:sp>
        <p:nvSpPr>
          <p:cNvPr id="11" name="Text 9"/>
          <p:cNvSpPr/>
          <p:nvPr/>
        </p:nvSpPr>
        <p:spPr>
          <a:xfrm>
            <a:off x="6316777" y="3284221"/>
            <a:ext cx="4803343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مثل فقد بعض استمارات الاستبيان.</a:t>
            </a:r>
            <a:endParaRPr lang="ar-EG" sz="1600" dirty="0"/>
          </a:p>
        </p:txBody>
      </p:sp>
      <p:sp>
        <p:nvSpPr>
          <p:cNvPr id="12" name="Shape 10"/>
          <p:cNvSpPr/>
          <p:nvPr/>
        </p:nvSpPr>
        <p:spPr>
          <a:xfrm>
            <a:off x="812800" y="4102100"/>
            <a:ext cx="10566400" cy="332740"/>
          </a:xfrm>
          <a:prstGeom prst="roundRect">
            <a:avLst>
              <a:gd name="adj" fmla="val 50000"/>
            </a:avLst>
          </a:prstGeom>
          <a:solidFill>
            <a:srgbClr val="EC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643890" y="4152900"/>
            <a:ext cx="10595610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إذا لم توجد قيم مفقودة تظهر الخانة: None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خصائص المتغيرات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64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عرض العمود والمحاذاة والمقياس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1961517"/>
            <a:ext cx="3380264" cy="3258820"/>
          </a:xfrm>
          <a:prstGeom prst="roundRect">
            <a:avLst>
              <a:gd name="adj" fmla="val 302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39415" y="2217427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" name="Text 4"/>
          <p:cNvSpPr/>
          <p:nvPr/>
        </p:nvSpPr>
        <p:spPr>
          <a:xfrm>
            <a:off x="3015615" y="2268227"/>
            <a:ext cx="79771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5826" y="2664458"/>
            <a:ext cx="29545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مقياس المتغير</a:t>
            </a:r>
            <a:endParaRPr lang="ar-EG" sz="2000" dirty="0"/>
          </a:p>
        </p:txBody>
      </p:sp>
      <p:sp>
        <p:nvSpPr>
          <p:cNvPr id="8" name="Shape 6"/>
          <p:cNvSpPr/>
          <p:nvPr/>
        </p:nvSpPr>
        <p:spPr>
          <a:xfrm>
            <a:off x="1071880" y="3096258"/>
            <a:ext cx="1762443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9" name="Text 7"/>
          <p:cNvSpPr/>
          <p:nvPr/>
        </p:nvSpPr>
        <p:spPr>
          <a:xfrm>
            <a:off x="1160780" y="3147058"/>
            <a:ext cx="15338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Nominal · اسمي</a:t>
            </a:r>
            <a:endParaRPr lang="ar-EG" sz="1400" dirty="0"/>
          </a:p>
        </p:txBody>
      </p:sp>
      <p:sp>
        <p:nvSpPr>
          <p:cNvPr id="10" name="Shape 8"/>
          <p:cNvSpPr/>
          <p:nvPr/>
        </p:nvSpPr>
        <p:spPr>
          <a:xfrm>
            <a:off x="1071880" y="3530600"/>
            <a:ext cx="1516856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1" name="Text 9"/>
          <p:cNvSpPr/>
          <p:nvPr/>
        </p:nvSpPr>
        <p:spPr>
          <a:xfrm>
            <a:off x="1160780" y="3581400"/>
            <a:ext cx="1288256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Ordinal · رتبي</a:t>
            </a:r>
            <a:endParaRPr lang="ar-EG" sz="1400" dirty="0"/>
          </a:p>
        </p:txBody>
      </p:sp>
      <p:sp>
        <p:nvSpPr>
          <p:cNvPr id="12" name="Shape 10"/>
          <p:cNvSpPr/>
          <p:nvPr/>
        </p:nvSpPr>
        <p:spPr>
          <a:xfrm>
            <a:off x="1071880" y="3964942"/>
            <a:ext cx="133992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3" name="Text 11"/>
          <p:cNvSpPr/>
          <p:nvPr/>
        </p:nvSpPr>
        <p:spPr>
          <a:xfrm>
            <a:off x="1160780" y="4015742"/>
            <a:ext cx="111132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Scale · كمي</a:t>
            </a:r>
            <a:endParaRPr lang="ar-EG" sz="1400" dirty="0"/>
          </a:p>
        </p:txBody>
      </p:sp>
      <p:sp>
        <p:nvSpPr>
          <p:cNvPr id="14" name="Text 12"/>
          <p:cNvSpPr/>
          <p:nvPr/>
        </p:nvSpPr>
        <p:spPr>
          <a:xfrm>
            <a:off x="985826" y="4411985"/>
            <a:ext cx="2954507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إذا لم يحدده المستخدم يظهر Unknown.</a:t>
            </a:r>
            <a:endParaRPr lang="ar-EG" sz="1500" dirty="0"/>
          </a:p>
        </p:txBody>
      </p:sp>
      <p:sp>
        <p:nvSpPr>
          <p:cNvPr id="15" name="Shape 13"/>
          <p:cNvSpPr/>
          <p:nvPr/>
        </p:nvSpPr>
        <p:spPr>
          <a:xfrm>
            <a:off x="4405789" y="1961517"/>
            <a:ext cx="3380343" cy="3258820"/>
          </a:xfrm>
          <a:prstGeom prst="roundRect">
            <a:avLst>
              <a:gd name="adj" fmla="val 302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42668" y="2217427"/>
            <a:ext cx="78755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7" name="Text 15"/>
          <p:cNvSpPr/>
          <p:nvPr/>
        </p:nvSpPr>
        <p:spPr>
          <a:xfrm>
            <a:off x="6818868" y="2268227"/>
            <a:ext cx="58435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Align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5638" y="2664458"/>
            <a:ext cx="29545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محاذاة القيم</a:t>
            </a:r>
            <a:endParaRPr lang="ar-EG" sz="2000" dirty="0"/>
          </a:p>
        </p:txBody>
      </p:sp>
      <p:sp>
        <p:nvSpPr>
          <p:cNvPr id="19" name="Text 17"/>
          <p:cNvSpPr/>
          <p:nvPr/>
        </p:nvSpPr>
        <p:spPr>
          <a:xfrm>
            <a:off x="4575638" y="3096258"/>
            <a:ext cx="2954589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محاذاة قيم المتغير داخل العمود: Right أو Left أو Center.</a:t>
            </a:r>
            <a:endParaRPr lang="ar-EG" sz="1500" dirty="0"/>
          </a:p>
        </p:txBody>
      </p:sp>
      <p:sp>
        <p:nvSpPr>
          <p:cNvPr id="20" name="Shape 18"/>
          <p:cNvSpPr/>
          <p:nvPr/>
        </p:nvSpPr>
        <p:spPr>
          <a:xfrm>
            <a:off x="4661694" y="4631692"/>
            <a:ext cx="2868533" cy="332740"/>
          </a:xfrm>
          <a:prstGeom prst="roundRect">
            <a:avLst>
              <a:gd name="adj" fmla="val 50000"/>
            </a:avLst>
          </a:prstGeom>
          <a:solidFill>
            <a:srgbClr val="EC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4723720" y="4682492"/>
            <a:ext cx="2666807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الافتراضي: Right</a:t>
            </a:r>
            <a:endParaRPr lang="ar-EG" sz="1400" dirty="0"/>
          </a:p>
        </p:txBody>
      </p:sp>
      <p:sp>
        <p:nvSpPr>
          <p:cNvPr id="22" name="Shape 20"/>
          <p:cNvSpPr/>
          <p:nvPr/>
        </p:nvSpPr>
        <p:spPr>
          <a:xfrm>
            <a:off x="7995682" y="1961517"/>
            <a:ext cx="3380343" cy="3258820"/>
          </a:xfrm>
          <a:prstGeom prst="roundRect">
            <a:avLst>
              <a:gd name="adj" fmla="val 302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119202" y="2217427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4" name="Text 22"/>
          <p:cNvSpPr/>
          <p:nvPr/>
        </p:nvSpPr>
        <p:spPr>
          <a:xfrm>
            <a:off x="10195402" y="2268227"/>
            <a:ext cx="79771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65531" y="2664458"/>
            <a:ext cx="295458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عرض العمود</a:t>
            </a:r>
            <a:endParaRPr lang="ar-EG" sz="2000" dirty="0"/>
          </a:p>
        </p:txBody>
      </p:sp>
      <p:sp>
        <p:nvSpPr>
          <p:cNvPr id="26" name="Text 24"/>
          <p:cNvSpPr/>
          <p:nvPr/>
        </p:nvSpPr>
        <p:spPr>
          <a:xfrm>
            <a:off x="8165531" y="3096258"/>
            <a:ext cx="2954589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المساحة التي تشغلها قيم المتغير داخل العمود؛ خيار شكلي لا يغيّر القيم.</a:t>
            </a:r>
            <a:endParaRPr lang="ar-EG" sz="1500" dirty="0"/>
          </a:p>
        </p:txBody>
      </p:sp>
      <p:sp>
        <p:nvSpPr>
          <p:cNvPr id="27" name="Shape 25"/>
          <p:cNvSpPr/>
          <p:nvPr/>
        </p:nvSpPr>
        <p:spPr>
          <a:xfrm>
            <a:off x="8251587" y="4631692"/>
            <a:ext cx="2868533" cy="332740"/>
          </a:xfrm>
          <a:prstGeom prst="roundRect">
            <a:avLst>
              <a:gd name="adj" fmla="val 50000"/>
            </a:avLst>
          </a:prstGeom>
          <a:solidFill>
            <a:srgbClr val="ECE8DE"/>
          </a:solidFill>
          <a:ln/>
        </p:spPr>
      </p:sp>
      <p:sp>
        <p:nvSpPr>
          <p:cNvPr id="28" name="Text 26"/>
          <p:cNvSpPr/>
          <p:nvPr/>
        </p:nvSpPr>
        <p:spPr>
          <a:xfrm>
            <a:off x="8313613" y="4682492"/>
            <a:ext cx="2666807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الافتراضي: 8</a:t>
            </a:r>
            <a:endParaRPr lang="ar-EG" sz="1400" dirty="0"/>
          </a:p>
        </p:txBody>
      </p:sp>
      <p:sp>
        <p:nvSpPr>
          <p:cNvPr id="29" name="Text 27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CE8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27481" y="812800"/>
            <a:ext cx="1051719" cy="28956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" name="Text 1"/>
          <p:cNvSpPr/>
          <p:nvPr/>
        </p:nvSpPr>
        <p:spPr>
          <a:xfrm>
            <a:off x="10390981" y="850900"/>
            <a:ext cx="87391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View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95808" y="12039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نافذة عرض البيانات</a:t>
            </a:r>
            <a:endParaRPr lang="ar-EG" sz="3600" dirty="0"/>
          </a:p>
        </p:txBody>
      </p:sp>
      <p:sp>
        <p:nvSpPr>
          <p:cNvPr id="5" name="Text 3"/>
          <p:cNvSpPr/>
          <p:nvPr/>
        </p:nvSpPr>
        <p:spPr>
          <a:xfrm>
            <a:off x="709473" y="2034542"/>
            <a:ext cx="3547567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المكان الذي يتم فيه إدخال البيانات.</a:t>
            </a:r>
            <a:endParaRPr lang="ar-EG" sz="1600" dirty="0"/>
          </a:p>
        </p:txBody>
      </p:sp>
      <p:sp>
        <p:nvSpPr>
          <p:cNvPr id="6" name="Shape 4"/>
          <p:cNvSpPr/>
          <p:nvPr/>
        </p:nvSpPr>
        <p:spPr>
          <a:xfrm>
            <a:off x="815975" y="2520317"/>
            <a:ext cx="3437890" cy="1044575"/>
          </a:xfrm>
          <a:prstGeom prst="roundRect">
            <a:avLst>
              <a:gd name="adj" fmla="val 942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93361" y="2700027"/>
            <a:ext cx="68079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8" name="Text 6"/>
          <p:cNvSpPr/>
          <p:nvPr/>
        </p:nvSpPr>
        <p:spPr>
          <a:xfrm>
            <a:off x="3469561" y="2750827"/>
            <a:ext cx="47759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03326" y="3108958"/>
            <a:ext cx="3170835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تمثل الحالات أو السجلات (Cases).</a:t>
            </a:r>
            <a:endParaRPr lang="ar-EG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3749042"/>
            <a:ext cx="3437890" cy="1044575"/>
          </a:xfrm>
          <a:prstGeom prst="roundRect">
            <a:avLst>
              <a:gd name="adj" fmla="val 942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1" y="3928752"/>
            <a:ext cx="1000919" cy="33274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2" name="Text 10"/>
          <p:cNvSpPr/>
          <p:nvPr/>
        </p:nvSpPr>
        <p:spPr>
          <a:xfrm>
            <a:off x="3149441" y="3979552"/>
            <a:ext cx="797719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>
              <a:lnSpc>
                <a:spcPts val="1820"/>
              </a:lnSpc>
              <a:buNone/>
            </a:pPr>
            <a:r>
              <a:rPr lang="en-US" sz="1400" b="1" dirty="0">
                <a:solidFill>
                  <a:srgbClr val="1E5A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03326" y="4337683"/>
            <a:ext cx="3170835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تمثل المتغيرات (Variables).</a:t>
            </a:r>
            <a:endParaRPr lang="ar-EG" sz="1500" dirty="0"/>
          </a:p>
        </p:txBody>
      </p:sp>
      <p:sp>
        <p:nvSpPr>
          <p:cNvPr id="14" name="Shape 12"/>
          <p:cNvSpPr/>
          <p:nvPr/>
        </p:nvSpPr>
        <p:spPr>
          <a:xfrm>
            <a:off x="4565015" y="2037717"/>
            <a:ext cx="6811010" cy="3642360"/>
          </a:xfrm>
          <a:prstGeom prst="roundRect">
            <a:avLst>
              <a:gd name="adj" fmla="val 2702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pic>
        <p:nvPicPr>
          <p:cNvPr id="15" name="Image 0" descr="نافذة Data View في SPSS"/>
          <p:cNvPicPr>
            <a:picLocks noChangeAspect="1"/>
          </p:cNvPicPr>
          <p:nvPr/>
        </p:nvPicPr>
        <p:blipFill>
          <a:blip r:embed="rId3"/>
          <a:srcRect l="-48" r="-48"/>
          <a:stretch/>
        </p:blipFill>
        <p:spPr>
          <a:xfrm>
            <a:off x="4668520" y="2141227"/>
            <a:ext cx="6604000" cy="343535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17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2800" y="2641600"/>
            <a:ext cx="457200" cy="1574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222500" y="1795785"/>
            <a:ext cx="9156700" cy="154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2000"/>
              </a:lnSpc>
              <a:buNone/>
            </a:pPr>
            <a:r>
              <a:rPr lang="en-US" sz="120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03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2222500" y="3472185"/>
            <a:ext cx="91567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7200"/>
              </a:lnSpc>
              <a:buNone/>
            </a:pPr>
            <a:r>
              <a:rPr lang="ar-EG" sz="6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تمارين تطبيقية</a:t>
            </a:r>
            <a:endParaRPr lang="ar-EG" sz="6000" dirty="0"/>
          </a:p>
        </p:txBody>
      </p:sp>
      <p:sp>
        <p:nvSpPr>
          <p:cNvPr id="5" name="Text 2"/>
          <p:cNvSpPr/>
          <p:nvPr/>
        </p:nvSpPr>
        <p:spPr>
          <a:xfrm>
            <a:off x="2222500" y="4538985"/>
            <a:ext cx="9156700" cy="345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20"/>
              </a:lnSpc>
              <a:buNone/>
            </a:pPr>
            <a:r>
              <a:rPr lang="ar-EG" sz="18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كل متغير ومقياسه، ثم أدخل البيانات في SPSS</a:t>
            </a:r>
            <a:endParaRPr lang="ar-EG" sz="1800" dirty="0"/>
          </a:p>
        </p:txBody>
      </p:sp>
      <p:sp>
        <p:nvSpPr>
          <p:cNvPr id="6" name="Text 3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6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22"/>
              </a:lnSpc>
              <a:buNone/>
            </a:pPr>
            <a:r>
              <a:rPr lang="ar-EG" sz="1159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</a:t>
            </a:r>
            <a:endParaRPr lang="ar-EG" sz="1159" dirty="0"/>
          </a:p>
        </p:txBody>
      </p:sp>
      <p:sp>
        <p:nvSpPr>
          <p:cNvPr id="3" name="Text 1"/>
          <p:cNvSpPr/>
          <p:nvPr/>
        </p:nvSpPr>
        <p:spPr>
          <a:xfrm>
            <a:off x="495808" y="1115058"/>
            <a:ext cx="10883392" cy="51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3920"/>
              </a:lnSpc>
              <a:buNone/>
            </a:pPr>
            <a:r>
              <a:rPr lang="ar-EG" sz="340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بيانات 7 موظفين</a:t>
            </a:r>
            <a:endParaRPr lang="ar-EG" sz="3409" dirty="0"/>
          </a:p>
        </p:txBody>
      </p:sp>
      <p:sp>
        <p:nvSpPr>
          <p:cNvPr id="4" name="Text 2"/>
          <p:cNvSpPr/>
          <p:nvPr/>
        </p:nvSpPr>
        <p:spPr>
          <a:xfrm>
            <a:off x="495808" y="1838089"/>
            <a:ext cx="10883392" cy="314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73"/>
              </a:lnSpc>
              <a:buNone/>
            </a:pPr>
            <a:r>
              <a:rPr lang="ar-EG" sz="1515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بيانات 7 موظفين في إحدى الشركات: النوع، عدد الأطفال، الدخل الشهري، وحالة التدخين.</a:t>
            </a:r>
            <a:endParaRPr lang="ar-EG" sz="1515" dirty="0"/>
          </a:p>
        </p:txBody>
      </p:sp>
      <p:sp>
        <p:nvSpPr>
          <p:cNvPr id="5" name="Shape 3"/>
          <p:cNvSpPr/>
          <p:nvPr/>
        </p:nvSpPr>
        <p:spPr>
          <a:xfrm>
            <a:off x="812800" y="2355540"/>
            <a:ext cx="3048000" cy="2249170"/>
          </a:xfrm>
          <a:prstGeom prst="roundRect">
            <a:avLst>
              <a:gd name="adj" fmla="val 4517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963676" y="2584140"/>
            <a:ext cx="266852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76630" y="2996890"/>
            <a:ext cx="22237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كل متغير ومقياسه.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3327400" y="299689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9" name="Text 7"/>
          <p:cNvSpPr/>
          <p:nvPr/>
        </p:nvSpPr>
        <p:spPr>
          <a:xfrm>
            <a:off x="3405823" y="3073090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630" y="3428690"/>
            <a:ext cx="22237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SPSS.</a:t>
            </a:r>
            <a:endParaRPr lang="ar-EG" sz="1400" dirty="0"/>
          </a:p>
        </p:txBody>
      </p:sp>
      <p:sp>
        <p:nvSpPr>
          <p:cNvPr id="11" name="Shape 9"/>
          <p:cNvSpPr/>
          <p:nvPr/>
        </p:nvSpPr>
        <p:spPr>
          <a:xfrm>
            <a:off x="3327400" y="342869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2" name="Text 10"/>
          <p:cNvSpPr/>
          <p:nvPr/>
        </p:nvSpPr>
        <p:spPr>
          <a:xfrm>
            <a:off x="3405823" y="3504890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6630" y="3860490"/>
            <a:ext cx="22237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خذ لقطتي شاشة: Variable View و Data View.</a:t>
            </a:r>
            <a:endParaRPr lang="ar-EG" sz="1400" dirty="0"/>
          </a:p>
        </p:txBody>
      </p:sp>
      <p:sp>
        <p:nvSpPr>
          <p:cNvPr id="14" name="Shape 12"/>
          <p:cNvSpPr/>
          <p:nvPr/>
        </p:nvSpPr>
        <p:spPr>
          <a:xfrm>
            <a:off x="3327400" y="386049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5" name="Text 13"/>
          <p:cNvSpPr/>
          <p:nvPr/>
        </p:nvSpPr>
        <p:spPr>
          <a:xfrm>
            <a:off x="3405823" y="3936690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5600" y="2355540"/>
            <a:ext cx="7213600" cy="3679190"/>
          </a:xfrm>
          <a:custGeom>
            <a:avLst/>
            <a:gdLst/>
            <a:ahLst/>
            <a:cxnLst/>
            <a:rect l="l" t="t" r="r" b="b"/>
            <a:pathLst>
              <a:path w="7213600" h="3679190">
                <a:moveTo>
                  <a:pt x="7162800" y="0"/>
                </a:moveTo>
                <a:lnTo>
                  <a:pt x="7162800" y="0"/>
                </a:lnTo>
                <a:arcTo wR="50800" hR="50800" stAng="16200000" swAng="5400000"/>
                <a:lnTo>
                  <a:pt x="7213600" y="3628390"/>
                </a:lnTo>
                <a:arcTo wR="50800" hR="50800" stAng="0" swAng="5400000"/>
                <a:lnTo>
                  <a:pt x="50800" y="3679190"/>
                </a:lnTo>
                <a:arcTo wR="50800" hR="50800" stAng="5400000" swAng="5400000"/>
                <a:lnTo>
                  <a:pt x="0" y="3628390"/>
                </a:lnTo>
                <a:arcTo wR="50800" hR="44450" stAng="10800000" swAng="-5400000"/>
                <a:lnTo>
                  <a:pt x="7162800" y="3672840"/>
                </a:lnTo>
                <a:arcTo wR="44450" hR="44450" stAng="5400000" swAng="-5400000"/>
                <a:lnTo>
                  <a:pt x="7207250" y="50800"/>
                </a:lnTo>
                <a:arcTo wR="44450" hR="5080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5600" y="2355540"/>
            <a:ext cx="7213600" cy="3679190"/>
          </a:xfrm>
          <a:custGeom>
            <a:avLst/>
            <a:gdLst/>
            <a:ahLst/>
            <a:cxnLst/>
            <a:rect l="l" t="t" r="r" b="b"/>
            <a:pathLst>
              <a:path w="7213600" h="3679190">
                <a:moveTo>
                  <a:pt x="50800" y="3679190"/>
                </a:moveTo>
                <a:lnTo>
                  <a:pt x="50800" y="367919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lnTo>
                  <a:pt x="7162800" y="0"/>
                </a:lnTo>
                <a:arcTo wR="50800" hR="50800" stAng="16200000" swAng="5400000"/>
                <a:lnTo>
                  <a:pt x="7213600" y="50800"/>
                </a:lnTo>
                <a:arcTo wR="50800" hR="40640" stAng="0" swAng="-5400000"/>
                <a:lnTo>
                  <a:pt x="50800" y="10160"/>
                </a:lnTo>
                <a:arcTo wR="40640" hR="40640" stAng="16200000" swAng="-5400000"/>
                <a:lnTo>
                  <a:pt x="10160" y="3628390"/>
                </a:lnTo>
                <a:arcTo wR="40640" hR="508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75760" y="2365700"/>
          <a:ext cx="7198360" cy="3663950"/>
        </p:xfrm>
        <a:graphic>
          <a:graphicData uri="http://schemas.openxmlformats.org/drawingml/2006/table">
            <a:tbl>
              <a:tblPr/>
              <a:tblGrid>
                <a:gridCol w="1727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6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7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7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17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6802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التدخين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الدخل الشهري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عدد الأطفال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رقم الموظف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5000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غير 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4500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أنثى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غير 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6500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5500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أنثى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غير 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4000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غير 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7000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أنثى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مدخن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6000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19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 · الأسئلة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المتغير ومقياسه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النوع عبارة عن متغير ........ ومقياسه ........</a:t>
            </a:r>
            <a:endParaRPr lang="ar-EG" sz="1600" dirty="0"/>
          </a:p>
        </p:txBody>
      </p:sp>
      <p:sp>
        <p:nvSpPr>
          <p:cNvPr id="5" name="Shape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6" name="Text 4"/>
          <p:cNvSpPr/>
          <p:nvPr/>
        </p:nvSpPr>
        <p:spPr>
          <a:xfrm>
            <a:off x="11136075" y="1990092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5975" y="2329817"/>
            <a:ext cx="162544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9480" y="2406650"/>
            <a:ext cx="110093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Ordinal</a:t>
            </a:r>
            <a:endParaRPr lang="ar-EG" sz="1400" dirty="0"/>
          </a:p>
        </p:txBody>
      </p:sp>
      <p:sp>
        <p:nvSpPr>
          <p:cNvPr id="9" name="Shape 7"/>
          <p:cNvSpPr/>
          <p:nvPr/>
        </p:nvSpPr>
        <p:spPr>
          <a:xfrm>
            <a:off x="2109311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0" name="Text 8"/>
          <p:cNvSpPr/>
          <p:nvPr/>
        </p:nvSpPr>
        <p:spPr>
          <a:xfrm>
            <a:off x="2175589" y="2446027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549366" y="2329817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52871" y="2406650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13" name="Shape 11"/>
          <p:cNvSpPr/>
          <p:nvPr/>
        </p:nvSpPr>
        <p:spPr>
          <a:xfrm>
            <a:off x="3690700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4" name="Text 12"/>
          <p:cNvSpPr/>
          <p:nvPr/>
        </p:nvSpPr>
        <p:spPr>
          <a:xfrm>
            <a:off x="3764756" y="2446027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30754" y="2329817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34259" y="2406650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17" name="Shape 15"/>
          <p:cNvSpPr/>
          <p:nvPr/>
        </p:nvSpPr>
        <p:spPr>
          <a:xfrm>
            <a:off x="5529263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8" name="Text 16"/>
          <p:cNvSpPr/>
          <p:nvPr/>
        </p:nvSpPr>
        <p:spPr>
          <a:xfrm>
            <a:off x="5595382" y="2446027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69317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72823" y="2406650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21" name="Shape 19"/>
          <p:cNvSpPr/>
          <p:nvPr/>
        </p:nvSpPr>
        <p:spPr>
          <a:xfrm>
            <a:off x="7445137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2" name="Text 20"/>
          <p:cNvSpPr/>
          <p:nvPr/>
        </p:nvSpPr>
        <p:spPr>
          <a:xfrm>
            <a:off x="7513796" y="2446027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عدد الأطفال عبارة عن متغير ........ ومقياسه ........</a:t>
            </a:r>
            <a:endParaRPr lang="ar-EG" sz="1600" dirty="0"/>
          </a:p>
        </p:txBody>
      </p:sp>
      <p:sp>
        <p:nvSpPr>
          <p:cNvPr id="24" name="Shape 22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6075" y="2978150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5975" y="3317875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9480" y="3394708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28" name="Shape 26"/>
          <p:cNvSpPr/>
          <p:nvPr/>
        </p:nvSpPr>
        <p:spPr>
          <a:xfrm>
            <a:off x="2186623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9" name="Text 27"/>
          <p:cNvSpPr/>
          <p:nvPr/>
        </p:nvSpPr>
        <p:spPr>
          <a:xfrm>
            <a:off x="2252901" y="3434085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26677" y="3317875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30183" y="3394708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32" name="Shape 30"/>
          <p:cNvSpPr/>
          <p:nvPr/>
        </p:nvSpPr>
        <p:spPr>
          <a:xfrm>
            <a:off x="4025186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3" name="Text 31"/>
          <p:cNvSpPr/>
          <p:nvPr/>
        </p:nvSpPr>
        <p:spPr>
          <a:xfrm>
            <a:off x="4099242" y="3434085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465241" y="3317875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8746" y="3394708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36" name="Shape 34"/>
          <p:cNvSpPr/>
          <p:nvPr/>
        </p:nvSpPr>
        <p:spPr>
          <a:xfrm>
            <a:off x="5606574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7" name="Text 35"/>
          <p:cNvSpPr/>
          <p:nvPr/>
        </p:nvSpPr>
        <p:spPr>
          <a:xfrm>
            <a:off x="5672693" y="3434085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046629" y="3317875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50134" y="3394708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40" name="Shape 38"/>
          <p:cNvSpPr/>
          <p:nvPr/>
        </p:nvSpPr>
        <p:spPr>
          <a:xfrm>
            <a:off x="7522449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1" name="Text 39"/>
          <p:cNvSpPr/>
          <p:nvPr/>
        </p:nvSpPr>
        <p:spPr>
          <a:xfrm>
            <a:off x="7591108" y="3434085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9524" y="3896358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الدخل الشهري عبارة عن متغير ........ ومقياسه ........</a:t>
            </a:r>
            <a:endParaRPr lang="ar-EG" sz="1600" dirty="0"/>
          </a:p>
        </p:txBody>
      </p:sp>
      <p:sp>
        <p:nvSpPr>
          <p:cNvPr id="43" name="Shape 41"/>
          <p:cNvSpPr/>
          <p:nvPr/>
        </p:nvSpPr>
        <p:spPr>
          <a:xfrm>
            <a:off x="11049000" y="3883658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44" name="Text 42"/>
          <p:cNvSpPr/>
          <p:nvPr/>
        </p:nvSpPr>
        <p:spPr>
          <a:xfrm>
            <a:off x="11136075" y="3966208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15975" y="4305933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9480" y="4382777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47" name="Shape 45"/>
          <p:cNvSpPr/>
          <p:nvPr/>
        </p:nvSpPr>
        <p:spPr>
          <a:xfrm>
            <a:off x="2186623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8" name="Text 46"/>
          <p:cNvSpPr/>
          <p:nvPr/>
        </p:nvSpPr>
        <p:spPr>
          <a:xfrm>
            <a:off x="2252901" y="4422142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626677" y="4305933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30183" y="4382777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51" name="Shape 49"/>
          <p:cNvSpPr/>
          <p:nvPr/>
        </p:nvSpPr>
        <p:spPr>
          <a:xfrm>
            <a:off x="3768011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52" name="Text 50"/>
          <p:cNvSpPr/>
          <p:nvPr/>
        </p:nvSpPr>
        <p:spPr>
          <a:xfrm>
            <a:off x="3842067" y="4422142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208066" y="4305933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11571" y="4382777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55" name="Shape 53"/>
          <p:cNvSpPr/>
          <p:nvPr/>
        </p:nvSpPr>
        <p:spPr>
          <a:xfrm>
            <a:off x="5683885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56" name="Text 54"/>
          <p:cNvSpPr/>
          <p:nvPr/>
        </p:nvSpPr>
        <p:spPr>
          <a:xfrm>
            <a:off x="5750004" y="4422142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123940" y="4305933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27445" y="4382777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59" name="Shape 57"/>
          <p:cNvSpPr/>
          <p:nvPr/>
        </p:nvSpPr>
        <p:spPr>
          <a:xfrm>
            <a:off x="7522449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0" name="Text 58"/>
          <p:cNvSpPr/>
          <p:nvPr/>
        </p:nvSpPr>
        <p:spPr>
          <a:xfrm>
            <a:off x="7591108" y="4422142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09524" y="4884427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التدخين عبارة عن متغير ........ ومقياسه ........</a:t>
            </a:r>
            <a:endParaRPr lang="ar-EG" sz="1600" dirty="0"/>
          </a:p>
        </p:txBody>
      </p:sp>
      <p:sp>
        <p:nvSpPr>
          <p:cNvPr id="62" name="Shape 60"/>
          <p:cNvSpPr/>
          <p:nvPr/>
        </p:nvSpPr>
        <p:spPr>
          <a:xfrm>
            <a:off x="11049000" y="4871727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63" name="Text 61"/>
          <p:cNvSpPr/>
          <p:nvPr/>
        </p:nvSpPr>
        <p:spPr>
          <a:xfrm>
            <a:off x="11136075" y="4954277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15975" y="5294002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19480" y="5370835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66" name="Shape 64"/>
          <p:cNvSpPr/>
          <p:nvPr/>
        </p:nvSpPr>
        <p:spPr>
          <a:xfrm>
            <a:off x="2186623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7" name="Text 65"/>
          <p:cNvSpPr/>
          <p:nvPr/>
        </p:nvSpPr>
        <p:spPr>
          <a:xfrm>
            <a:off x="2252901" y="5410200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626677" y="5294002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30183" y="5370835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70" name="Shape 68"/>
          <p:cNvSpPr/>
          <p:nvPr/>
        </p:nvSpPr>
        <p:spPr>
          <a:xfrm>
            <a:off x="4102497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1" name="Text 69"/>
          <p:cNvSpPr/>
          <p:nvPr/>
        </p:nvSpPr>
        <p:spPr>
          <a:xfrm>
            <a:off x="4176554" y="5410200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4542552" y="5294002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46057" y="5370835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74" name="Shape 72"/>
          <p:cNvSpPr/>
          <p:nvPr/>
        </p:nvSpPr>
        <p:spPr>
          <a:xfrm>
            <a:off x="5941060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5" name="Text 73"/>
          <p:cNvSpPr/>
          <p:nvPr/>
        </p:nvSpPr>
        <p:spPr>
          <a:xfrm>
            <a:off x="6007179" y="5410200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6381115" y="5294002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84620" y="5370835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78" name="Shape 76"/>
          <p:cNvSpPr/>
          <p:nvPr/>
        </p:nvSpPr>
        <p:spPr>
          <a:xfrm>
            <a:off x="7522449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9" name="Text 77"/>
          <p:cNvSpPr/>
          <p:nvPr/>
        </p:nvSpPr>
        <p:spPr>
          <a:xfrm>
            <a:off x="7591108" y="5410200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  <p:sp>
        <p:nvSpPr>
          <p:cNvPr id="82" name="Shape 17">
            <a:extLst>
              <a:ext uri="{FF2B5EF4-FFF2-40B4-BE49-F238E27FC236}">
                <a16:creationId xmlns:a16="http://schemas.microsoft.com/office/drawing/2014/main" id="{4AE5E439-797A-4323-4667-1CE038FB0042}"/>
              </a:ext>
            </a:extLst>
          </p:cNvPr>
          <p:cNvSpPr/>
          <p:nvPr/>
        </p:nvSpPr>
        <p:spPr>
          <a:xfrm>
            <a:off x="5969317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5" name="Shape 32">
            <a:extLst>
              <a:ext uri="{FF2B5EF4-FFF2-40B4-BE49-F238E27FC236}">
                <a16:creationId xmlns:a16="http://schemas.microsoft.com/office/drawing/2014/main" id="{6F3B4E33-8A6B-678A-F66B-0C46153AD9CA}"/>
              </a:ext>
            </a:extLst>
          </p:cNvPr>
          <p:cNvSpPr/>
          <p:nvPr/>
        </p:nvSpPr>
        <p:spPr>
          <a:xfrm>
            <a:off x="4451832" y="3311453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6" name="Shape 47">
            <a:extLst>
              <a:ext uri="{FF2B5EF4-FFF2-40B4-BE49-F238E27FC236}">
                <a16:creationId xmlns:a16="http://schemas.microsoft.com/office/drawing/2014/main" id="{020B380D-5E0B-9AF7-CA3D-8653638831FD}"/>
              </a:ext>
            </a:extLst>
          </p:cNvPr>
          <p:cNvSpPr/>
          <p:nvPr/>
        </p:nvSpPr>
        <p:spPr>
          <a:xfrm>
            <a:off x="2634779" y="4290546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7" name="Shape 66">
            <a:extLst>
              <a:ext uri="{FF2B5EF4-FFF2-40B4-BE49-F238E27FC236}">
                <a16:creationId xmlns:a16="http://schemas.microsoft.com/office/drawing/2014/main" id="{C22A0B91-78E4-BFCF-BEE7-2EF4DF458BEA}"/>
              </a:ext>
            </a:extLst>
          </p:cNvPr>
          <p:cNvSpPr/>
          <p:nvPr/>
        </p:nvSpPr>
        <p:spPr>
          <a:xfrm>
            <a:off x="2627797" y="5282379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1 · الحل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الإجابات والتطبيق العملي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342"/>
            <a:ext cx="3556000" cy="228600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</p:spPr>
      </p:sp>
      <p:sp>
        <p:nvSpPr>
          <p:cNvPr id="5" name="Text 3"/>
          <p:cNvSpPr/>
          <p:nvPr/>
        </p:nvSpPr>
        <p:spPr>
          <a:xfrm>
            <a:off x="948436" y="2186942"/>
            <a:ext cx="319176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عملي على SPSS</a:t>
            </a:r>
            <a:endParaRPr lang="ar-EG" sz="1800" dirty="0"/>
          </a:p>
        </p:txBody>
      </p:sp>
      <p:sp>
        <p:nvSpPr>
          <p:cNvPr id="6" name="Text 4"/>
          <p:cNvSpPr/>
          <p:nvPr/>
        </p:nvSpPr>
        <p:spPr>
          <a:xfrm>
            <a:off x="961390" y="2599692"/>
            <a:ext cx="2747010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خصائص المتغيرات في Variable View، ثم خذ لقطة شاشة واضحة.</a:t>
            </a:r>
            <a:endParaRPr lang="ar-EG" sz="1400" dirty="0"/>
          </a:p>
        </p:txBody>
      </p:sp>
      <p:sp>
        <p:nvSpPr>
          <p:cNvPr id="7" name="Shape 5"/>
          <p:cNvSpPr/>
          <p:nvPr/>
        </p:nvSpPr>
        <p:spPr>
          <a:xfrm>
            <a:off x="3835400" y="259969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8" name="Text 6"/>
          <p:cNvSpPr/>
          <p:nvPr/>
        </p:nvSpPr>
        <p:spPr>
          <a:xfrm>
            <a:off x="3913823" y="2675892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1390" y="3500127"/>
            <a:ext cx="274701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Data View، ثم خذ لقطة شاشة واضحة.</a:t>
            </a:r>
            <a:endParaRPr lang="ar-EG" sz="1400" dirty="0"/>
          </a:p>
        </p:txBody>
      </p:sp>
      <p:sp>
        <p:nvSpPr>
          <p:cNvPr id="10" name="Shape 8"/>
          <p:cNvSpPr/>
          <p:nvPr/>
        </p:nvSpPr>
        <p:spPr>
          <a:xfrm>
            <a:off x="3835400" y="350012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1" name="Text 9"/>
          <p:cNvSpPr/>
          <p:nvPr/>
        </p:nvSpPr>
        <p:spPr>
          <a:xfrm>
            <a:off x="3913823" y="3576327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73600" y="1958342"/>
            <a:ext cx="6705600" cy="2155190"/>
          </a:xfrm>
          <a:custGeom>
            <a:avLst/>
            <a:gdLst/>
            <a:ahLst/>
            <a:cxnLst/>
            <a:rect l="l" t="t" r="r" b="b"/>
            <a:pathLst>
              <a:path w="6705600" h="2155190">
                <a:moveTo>
                  <a:pt x="6654800" y="0"/>
                </a:moveTo>
                <a:lnTo>
                  <a:pt x="6654800" y="0"/>
                </a:lnTo>
                <a:arcTo wR="50800" hR="50800" stAng="16200000" swAng="5400000"/>
                <a:lnTo>
                  <a:pt x="6705600" y="2104390"/>
                </a:lnTo>
                <a:arcTo wR="50800" hR="50800" stAng="0" swAng="5400000"/>
                <a:lnTo>
                  <a:pt x="50800" y="2155190"/>
                </a:lnTo>
                <a:arcTo wR="50800" hR="50800" stAng="5400000" swAng="5400000"/>
                <a:lnTo>
                  <a:pt x="0" y="2104390"/>
                </a:lnTo>
                <a:arcTo wR="50800" hR="44450" stAng="10800000" swAng="-5400000"/>
                <a:lnTo>
                  <a:pt x="6654800" y="2148840"/>
                </a:lnTo>
                <a:arcTo wR="44450" hR="44450" stAng="5400000" swAng="-5400000"/>
                <a:lnTo>
                  <a:pt x="6699250" y="50800"/>
                </a:lnTo>
                <a:arcTo wR="44450" hR="5080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3" name="Shape 11"/>
          <p:cNvSpPr/>
          <p:nvPr/>
        </p:nvSpPr>
        <p:spPr>
          <a:xfrm>
            <a:off x="4673600" y="1958342"/>
            <a:ext cx="6705600" cy="2155190"/>
          </a:xfrm>
          <a:custGeom>
            <a:avLst/>
            <a:gdLst/>
            <a:ahLst/>
            <a:cxnLst/>
            <a:rect l="l" t="t" r="r" b="b"/>
            <a:pathLst>
              <a:path w="6705600" h="2155190">
                <a:moveTo>
                  <a:pt x="50800" y="2155190"/>
                </a:moveTo>
                <a:lnTo>
                  <a:pt x="50800" y="215519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lnTo>
                  <a:pt x="6654800" y="0"/>
                </a:lnTo>
                <a:arcTo wR="50800" hR="50800" stAng="16200000" swAng="5400000"/>
                <a:lnTo>
                  <a:pt x="6705600" y="50800"/>
                </a:lnTo>
                <a:arcTo wR="50800" hR="40640" stAng="0" swAng="-5400000"/>
                <a:lnTo>
                  <a:pt x="50800" y="10160"/>
                </a:lnTo>
                <a:arcTo wR="40640" hR="40640" stAng="16200000" swAng="-5400000"/>
                <a:lnTo>
                  <a:pt x="10160" y="2104390"/>
                </a:lnTo>
                <a:arcTo wR="40640" hR="508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3760" y="1968502"/>
          <a:ext cx="6690360" cy="2139950"/>
        </p:xfrm>
        <a:graphic>
          <a:graphicData uri="http://schemas.openxmlformats.org/drawingml/2006/table">
            <a:tbl>
              <a:tblPr/>
              <a:tblGrid>
                <a:gridCol w="1204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1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47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الاختيار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المقياس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المتغير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a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كمي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عدد الأطفال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كمي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الدخل الشهري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التدخين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6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22"/>
              </a:lnSpc>
              <a:buNone/>
            </a:pPr>
            <a:r>
              <a:rPr lang="ar-EG" sz="1159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2</a:t>
            </a:r>
            <a:endParaRPr lang="ar-EG" sz="1159" dirty="0"/>
          </a:p>
        </p:txBody>
      </p:sp>
      <p:sp>
        <p:nvSpPr>
          <p:cNvPr id="3" name="Text 1"/>
          <p:cNvSpPr/>
          <p:nvPr/>
        </p:nvSpPr>
        <p:spPr>
          <a:xfrm>
            <a:off x="495808" y="1115058"/>
            <a:ext cx="10883392" cy="51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3920"/>
              </a:lnSpc>
              <a:buNone/>
            </a:pPr>
            <a:r>
              <a:rPr lang="ar-EG" sz="3409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بيانات 7 طلاب</a:t>
            </a:r>
            <a:endParaRPr lang="ar-EG" sz="3409" dirty="0"/>
          </a:p>
        </p:txBody>
      </p:sp>
      <p:sp>
        <p:nvSpPr>
          <p:cNvPr id="4" name="Text 2"/>
          <p:cNvSpPr/>
          <p:nvPr/>
        </p:nvSpPr>
        <p:spPr>
          <a:xfrm>
            <a:off x="495808" y="1838089"/>
            <a:ext cx="10883392" cy="3142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73"/>
              </a:lnSpc>
              <a:buNone/>
            </a:pPr>
            <a:r>
              <a:rPr lang="ar-EG" sz="1515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بيانات 7 طلاب في إحدى الكليات: رقم الطالب (ID)، النوع، القسم، والمصروف الشهري.</a:t>
            </a:r>
            <a:endParaRPr lang="ar-EG" sz="1515" dirty="0"/>
          </a:p>
        </p:txBody>
      </p:sp>
      <p:sp>
        <p:nvSpPr>
          <p:cNvPr id="5" name="Shape 3"/>
          <p:cNvSpPr/>
          <p:nvPr/>
        </p:nvSpPr>
        <p:spPr>
          <a:xfrm>
            <a:off x="812800" y="2355540"/>
            <a:ext cx="3048000" cy="2249170"/>
          </a:xfrm>
          <a:prstGeom prst="roundRect">
            <a:avLst>
              <a:gd name="adj" fmla="val 4517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963676" y="2584140"/>
            <a:ext cx="266852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76630" y="2996890"/>
            <a:ext cx="22237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كل متغير ومقياسه.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3327400" y="299689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9" name="Text 7"/>
          <p:cNvSpPr/>
          <p:nvPr/>
        </p:nvSpPr>
        <p:spPr>
          <a:xfrm>
            <a:off x="3405823" y="3073090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630" y="3428690"/>
            <a:ext cx="22237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SPSS.</a:t>
            </a:r>
            <a:endParaRPr lang="ar-EG" sz="1400" dirty="0"/>
          </a:p>
        </p:txBody>
      </p:sp>
      <p:sp>
        <p:nvSpPr>
          <p:cNvPr id="11" name="Shape 9"/>
          <p:cNvSpPr/>
          <p:nvPr/>
        </p:nvSpPr>
        <p:spPr>
          <a:xfrm>
            <a:off x="3327400" y="342869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2" name="Text 10"/>
          <p:cNvSpPr/>
          <p:nvPr/>
        </p:nvSpPr>
        <p:spPr>
          <a:xfrm>
            <a:off x="3405823" y="3504890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6630" y="3860490"/>
            <a:ext cx="22237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خذ لقطتي شاشة: Variable View و Data View.</a:t>
            </a:r>
            <a:endParaRPr lang="ar-EG" sz="1400" dirty="0"/>
          </a:p>
        </p:txBody>
      </p:sp>
      <p:sp>
        <p:nvSpPr>
          <p:cNvPr id="14" name="Shape 12"/>
          <p:cNvSpPr/>
          <p:nvPr/>
        </p:nvSpPr>
        <p:spPr>
          <a:xfrm>
            <a:off x="3327400" y="386049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5" name="Text 13"/>
          <p:cNvSpPr/>
          <p:nvPr/>
        </p:nvSpPr>
        <p:spPr>
          <a:xfrm>
            <a:off x="3405823" y="3936690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5600" y="2355540"/>
            <a:ext cx="7213600" cy="3679190"/>
          </a:xfrm>
          <a:custGeom>
            <a:avLst/>
            <a:gdLst/>
            <a:ahLst/>
            <a:cxnLst/>
            <a:rect l="l" t="t" r="r" b="b"/>
            <a:pathLst>
              <a:path w="7213600" h="3679190">
                <a:moveTo>
                  <a:pt x="7162800" y="0"/>
                </a:moveTo>
                <a:lnTo>
                  <a:pt x="7162800" y="0"/>
                </a:lnTo>
                <a:arcTo wR="50800" hR="50800" stAng="16200000" swAng="5400000"/>
                <a:lnTo>
                  <a:pt x="7213600" y="3628390"/>
                </a:lnTo>
                <a:arcTo wR="50800" hR="50800" stAng="0" swAng="5400000"/>
                <a:lnTo>
                  <a:pt x="50800" y="3679190"/>
                </a:lnTo>
                <a:arcTo wR="50800" hR="50800" stAng="5400000" swAng="5400000"/>
                <a:lnTo>
                  <a:pt x="0" y="3628390"/>
                </a:lnTo>
                <a:arcTo wR="50800" hR="44450" stAng="10800000" swAng="-5400000"/>
                <a:lnTo>
                  <a:pt x="7162800" y="3672840"/>
                </a:lnTo>
                <a:arcTo wR="44450" hR="44450" stAng="5400000" swAng="-5400000"/>
                <a:lnTo>
                  <a:pt x="7207250" y="50800"/>
                </a:lnTo>
                <a:arcTo wR="44450" hR="5080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5600" y="2355540"/>
            <a:ext cx="7213600" cy="3679190"/>
          </a:xfrm>
          <a:custGeom>
            <a:avLst/>
            <a:gdLst/>
            <a:ahLst/>
            <a:cxnLst/>
            <a:rect l="l" t="t" r="r" b="b"/>
            <a:pathLst>
              <a:path w="7213600" h="3679190">
                <a:moveTo>
                  <a:pt x="50800" y="3679190"/>
                </a:moveTo>
                <a:lnTo>
                  <a:pt x="50800" y="367919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lnTo>
                  <a:pt x="7162800" y="0"/>
                </a:lnTo>
                <a:arcTo wR="50800" hR="50800" stAng="16200000" swAng="5400000"/>
                <a:lnTo>
                  <a:pt x="7213600" y="50800"/>
                </a:lnTo>
                <a:arcTo wR="50800" hR="40640" stAng="0" swAng="-5400000"/>
                <a:lnTo>
                  <a:pt x="50800" y="10160"/>
                </a:lnTo>
                <a:arcTo wR="40640" hR="40640" stAng="16200000" swAng="-5400000"/>
                <a:lnTo>
                  <a:pt x="10160" y="3628390"/>
                </a:lnTo>
                <a:arcTo wR="40640" hR="508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75760" y="2365700"/>
          <a:ext cx="7198360" cy="3663950"/>
        </p:xfrm>
        <a:graphic>
          <a:graphicData uri="http://schemas.openxmlformats.org/drawingml/2006/table">
            <a:tbl>
              <a:tblPr/>
              <a:tblGrid>
                <a:gridCol w="20155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55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3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36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802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المصروف الشهري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القسم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رقم الطالب (ID)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إدارة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3000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محاسبة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أنثى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2800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تسويق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3500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إدارة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أنثى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2200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محاسبة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3200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تسويق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أنثى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2700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إدارة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ذكر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22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2 · الأسئلة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المتغير ومقياسه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ID عبارة عن متغير ........ ومقياسه ........</a:t>
            </a:r>
            <a:endParaRPr lang="ar-EG" sz="1600" dirty="0"/>
          </a:p>
        </p:txBody>
      </p:sp>
      <p:sp>
        <p:nvSpPr>
          <p:cNvPr id="5" name="Shape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6" name="Text 4"/>
          <p:cNvSpPr/>
          <p:nvPr/>
        </p:nvSpPr>
        <p:spPr>
          <a:xfrm>
            <a:off x="11136075" y="1990092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5975" y="2329817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9480" y="2406650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9" name="Shape 7"/>
          <p:cNvSpPr/>
          <p:nvPr/>
        </p:nvSpPr>
        <p:spPr>
          <a:xfrm>
            <a:off x="2214483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0" name="Text 8"/>
          <p:cNvSpPr/>
          <p:nvPr/>
        </p:nvSpPr>
        <p:spPr>
          <a:xfrm>
            <a:off x="2280761" y="2446027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54538" y="2329817"/>
            <a:ext cx="162544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58043" y="2406650"/>
            <a:ext cx="110093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Ordinal</a:t>
            </a:r>
            <a:endParaRPr lang="ar-EG" sz="1400" dirty="0"/>
          </a:p>
        </p:txBody>
      </p:sp>
      <p:sp>
        <p:nvSpPr>
          <p:cNvPr id="13" name="Shape 11"/>
          <p:cNvSpPr/>
          <p:nvPr/>
        </p:nvSpPr>
        <p:spPr>
          <a:xfrm>
            <a:off x="3947875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4" name="Text 12"/>
          <p:cNvSpPr/>
          <p:nvPr/>
        </p:nvSpPr>
        <p:spPr>
          <a:xfrm>
            <a:off x="4021931" y="2446027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7929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1434" y="2406650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17" name="Shape 15"/>
          <p:cNvSpPr/>
          <p:nvPr/>
        </p:nvSpPr>
        <p:spPr>
          <a:xfrm>
            <a:off x="5863749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8" name="Text 16"/>
          <p:cNvSpPr/>
          <p:nvPr/>
        </p:nvSpPr>
        <p:spPr>
          <a:xfrm>
            <a:off x="5929868" y="2446027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3804" y="2329817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7309" y="2406650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21" name="Shape 19"/>
          <p:cNvSpPr/>
          <p:nvPr/>
        </p:nvSpPr>
        <p:spPr>
          <a:xfrm>
            <a:off x="7445137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2" name="Text 20"/>
          <p:cNvSpPr/>
          <p:nvPr/>
        </p:nvSpPr>
        <p:spPr>
          <a:xfrm>
            <a:off x="7513796" y="2446027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النوع عبارة عن متغير ........ ومقياسه ........</a:t>
            </a:r>
            <a:endParaRPr lang="ar-EG" sz="1600" dirty="0"/>
          </a:p>
        </p:txBody>
      </p:sp>
      <p:sp>
        <p:nvSpPr>
          <p:cNvPr id="24" name="Shape 22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6075" y="2978150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5975" y="3317875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9480" y="3394708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28" name="Shape 26"/>
          <p:cNvSpPr/>
          <p:nvPr/>
        </p:nvSpPr>
        <p:spPr>
          <a:xfrm>
            <a:off x="2186623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9" name="Text 27"/>
          <p:cNvSpPr/>
          <p:nvPr/>
        </p:nvSpPr>
        <p:spPr>
          <a:xfrm>
            <a:off x="2252901" y="3434085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26677" y="3317875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30183" y="3394708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32" name="Shape 30"/>
          <p:cNvSpPr/>
          <p:nvPr/>
        </p:nvSpPr>
        <p:spPr>
          <a:xfrm>
            <a:off x="4025186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3" name="Text 31"/>
          <p:cNvSpPr/>
          <p:nvPr/>
        </p:nvSpPr>
        <p:spPr>
          <a:xfrm>
            <a:off x="4099242" y="3434085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465241" y="3317875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8746" y="3394708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36" name="Shape 34"/>
          <p:cNvSpPr/>
          <p:nvPr/>
        </p:nvSpPr>
        <p:spPr>
          <a:xfrm>
            <a:off x="5941060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7" name="Text 35"/>
          <p:cNvSpPr/>
          <p:nvPr/>
        </p:nvSpPr>
        <p:spPr>
          <a:xfrm>
            <a:off x="6007179" y="3434085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81115" y="3317875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84620" y="3394708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40" name="Shape 38"/>
          <p:cNvSpPr/>
          <p:nvPr/>
        </p:nvSpPr>
        <p:spPr>
          <a:xfrm>
            <a:off x="7522449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1" name="Text 39"/>
          <p:cNvSpPr/>
          <p:nvPr/>
        </p:nvSpPr>
        <p:spPr>
          <a:xfrm>
            <a:off x="7591108" y="3434085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9524" y="3896358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القسم عبارة عن متغير ........ ومقياسه ........</a:t>
            </a:r>
            <a:endParaRPr lang="ar-EG" sz="1600" dirty="0"/>
          </a:p>
        </p:txBody>
      </p:sp>
      <p:sp>
        <p:nvSpPr>
          <p:cNvPr id="43" name="Shape 41"/>
          <p:cNvSpPr/>
          <p:nvPr/>
        </p:nvSpPr>
        <p:spPr>
          <a:xfrm>
            <a:off x="11049000" y="3883658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44" name="Text 42"/>
          <p:cNvSpPr/>
          <p:nvPr/>
        </p:nvSpPr>
        <p:spPr>
          <a:xfrm>
            <a:off x="11136075" y="3966208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15975" y="4305933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9480" y="4382777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47" name="Shape 45"/>
          <p:cNvSpPr/>
          <p:nvPr/>
        </p:nvSpPr>
        <p:spPr>
          <a:xfrm>
            <a:off x="2186623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8" name="Text 46"/>
          <p:cNvSpPr/>
          <p:nvPr/>
        </p:nvSpPr>
        <p:spPr>
          <a:xfrm>
            <a:off x="2252901" y="4422142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626677" y="4305933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30183" y="4382777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51" name="Shape 49"/>
          <p:cNvSpPr/>
          <p:nvPr/>
        </p:nvSpPr>
        <p:spPr>
          <a:xfrm>
            <a:off x="4102497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52" name="Text 50"/>
          <p:cNvSpPr/>
          <p:nvPr/>
        </p:nvSpPr>
        <p:spPr>
          <a:xfrm>
            <a:off x="4176554" y="4422142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42552" y="4305933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46057" y="4382777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55" name="Shape 53"/>
          <p:cNvSpPr/>
          <p:nvPr/>
        </p:nvSpPr>
        <p:spPr>
          <a:xfrm>
            <a:off x="5941060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56" name="Text 54"/>
          <p:cNvSpPr/>
          <p:nvPr/>
        </p:nvSpPr>
        <p:spPr>
          <a:xfrm>
            <a:off x="6007179" y="4422142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81115" y="4305933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84620" y="4382777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59" name="Shape 57"/>
          <p:cNvSpPr/>
          <p:nvPr/>
        </p:nvSpPr>
        <p:spPr>
          <a:xfrm>
            <a:off x="7522449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0" name="Text 58"/>
          <p:cNvSpPr/>
          <p:nvPr/>
        </p:nvSpPr>
        <p:spPr>
          <a:xfrm>
            <a:off x="7591108" y="4422142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09524" y="4884427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المصروف الشهري عبارة عن متغير ........ ومقياسه ........</a:t>
            </a:r>
            <a:endParaRPr lang="ar-EG" sz="1600" dirty="0"/>
          </a:p>
        </p:txBody>
      </p:sp>
      <p:sp>
        <p:nvSpPr>
          <p:cNvPr id="62" name="Shape 60"/>
          <p:cNvSpPr/>
          <p:nvPr/>
        </p:nvSpPr>
        <p:spPr>
          <a:xfrm>
            <a:off x="11049000" y="4871727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63" name="Text 61"/>
          <p:cNvSpPr/>
          <p:nvPr/>
        </p:nvSpPr>
        <p:spPr>
          <a:xfrm>
            <a:off x="11136075" y="4954277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15975" y="5294002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19480" y="5370835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66" name="Shape 64"/>
          <p:cNvSpPr/>
          <p:nvPr/>
        </p:nvSpPr>
        <p:spPr>
          <a:xfrm>
            <a:off x="2186623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7" name="Text 65"/>
          <p:cNvSpPr/>
          <p:nvPr/>
        </p:nvSpPr>
        <p:spPr>
          <a:xfrm>
            <a:off x="2252901" y="5410200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626677" y="5294002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730183" y="5370835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70" name="Shape 68"/>
          <p:cNvSpPr/>
          <p:nvPr/>
        </p:nvSpPr>
        <p:spPr>
          <a:xfrm>
            <a:off x="3768011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1" name="Text 69"/>
          <p:cNvSpPr/>
          <p:nvPr/>
        </p:nvSpPr>
        <p:spPr>
          <a:xfrm>
            <a:off x="3842067" y="5410200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4208066" y="5294002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11571" y="5370835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74" name="Shape 72"/>
          <p:cNvSpPr/>
          <p:nvPr/>
        </p:nvSpPr>
        <p:spPr>
          <a:xfrm>
            <a:off x="5606574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5" name="Text 73"/>
          <p:cNvSpPr/>
          <p:nvPr/>
        </p:nvSpPr>
        <p:spPr>
          <a:xfrm>
            <a:off x="5672693" y="5410200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6046629" y="5294002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50134" y="5370835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78" name="Shape 76"/>
          <p:cNvSpPr/>
          <p:nvPr/>
        </p:nvSpPr>
        <p:spPr>
          <a:xfrm>
            <a:off x="7522449" y="5346700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79" name="Text 77"/>
          <p:cNvSpPr/>
          <p:nvPr/>
        </p:nvSpPr>
        <p:spPr>
          <a:xfrm>
            <a:off x="7591108" y="5410200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23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  <p:sp>
        <p:nvSpPr>
          <p:cNvPr id="82" name="Shape 13">
            <a:extLst>
              <a:ext uri="{FF2B5EF4-FFF2-40B4-BE49-F238E27FC236}">
                <a16:creationId xmlns:a16="http://schemas.microsoft.com/office/drawing/2014/main" id="{AE5D73A2-A207-5331-FD1C-5401FC192336}"/>
              </a:ext>
            </a:extLst>
          </p:cNvPr>
          <p:cNvSpPr/>
          <p:nvPr/>
        </p:nvSpPr>
        <p:spPr>
          <a:xfrm>
            <a:off x="4387929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3" name="Shape 32">
            <a:extLst>
              <a:ext uri="{FF2B5EF4-FFF2-40B4-BE49-F238E27FC236}">
                <a16:creationId xmlns:a16="http://schemas.microsoft.com/office/drawing/2014/main" id="{AFC3BB2E-FA2B-269F-F6D9-FF37147C9500}"/>
              </a:ext>
            </a:extLst>
          </p:cNvPr>
          <p:cNvSpPr/>
          <p:nvPr/>
        </p:nvSpPr>
        <p:spPr>
          <a:xfrm>
            <a:off x="4474315" y="3317875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5" name="Shape 47">
            <a:extLst>
              <a:ext uri="{FF2B5EF4-FFF2-40B4-BE49-F238E27FC236}">
                <a16:creationId xmlns:a16="http://schemas.microsoft.com/office/drawing/2014/main" id="{08643758-F777-3B50-1F0C-547847F0383F}"/>
              </a:ext>
            </a:extLst>
          </p:cNvPr>
          <p:cNvSpPr/>
          <p:nvPr/>
        </p:nvSpPr>
        <p:spPr>
          <a:xfrm>
            <a:off x="2626677" y="4305933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6" name="Shape 66">
            <a:extLst>
              <a:ext uri="{FF2B5EF4-FFF2-40B4-BE49-F238E27FC236}">
                <a16:creationId xmlns:a16="http://schemas.microsoft.com/office/drawing/2014/main" id="{636A0F4F-762F-3DE3-271B-F71CF7E0F4D4}"/>
              </a:ext>
            </a:extLst>
          </p:cNvPr>
          <p:cNvSpPr/>
          <p:nvPr/>
        </p:nvSpPr>
        <p:spPr>
          <a:xfrm>
            <a:off x="2635171" y="5294002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2 · الحل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الإجابات والتطبيق العملي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342"/>
            <a:ext cx="3556000" cy="228600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</p:spPr>
      </p:sp>
      <p:sp>
        <p:nvSpPr>
          <p:cNvPr id="5" name="Text 3"/>
          <p:cNvSpPr/>
          <p:nvPr/>
        </p:nvSpPr>
        <p:spPr>
          <a:xfrm>
            <a:off x="948436" y="2186942"/>
            <a:ext cx="319176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عملي على SPSS</a:t>
            </a:r>
            <a:endParaRPr lang="ar-EG" sz="1800" dirty="0"/>
          </a:p>
        </p:txBody>
      </p:sp>
      <p:sp>
        <p:nvSpPr>
          <p:cNvPr id="6" name="Text 4"/>
          <p:cNvSpPr/>
          <p:nvPr/>
        </p:nvSpPr>
        <p:spPr>
          <a:xfrm>
            <a:off x="961390" y="2599692"/>
            <a:ext cx="2747010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خصائص المتغيرات في Variable View، ثم خذ لقطة شاشة واضحة.</a:t>
            </a:r>
            <a:endParaRPr lang="ar-EG" sz="1400" dirty="0"/>
          </a:p>
        </p:txBody>
      </p:sp>
      <p:sp>
        <p:nvSpPr>
          <p:cNvPr id="7" name="Shape 5"/>
          <p:cNvSpPr/>
          <p:nvPr/>
        </p:nvSpPr>
        <p:spPr>
          <a:xfrm>
            <a:off x="3835400" y="259969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8" name="Text 6"/>
          <p:cNvSpPr/>
          <p:nvPr/>
        </p:nvSpPr>
        <p:spPr>
          <a:xfrm>
            <a:off x="3913823" y="2675892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1390" y="3500127"/>
            <a:ext cx="274701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Data View، ثم خذ لقطة شاشة واضحة.</a:t>
            </a:r>
            <a:endParaRPr lang="ar-EG" sz="1400" dirty="0"/>
          </a:p>
        </p:txBody>
      </p:sp>
      <p:sp>
        <p:nvSpPr>
          <p:cNvPr id="10" name="Shape 8"/>
          <p:cNvSpPr/>
          <p:nvPr/>
        </p:nvSpPr>
        <p:spPr>
          <a:xfrm>
            <a:off x="3835400" y="350012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1" name="Text 9"/>
          <p:cNvSpPr/>
          <p:nvPr/>
        </p:nvSpPr>
        <p:spPr>
          <a:xfrm>
            <a:off x="3913823" y="3576327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73600" y="1958342"/>
            <a:ext cx="6705600" cy="2155190"/>
          </a:xfrm>
          <a:custGeom>
            <a:avLst/>
            <a:gdLst/>
            <a:ahLst/>
            <a:cxnLst/>
            <a:rect l="l" t="t" r="r" b="b"/>
            <a:pathLst>
              <a:path w="6705600" h="2155190">
                <a:moveTo>
                  <a:pt x="6654800" y="0"/>
                </a:moveTo>
                <a:lnTo>
                  <a:pt x="6654800" y="0"/>
                </a:lnTo>
                <a:arcTo wR="50800" hR="50800" stAng="16200000" swAng="5400000"/>
                <a:lnTo>
                  <a:pt x="6705600" y="2104390"/>
                </a:lnTo>
                <a:arcTo wR="50800" hR="50800" stAng="0" swAng="5400000"/>
                <a:lnTo>
                  <a:pt x="50800" y="2155190"/>
                </a:lnTo>
                <a:arcTo wR="50800" hR="50800" stAng="5400000" swAng="5400000"/>
                <a:lnTo>
                  <a:pt x="0" y="2104390"/>
                </a:lnTo>
                <a:arcTo wR="50800" hR="44450" stAng="10800000" swAng="-5400000"/>
                <a:lnTo>
                  <a:pt x="6654800" y="2148840"/>
                </a:lnTo>
                <a:arcTo wR="44450" hR="44450" stAng="5400000" swAng="-5400000"/>
                <a:lnTo>
                  <a:pt x="6699250" y="50800"/>
                </a:lnTo>
                <a:arcTo wR="44450" hR="5080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3" name="Shape 11"/>
          <p:cNvSpPr/>
          <p:nvPr/>
        </p:nvSpPr>
        <p:spPr>
          <a:xfrm>
            <a:off x="4673600" y="1958342"/>
            <a:ext cx="6705600" cy="2155190"/>
          </a:xfrm>
          <a:custGeom>
            <a:avLst/>
            <a:gdLst/>
            <a:ahLst/>
            <a:cxnLst/>
            <a:rect l="l" t="t" r="r" b="b"/>
            <a:pathLst>
              <a:path w="6705600" h="2155190">
                <a:moveTo>
                  <a:pt x="50800" y="2155190"/>
                </a:moveTo>
                <a:lnTo>
                  <a:pt x="50800" y="215519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lnTo>
                  <a:pt x="6654800" y="0"/>
                </a:lnTo>
                <a:arcTo wR="50800" hR="50800" stAng="16200000" swAng="5400000"/>
                <a:lnTo>
                  <a:pt x="6705600" y="50800"/>
                </a:lnTo>
                <a:arcTo wR="50800" hR="40640" stAng="0" swAng="-5400000"/>
                <a:lnTo>
                  <a:pt x="50800" y="10160"/>
                </a:lnTo>
                <a:arcTo wR="40640" hR="40640" stAng="16200000" swAng="-5400000"/>
                <a:lnTo>
                  <a:pt x="10160" y="2104390"/>
                </a:lnTo>
                <a:arcTo wR="40640" hR="508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3760" y="1968502"/>
          <a:ext cx="6690360" cy="2139950"/>
        </p:xfrm>
        <a:graphic>
          <a:graphicData uri="http://schemas.openxmlformats.org/drawingml/2006/table">
            <a:tbl>
              <a:tblPr/>
              <a:tblGrid>
                <a:gridCol w="1204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1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47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الاختيار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المقياس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المتغير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ID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القسم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كمي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المصروف الشهري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22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570"/>
              </a:lnSpc>
              <a:buNone/>
            </a:pPr>
            <a:r>
              <a:rPr lang="ar-EG" sz="1121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3</a:t>
            </a:r>
            <a:endParaRPr lang="ar-EG" sz="1121" dirty="0"/>
          </a:p>
        </p:txBody>
      </p:sp>
      <p:sp>
        <p:nvSpPr>
          <p:cNvPr id="3" name="Text 1"/>
          <p:cNvSpPr/>
          <p:nvPr/>
        </p:nvSpPr>
        <p:spPr>
          <a:xfrm>
            <a:off x="495808" y="1111808"/>
            <a:ext cx="10883392" cy="511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3868"/>
              </a:lnSpc>
              <a:buNone/>
            </a:pPr>
            <a:r>
              <a:rPr lang="ar-EG" sz="3364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التحصيل الدراسي لـ 7 طلاب</a:t>
            </a:r>
            <a:endParaRPr lang="ar-EG" sz="3364" dirty="0"/>
          </a:p>
        </p:txBody>
      </p:sp>
      <p:sp>
        <p:nvSpPr>
          <p:cNvPr id="4" name="Text 2"/>
          <p:cNvSpPr/>
          <p:nvPr/>
        </p:nvSpPr>
        <p:spPr>
          <a:xfrm>
            <a:off x="495808" y="1826902"/>
            <a:ext cx="10883392" cy="3101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73"/>
              </a:lnSpc>
              <a:buNone/>
            </a:pPr>
            <a:r>
              <a:rPr lang="ar-EG" sz="1515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رقم الطالب (ID)، التخصص، عدد ساعات الدراسة أسبوعيًا، المصروف الشهري، ومستوى التحصيل الدراسي.</a:t>
            </a:r>
            <a:endParaRPr lang="ar-EG" sz="1515" dirty="0"/>
          </a:p>
        </p:txBody>
      </p:sp>
      <p:sp>
        <p:nvSpPr>
          <p:cNvPr id="5" name="Shape 3"/>
          <p:cNvSpPr/>
          <p:nvPr/>
        </p:nvSpPr>
        <p:spPr>
          <a:xfrm>
            <a:off x="812800" y="2340297"/>
            <a:ext cx="3048000" cy="2249170"/>
          </a:xfrm>
          <a:prstGeom prst="roundRect">
            <a:avLst>
              <a:gd name="adj" fmla="val 4517"/>
            </a:avLst>
          </a:prstGeom>
          <a:solidFill>
            <a:srgbClr val="FBEBD0"/>
          </a:solidFill>
          <a:ln/>
        </p:spPr>
      </p:sp>
      <p:sp>
        <p:nvSpPr>
          <p:cNvPr id="6" name="Text 4"/>
          <p:cNvSpPr/>
          <p:nvPr/>
        </p:nvSpPr>
        <p:spPr>
          <a:xfrm>
            <a:off x="963676" y="2568897"/>
            <a:ext cx="266852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المطلوب</a:t>
            </a:r>
            <a:endParaRPr lang="ar-EG" sz="1800" dirty="0"/>
          </a:p>
        </p:txBody>
      </p:sp>
      <p:sp>
        <p:nvSpPr>
          <p:cNvPr id="7" name="Text 5"/>
          <p:cNvSpPr/>
          <p:nvPr/>
        </p:nvSpPr>
        <p:spPr>
          <a:xfrm>
            <a:off x="976630" y="2981647"/>
            <a:ext cx="22237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كل متغير ومقياسه.</a:t>
            </a:r>
            <a:endParaRPr lang="ar-EG" sz="1400" dirty="0"/>
          </a:p>
        </p:txBody>
      </p:sp>
      <p:sp>
        <p:nvSpPr>
          <p:cNvPr id="8" name="Shape 6"/>
          <p:cNvSpPr/>
          <p:nvPr/>
        </p:nvSpPr>
        <p:spPr>
          <a:xfrm>
            <a:off x="3327400" y="298164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9" name="Text 7"/>
          <p:cNvSpPr/>
          <p:nvPr/>
        </p:nvSpPr>
        <p:spPr>
          <a:xfrm>
            <a:off x="3405823" y="3057847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76630" y="3413447"/>
            <a:ext cx="2223770" cy="2832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SPSS.</a:t>
            </a:r>
            <a:endParaRPr lang="ar-EG" sz="1400" dirty="0"/>
          </a:p>
        </p:txBody>
      </p:sp>
      <p:sp>
        <p:nvSpPr>
          <p:cNvPr id="11" name="Shape 9"/>
          <p:cNvSpPr/>
          <p:nvPr/>
        </p:nvSpPr>
        <p:spPr>
          <a:xfrm>
            <a:off x="3327400" y="341344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2" name="Text 10"/>
          <p:cNvSpPr/>
          <p:nvPr/>
        </p:nvSpPr>
        <p:spPr>
          <a:xfrm>
            <a:off x="3405823" y="3489647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6630" y="3845247"/>
            <a:ext cx="22237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خذ لقطتي شاشة: Variable View و Data View.</a:t>
            </a:r>
            <a:endParaRPr lang="ar-EG" sz="1400" dirty="0"/>
          </a:p>
        </p:txBody>
      </p:sp>
      <p:sp>
        <p:nvSpPr>
          <p:cNvPr id="14" name="Shape 12"/>
          <p:cNvSpPr/>
          <p:nvPr/>
        </p:nvSpPr>
        <p:spPr>
          <a:xfrm>
            <a:off x="3327400" y="384524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5" name="Text 13"/>
          <p:cNvSpPr/>
          <p:nvPr/>
        </p:nvSpPr>
        <p:spPr>
          <a:xfrm>
            <a:off x="3405823" y="3921447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5600" y="2340297"/>
            <a:ext cx="7213600" cy="3747770"/>
          </a:xfrm>
          <a:custGeom>
            <a:avLst/>
            <a:gdLst/>
            <a:ahLst/>
            <a:cxnLst/>
            <a:rect l="l" t="t" r="r" b="b"/>
            <a:pathLst>
              <a:path w="7213600" h="3747770">
                <a:moveTo>
                  <a:pt x="7162800" y="0"/>
                </a:moveTo>
                <a:lnTo>
                  <a:pt x="7162800" y="0"/>
                </a:lnTo>
                <a:arcTo wR="50800" hR="50800" stAng="16200000" swAng="5400000"/>
                <a:lnTo>
                  <a:pt x="7213600" y="3696970"/>
                </a:lnTo>
                <a:arcTo wR="50800" hR="50800" stAng="0" swAng="5400000"/>
                <a:lnTo>
                  <a:pt x="50800" y="3747770"/>
                </a:lnTo>
                <a:arcTo wR="50800" hR="50800" stAng="5400000" swAng="5400000"/>
                <a:lnTo>
                  <a:pt x="0" y="3696970"/>
                </a:lnTo>
                <a:arcTo wR="50800" hR="44450" stAng="10800000" swAng="-5400000"/>
                <a:lnTo>
                  <a:pt x="7162800" y="3741420"/>
                </a:lnTo>
                <a:arcTo wR="44450" hR="44450" stAng="5400000" swAng="-5400000"/>
                <a:lnTo>
                  <a:pt x="7207250" y="50800"/>
                </a:lnTo>
                <a:arcTo wR="44450" hR="5080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7" name="Shape 15"/>
          <p:cNvSpPr/>
          <p:nvPr/>
        </p:nvSpPr>
        <p:spPr>
          <a:xfrm>
            <a:off x="4165600" y="2340297"/>
            <a:ext cx="7213600" cy="3747770"/>
          </a:xfrm>
          <a:custGeom>
            <a:avLst/>
            <a:gdLst/>
            <a:ahLst/>
            <a:cxnLst/>
            <a:rect l="l" t="t" r="r" b="b"/>
            <a:pathLst>
              <a:path w="7213600" h="3747770">
                <a:moveTo>
                  <a:pt x="50800" y="3747770"/>
                </a:moveTo>
                <a:lnTo>
                  <a:pt x="50800" y="374777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lnTo>
                  <a:pt x="7162800" y="0"/>
                </a:lnTo>
                <a:arcTo wR="50800" hR="50800" stAng="16200000" swAng="5400000"/>
                <a:lnTo>
                  <a:pt x="7213600" y="50800"/>
                </a:lnTo>
                <a:arcTo wR="50800" hR="40640" stAng="0" swAng="-5400000"/>
                <a:lnTo>
                  <a:pt x="50800" y="10160"/>
                </a:lnTo>
                <a:arcTo wR="40640" hR="40640" stAng="16200000" swAng="-5400000"/>
                <a:lnTo>
                  <a:pt x="10160" y="3696970"/>
                </a:lnTo>
                <a:arcTo wR="40640" hR="508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75760" y="2350457"/>
          <a:ext cx="7198359" cy="3732530"/>
        </p:xfrm>
        <a:graphic>
          <a:graphicData uri="http://schemas.openxmlformats.org/drawingml/2006/table">
            <a:tbl>
              <a:tblPr/>
              <a:tblGrid>
                <a:gridCol w="1727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3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3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7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77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5661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مستوى التحصيل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المصروف الشهري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ساعات الدراسة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التخصص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رقم الطالب (ID)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متوسط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2000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علوم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منخفض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2500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آداب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مرتفع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3000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تجارة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مرتفع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2200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علوم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متوسط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2800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آداب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5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مرتفع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3500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14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تجارة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6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0845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متوسط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1800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9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820"/>
                        </a:lnSpc>
                        <a:buNone/>
                      </a:pPr>
                      <a:r>
                        <a:rPr lang="ar-EG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علوم</a:t>
                      </a:r>
                      <a:endParaRPr lang="ar-EG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7</a:t>
                      </a:r>
                      <a:endParaRPr lang="en-US" sz="13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25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3 · الأسئلة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المتغير ومقياسه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رقم الطالب (ID) عبارة عن متغير ........ ومقياسه ........</a:t>
            </a:r>
            <a:endParaRPr lang="ar-EG" sz="1600" dirty="0"/>
          </a:p>
        </p:txBody>
      </p:sp>
      <p:sp>
        <p:nvSpPr>
          <p:cNvPr id="5" name="Shape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6" name="Text 4"/>
          <p:cNvSpPr/>
          <p:nvPr/>
        </p:nvSpPr>
        <p:spPr>
          <a:xfrm>
            <a:off x="11136075" y="1990092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5975" y="2329817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9480" y="2406650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9" name="Shape 7"/>
          <p:cNvSpPr/>
          <p:nvPr/>
        </p:nvSpPr>
        <p:spPr>
          <a:xfrm>
            <a:off x="2214483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0" name="Text 8"/>
          <p:cNvSpPr/>
          <p:nvPr/>
        </p:nvSpPr>
        <p:spPr>
          <a:xfrm>
            <a:off x="2280761" y="2446027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54538" y="2329817"/>
            <a:ext cx="1625441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58043" y="2406650"/>
            <a:ext cx="1100931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Ordinal</a:t>
            </a:r>
            <a:endParaRPr lang="ar-EG" sz="1400" dirty="0"/>
          </a:p>
        </p:txBody>
      </p:sp>
      <p:sp>
        <p:nvSpPr>
          <p:cNvPr id="13" name="Shape 11"/>
          <p:cNvSpPr/>
          <p:nvPr/>
        </p:nvSpPr>
        <p:spPr>
          <a:xfrm>
            <a:off x="3947875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4" name="Text 12"/>
          <p:cNvSpPr/>
          <p:nvPr/>
        </p:nvSpPr>
        <p:spPr>
          <a:xfrm>
            <a:off x="4021931" y="2446027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7929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91434" y="2406650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17" name="Shape 15"/>
          <p:cNvSpPr/>
          <p:nvPr/>
        </p:nvSpPr>
        <p:spPr>
          <a:xfrm>
            <a:off x="5863749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8" name="Text 16"/>
          <p:cNvSpPr/>
          <p:nvPr/>
        </p:nvSpPr>
        <p:spPr>
          <a:xfrm>
            <a:off x="5929868" y="2446027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3804" y="2329817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7309" y="2406650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21" name="Shape 19"/>
          <p:cNvSpPr/>
          <p:nvPr/>
        </p:nvSpPr>
        <p:spPr>
          <a:xfrm>
            <a:off x="7445137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2" name="Text 20"/>
          <p:cNvSpPr/>
          <p:nvPr/>
        </p:nvSpPr>
        <p:spPr>
          <a:xfrm>
            <a:off x="7513796" y="2446027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التخصص عبارة عن متغير ........ ومقياسه ........</a:t>
            </a:r>
            <a:endParaRPr lang="ar-EG" sz="1600" dirty="0"/>
          </a:p>
        </p:txBody>
      </p:sp>
      <p:sp>
        <p:nvSpPr>
          <p:cNvPr id="24" name="Shape 22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6075" y="2978150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5975" y="3317875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9480" y="3394708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28" name="Shape 26"/>
          <p:cNvSpPr/>
          <p:nvPr/>
        </p:nvSpPr>
        <p:spPr>
          <a:xfrm>
            <a:off x="2186623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9" name="Text 27"/>
          <p:cNvSpPr/>
          <p:nvPr/>
        </p:nvSpPr>
        <p:spPr>
          <a:xfrm>
            <a:off x="2252901" y="3434085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26677" y="3317875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30183" y="3394708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32" name="Shape 30"/>
          <p:cNvSpPr/>
          <p:nvPr/>
        </p:nvSpPr>
        <p:spPr>
          <a:xfrm>
            <a:off x="4102497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3" name="Text 31"/>
          <p:cNvSpPr/>
          <p:nvPr/>
        </p:nvSpPr>
        <p:spPr>
          <a:xfrm>
            <a:off x="4176554" y="3434085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42552" y="3317875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46057" y="3394708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36" name="Shape 34"/>
          <p:cNvSpPr/>
          <p:nvPr/>
        </p:nvSpPr>
        <p:spPr>
          <a:xfrm>
            <a:off x="5941060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7" name="Text 35"/>
          <p:cNvSpPr/>
          <p:nvPr/>
        </p:nvSpPr>
        <p:spPr>
          <a:xfrm>
            <a:off x="6007179" y="3434085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81115" y="3317875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84620" y="3394708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40" name="Shape 38"/>
          <p:cNvSpPr/>
          <p:nvPr/>
        </p:nvSpPr>
        <p:spPr>
          <a:xfrm>
            <a:off x="7522449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1" name="Text 39"/>
          <p:cNvSpPr/>
          <p:nvPr/>
        </p:nvSpPr>
        <p:spPr>
          <a:xfrm>
            <a:off x="7591108" y="3434085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09524" y="3896358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عدد ساعات الدراسة أسبوعيًا عبارة عن متغير ........ ومقياسه ........</a:t>
            </a:r>
            <a:endParaRPr lang="ar-EG" sz="1600" dirty="0"/>
          </a:p>
        </p:txBody>
      </p:sp>
      <p:sp>
        <p:nvSpPr>
          <p:cNvPr id="43" name="Shape 41"/>
          <p:cNvSpPr/>
          <p:nvPr/>
        </p:nvSpPr>
        <p:spPr>
          <a:xfrm>
            <a:off x="11049000" y="3883658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44" name="Text 42"/>
          <p:cNvSpPr/>
          <p:nvPr/>
        </p:nvSpPr>
        <p:spPr>
          <a:xfrm>
            <a:off x="11136075" y="3966208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815975" y="4305933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9480" y="4382777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47" name="Shape 45"/>
          <p:cNvSpPr/>
          <p:nvPr/>
        </p:nvSpPr>
        <p:spPr>
          <a:xfrm>
            <a:off x="2186623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8" name="Text 46"/>
          <p:cNvSpPr/>
          <p:nvPr/>
        </p:nvSpPr>
        <p:spPr>
          <a:xfrm>
            <a:off x="2252901" y="4422142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626677" y="4305933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730183" y="4382777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51" name="Shape 49"/>
          <p:cNvSpPr/>
          <p:nvPr/>
        </p:nvSpPr>
        <p:spPr>
          <a:xfrm>
            <a:off x="4025186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52" name="Text 50"/>
          <p:cNvSpPr/>
          <p:nvPr/>
        </p:nvSpPr>
        <p:spPr>
          <a:xfrm>
            <a:off x="4099242" y="4422142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465241" y="4305933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8746" y="4382777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55" name="Shape 53"/>
          <p:cNvSpPr/>
          <p:nvPr/>
        </p:nvSpPr>
        <p:spPr>
          <a:xfrm>
            <a:off x="5606574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56" name="Text 54"/>
          <p:cNvSpPr/>
          <p:nvPr/>
        </p:nvSpPr>
        <p:spPr>
          <a:xfrm>
            <a:off x="5672693" y="4422142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046629" y="4305933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150134" y="4382777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59" name="Shape 57"/>
          <p:cNvSpPr/>
          <p:nvPr/>
        </p:nvSpPr>
        <p:spPr>
          <a:xfrm>
            <a:off x="7522449" y="4358642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60" name="Text 58"/>
          <p:cNvSpPr/>
          <p:nvPr/>
        </p:nvSpPr>
        <p:spPr>
          <a:xfrm>
            <a:off x="7591108" y="4422142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26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  <p:sp>
        <p:nvSpPr>
          <p:cNvPr id="63" name="Shape 13">
            <a:extLst>
              <a:ext uri="{FF2B5EF4-FFF2-40B4-BE49-F238E27FC236}">
                <a16:creationId xmlns:a16="http://schemas.microsoft.com/office/drawing/2014/main" id="{FAAB9ED4-1EF7-05E1-C786-A24A33E4DF6E}"/>
              </a:ext>
            </a:extLst>
          </p:cNvPr>
          <p:cNvSpPr/>
          <p:nvPr/>
        </p:nvSpPr>
        <p:spPr>
          <a:xfrm>
            <a:off x="4379983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5" name="Shape 28">
            <a:extLst>
              <a:ext uri="{FF2B5EF4-FFF2-40B4-BE49-F238E27FC236}">
                <a16:creationId xmlns:a16="http://schemas.microsoft.com/office/drawing/2014/main" id="{D65E321E-D556-04EE-8F2A-CB11BECCB81F}"/>
              </a:ext>
            </a:extLst>
          </p:cNvPr>
          <p:cNvSpPr/>
          <p:nvPr/>
        </p:nvSpPr>
        <p:spPr>
          <a:xfrm>
            <a:off x="2634573" y="3317875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6" name="Shape 51">
            <a:extLst>
              <a:ext uri="{FF2B5EF4-FFF2-40B4-BE49-F238E27FC236}">
                <a16:creationId xmlns:a16="http://schemas.microsoft.com/office/drawing/2014/main" id="{4BFC1B3B-E25A-E5D3-D258-B386173F60C8}"/>
              </a:ext>
            </a:extLst>
          </p:cNvPr>
          <p:cNvSpPr/>
          <p:nvPr/>
        </p:nvSpPr>
        <p:spPr>
          <a:xfrm>
            <a:off x="4476587" y="4309672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3 · الأسئلة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حدّد نوع المتغير ومقياسه</a:t>
            </a:r>
            <a:endParaRPr lang="ar-EG" sz="3600" dirty="0"/>
          </a:p>
        </p:txBody>
      </p:sp>
      <p:sp>
        <p:nvSpPr>
          <p:cNvPr id="4" name="Text 2"/>
          <p:cNvSpPr/>
          <p:nvPr/>
        </p:nvSpPr>
        <p:spPr>
          <a:xfrm>
            <a:off x="509524" y="1920242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المصروف الشهري عبارة عن متغير ........ ومقياسه ........</a:t>
            </a:r>
            <a:endParaRPr lang="ar-EG" sz="1600" dirty="0"/>
          </a:p>
        </p:txBody>
      </p:sp>
      <p:sp>
        <p:nvSpPr>
          <p:cNvPr id="5" name="Shape 3"/>
          <p:cNvSpPr/>
          <p:nvPr/>
        </p:nvSpPr>
        <p:spPr>
          <a:xfrm>
            <a:off x="11049000" y="1907542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6" name="Text 4"/>
          <p:cNvSpPr/>
          <p:nvPr/>
        </p:nvSpPr>
        <p:spPr>
          <a:xfrm>
            <a:off x="11136075" y="1990092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5975" y="2329817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9480" y="2406650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9" name="Shape 7"/>
          <p:cNvSpPr/>
          <p:nvPr/>
        </p:nvSpPr>
        <p:spPr>
          <a:xfrm>
            <a:off x="2186623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0" name="Text 8"/>
          <p:cNvSpPr/>
          <p:nvPr/>
        </p:nvSpPr>
        <p:spPr>
          <a:xfrm>
            <a:off x="2252901" y="2446027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26677" y="2329817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30183" y="2406650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13" name="Shape 11"/>
          <p:cNvSpPr/>
          <p:nvPr/>
        </p:nvSpPr>
        <p:spPr>
          <a:xfrm>
            <a:off x="3768011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4" name="Text 12"/>
          <p:cNvSpPr/>
          <p:nvPr/>
        </p:nvSpPr>
        <p:spPr>
          <a:xfrm>
            <a:off x="3842067" y="2446027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8066" y="2329817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11571" y="2406650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17" name="Shape 15"/>
          <p:cNvSpPr/>
          <p:nvPr/>
        </p:nvSpPr>
        <p:spPr>
          <a:xfrm>
            <a:off x="5606574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18" name="Text 16"/>
          <p:cNvSpPr/>
          <p:nvPr/>
        </p:nvSpPr>
        <p:spPr>
          <a:xfrm>
            <a:off x="5672693" y="2446027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46629" y="2329817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50134" y="2406650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21" name="Shape 19"/>
          <p:cNvSpPr/>
          <p:nvPr/>
        </p:nvSpPr>
        <p:spPr>
          <a:xfrm>
            <a:off x="7522449" y="2382527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2" name="Text 20"/>
          <p:cNvSpPr/>
          <p:nvPr/>
        </p:nvSpPr>
        <p:spPr>
          <a:xfrm>
            <a:off x="7591108" y="2446027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524" y="2908300"/>
            <a:ext cx="104124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400"/>
              </a:lnSpc>
              <a:buNone/>
            </a:pPr>
            <a:r>
              <a:rPr lang="ar-EG" sz="16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متغير مستوى التحصيل الدراسي عبارة عن متغير ........ ومقياسه ........</a:t>
            </a:r>
            <a:endParaRPr lang="ar-EG" sz="1600" dirty="0"/>
          </a:p>
        </p:txBody>
      </p:sp>
      <p:sp>
        <p:nvSpPr>
          <p:cNvPr id="24" name="Shape 22"/>
          <p:cNvSpPr/>
          <p:nvPr/>
        </p:nvSpPr>
        <p:spPr>
          <a:xfrm>
            <a:off x="11049000" y="2895600"/>
            <a:ext cx="330200" cy="330200"/>
          </a:xfrm>
          <a:prstGeom prst="roundRect">
            <a:avLst>
              <a:gd name="adj" fmla="val 50000"/>
            </a:avLst>
          </a:prstGeom>
          <a:solidFill>
            <a:srgbClr val="14233A"/>
          </a:solidFill>
          <a:ln/>
        </p:spPr>
      </p:sp>
      <p:sp>
        <p:nvSpPr>
          <p:cNvPr id="25" name="Text 23"/>
          <p:cNvSpPr/>
          <p:nvPr/>
        </p:nvSpPr>
        <p:spPr>
          <a:xfrm>
            <a:off x="11136075" y="2978150"/>
            <a:ext cx="15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5975" y="3317875"/>
            <a:ext cx="1702752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9480" y="3394708"/>
            <a:ext cx="117824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Nominal</a:t>
            </a:r>
            <a:endParaRPr lang="ar-EG" sz="1400" dirty="0"/>
          </a:p>
        </p:txBody>
      </p:sp>
      <p:sp>
        <p:nvSpPr>
          <p:cNvPr id="28" name="Shape 26"/>
          <p:cNvSpPr/>
          <p:nvPr/>
        </p:nvSpPr>
        <p:spPr>
          <a:xfrm>
            <a:off x="2186623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29" name="Text 27"/>
          <p:cNvSpPr/>
          <p:nvPr/>
        </p:nvSpPr>
        <p:spPr>
          <a:xfrm>
            <a:off x="2252901" y="3434085"/>
            <a:ext cx="14676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26677" y="3317875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30183" y="3394708"/>
            <a:ext cx="1206103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Ordinal</a:t>
            </a:r>
            <a:endParaRPr lang="ar-EG" sz="1400" dirty="0"/>
          </a:p>
        </p:txBody>
      </p:sp>
      <p:sp>
        <p:nvSpPr>
          <p:cNvPr id="32" name="Shape 30"/>
          <p:cNvSpPr/>
          <p:nvPr/>
        </p:nvSpPr>
        <p:spPr>
          <a:xfrm>
            <a:off x="4025186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3" name="Text 31"/>
          <p:cNvSpPr/>
          <p:nvPr/>
        </p:nvSpPr>
        <p:spPr>
          <a:xfrm>
            <a:off x="4099242" y="3434085"/>
            <a:ext cx="131207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465241" y="3317875"/>
            <a:ext cx="1807924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68746" y="3394708"/>
            <a:ext cx="1283414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وصفي، Nominal</a:t>
            </a:r>
            <a:endParaRPr lang="ar-EG" sz="1400" dirty="0"/>
          </a:p>
        </p:txBody>
      </p:sp>
      <p:sp>
        <p:nvSpPr>
          <p:cNvPr id="36" name="Shape 34"/>
          <p:cNvSpPr/>
          <p:nvPr/>
        </p:nvSpPr>
        <p:spPr>
          <a:xfrm>
            <a:off x="5941060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37" name="Text 35"/>
          <p:cNvSpPr/>
          <p:nvPr/>
        </p:nvSpPr>
        <p:spPr>
          <a:xfrm>
            <a:off x="6007179" y="3434085"/>
            <a:ext cx="14716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81115" y="3317875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FFFDF8"/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84620" y="3394708"/>
            <a:ext cx="948928" cy="2565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r" rtl="1">
              <a:lnSpc>
                <a:spcPts val="1820"/>
              </a:lnSpc>
              <a:buNone/>
            </a:pPr>
            <a:r>
              <a:rPr lang="ar-EG" sz="1400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كمي، Scale</a:t>
            </a:r>
            <a:endParaRPr lang="ar-EG" sz="1400" dirty="0"/>
          </a:p>
        </p:txBody>
      </p:sp>
      <p:sp>
        <p:nvSpPr>
          <p:cNvPr id="40" name="Shape 38"/>
          <p:cNvSpPr/>
          <p:nvPr/>
        </p:nvSpPr>
        <p:spPr>
          <a:xfrm>
            <a:off x="7522449" y="337058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/>
        </p:spPr>
      </p:sp>
      <p:sp>
        <p:nvSpPr>
          <p:cNvPr id="41" name="Text 39"/>
          <p:cNvSpPr/>
          <p:nvPr/>
        </p:nvSpPr>
        <p:spPr>
          <a:xfrm>
            <a:off x="7591108" y="3434085"/>
            <a:ext cx="142081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1E5AA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  <p:sp>
        <p:nvSpPr>
          <p:cNvPr id="44" name="Shape 28">
            <a:extLst>
              <a:ext uri="{FF2B5EF4-FFF2-40B4-BE49-F238E27FC236}">
                <a16:creationId xmlns:a16="http://schemas.microsoft.com/office/drawing/2014/main" id="{9B2F37CD-E416-77E1-8874-C31CB4A048DD}"/>
              </a:ext>
            </a:extLst>
          </p:cNvPr>
          <p:cNvSpPr/>
          <p:nvPr/>
        </p:nvSpPr>
        <p:spPr>
          <a:xfrm>
            <a:off x="2626677" y="3327101"/>
            <a:ext cx="1730613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45" name="Shape 9">
            <a:extLst>
              <a:ext uri="{FF2B5EF4-FFF2-40B4-BE49-F238E27FC236}">
                <a16:creationId xmlns:a16="http://schemas.microsoft.com/office/drawing/2014/main" id="{D46A42C5-083C-792D-BBC2-4FF2C1980CAA}"/>
              </a:ext>
            </a:extLst>
          </p:cNvPr>
          <p:cNvSpPr/>
          <p:nvPr/>
        </p:nvSpPr>
        <p:spPr>
          <a:xfrm>
            <a:off x="2626677" y="2329817"/>
            <a:ext cx="1473438" cy="384810"/>
          </a:xfrm>
          <a:prstGeom prst="roundRect">
            <a:avLst>
              <a:gd name="adj" fmla="val 50000"/>
            </a:avLst>
          </a:prstGeom>
          <a:solidFill>
            <a:srgbClr val="222A35">
              <a:alpha val="20000"/>
            </a:srgbClr>
          </a:solidFill>
          <a:ln w="6350">
            <a:solidFill>
              <a:srgbClr val="D8D2C4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تمرين 3 · الحل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الإجابات والتطبيق العملي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342"/>
            <a:ext cx="3556000" cy="2286000"/>
          </a:xfrm>
          <a:prstGeom prst="roundRect">
            <a:avLst>
              <a:gd name="adj" fmla="val 4444"/>
            </a:avLst>
          </a:prstGeom>
          <a:solidFill>
            <a:srgbClr val="FBEBD0"/>
          </a:solidFill>
          <a:ln/>
        </p:spPr>
      </p:sp>
      <p:sp>
        <p:nvSpPr>
          <p:cNvPr id="5" name="Text 3"/>
          <p:cNvSpPr/>
          <p:nvPr/>
        </p:nvSpPr>
        <p:spPr>
          <a:xfrm>
            <a:off x="948436" y="2186942"/>
            <a:ext cx="3191764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250"/>
              </a:lnSpc>
              <a:buNone/>
            </a:pPr>
            <a:r>
              <a:rPr lang="ar-EG" sz="1800" b="1" dirty="0">
                <a:solidFill>
                  <a:srgbClr val="9A5B0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 عملي على SPSS</a:t>
            </a:r>
            <a:endParaRPr lang="ar-EG" sz="1800" dirty="0"/>
          </a:p>
        </p:txBody>
      </p:sp>
      <p:sp>
        <p:nvSpPr>
          <p:cNvPr id="6" name="Text 4"/>
          <p:cNvSpPr/>
          <p:nvPr/>
        </p:nvSpPr>
        <p:spPr>
          <a:xfrm>
            <a:off x="961390" y="2599692"/>
            <a:ext cx="2747010" cy="79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خصائص المتغيرات في Variable View، ثم خذ لقطة شاشة واضحة.</a:t>
            </a:r>
            <a:endParaRPr lang="ar-EG" sz="1400" dirty="0"/>
          </a:p>
        </p:txBody>
      </p:sp>
      <p:sp>
        <p:nvSpPr>
          <p:cNvPr id="7" name="Shape 5"/>
          <p:cNvSpPr/>
          <p:nvPr/>
        </p:nvSpPr>
        <p:spPr>
          <a:xfrm>
            <a:off x="3835400" y="259969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8" name="Text 6"/>
          <p:cNvSpPr/>
          <p:nvPr/>
        </p:nvSpPr>
        <p:spPr>
          <a:xfrm>
            <a:off x="3913823" y="2675892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1390" y="3500127"/>
            <a:ext cx="274701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030"/>
              </a:lnSpc>
              <a:buNone/>
            </a:pPr>
            <a:r>
              <a:rPr lang="ar-EG" sz="1400" dirty="0">
                <a:solidFill>
                  <a:srgbClr val="46546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أدخل البيانات في Data View، ثم خذ لقطة شاشة واضحة.</a:t>
            </a:r>
            <a:endParaRPr lang="ar-EG" sz="1400" dirty="0"/>
          </a:p>
        </p:txBody>
      </p:sp>
      <p:sp>
        <p:nvSpPr>
          <p:cNvPr id="10" name="Shape 8"/>
          <p:cNvSpPr/>
          <p:nvPr/>
        </p:nvSpPr>
        <p:spPr>
          <a:xfrm>
            <a:off x="3835400" y="350012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5AA8"/>
          </a:solidFill>
          <a:ln/>
        </p:spPr>
      </p:sp>
      <p:sp>
        <p:nvSpPr>
          <p:cNvPr id="11" name="Text 9"/>
          <p:cNvSpPr/>
          <p:nvPr/>
        </p:nvSpPr>
        <p:spPr>
          <a:xfrm>
            <a:off x="3913823" y="3576327"/>
            <a:ext cx="1478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FFFD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73600" y="1958342"/>
            <a:ext cx="6705600" cy="2823210"/>
          </a:xfrm>
          <a:custGeom>
            <a:avLst/>
            <a:gdLst/>
            <a:ahLst/>
            <a:cxnLst/>
            <a:rect l="l" t="t" r="r" b="b"/>
            <a:pathLst>
              <a:path w="6705600" h="2823210">
                <a:moveTo>
                  <a:pt x="6654800" y="0"/>
                </a:moveTo>
                <a:lnTo>
                  <a:pt x="6654800" y="0"/>
                </a:lnTo>
                <a:arcTo wR="50800" hR="50800" stAng="16200000" swAng="5400000"/>
                <a:lnTo>
                  <a:pt x="6705600" y="2772410"/>
                </a:lnTo>
                <a:arcTo wR="50800" hR="50800" stAng="0" swAng="5400000"/>
                <a:lnTo>
                  <a:pt x="50800" y="2823210"/>
                </a:lnTo>
                <a:arcTo wR="50800" hR="50800" stAng="5400000" swAng="5400000"/>
                <a:lnTo>
                  <a:pt x="0" y="2772410"/>
                </a:lnTo>
                <a:arcTo wR="50800" hR="44450" stAng="10800000" swAng="-5400000"/>
                <a:lnTo>
                  <a:pt x="6654800" y="2816860"/>
                </a:lnTo>
                <a:arcTo wR="44450" hR="44450" stAng="5400000" swAng="-5400000"/>
                <a:lnTo>
                  <a:pt x="6699250" y="50800"/>
                </a:lnTo>
                <a:arcTo wR="44450" hR="50800" stAng="0" swAng="-5400000"/>
                <a:close/>
              </a:path>
            </a:pathLst>
          </a:custGeom>
          <a:solidFill>
            <a:srgbClr val="D8D2C4"/>
          </a:solidFill>
          <a:ln/>
        </p:spPr>
      </p:sp>
      <p:sp>
        <p:nvSpPr>
          <p:cNvPr id="13" name="Shape 11"/>
          <p:cNvSpPr/>
          <p:nvPr/>
        </p:nvSpPr>
        <p:spPr>
          <a:xfrm>
            <a:off x="4673600" y="1958342"/>
            <a:ext cx="6705600" cy="2823210"/>
          </a:xfrm>
          <a:custGeom>
            <a:avLst/>
            <a:gdLst/>
            <a:ahLst/>
            <a:cxnLst/>
            <a:rect l="l" t="t" r="r" b="b"/>
            <a:pathLst>
              <a:path w="6705600" h="2823210">
                <a:moveTo>
                  <a:pt x="50800" y="2823210"/>
                </a:moveTo>
                <a:lnTo>
                  <a:pt x="50800" y="2823210"/>
                </a:lnTo>
                <a:arcTo wR="50800" hR="50800" stAng="5400000" swAng="5400000"/>
                <a:lnTo>
                  <a:pt x="0" y="50800"/>
                </a:lnTo>
                <a:arcTo wR="50800" hR="50800" stAng="10800000" swAng="5400000"/>
                <a:lnTo>
                  <a:pt x="6654800" y="0"/>
                </a:lnTo>
                <a:arcTo wR="50800" hR="50800" stAng="16200000" swAng="5400000"/>
                <a:lnTo>
                  <a:pt x="6705600" y="50800"/>
                </a:lnTo>
                <a:arcTo wR="50800" hR="40640" stAng="0" swAng="-5400000"/>
                <a:lnTo>
                  <a:pt x="50800" y="10160"/>
                </a:lnTo>
                <a:arcTo wR="40640" hR="40640" stAng="16200000" swAng="-5400000"/>
                <a:lnTo>
                  <a:pt x="10160" y="2772410"/>
                </a:lnTo>
                <a:arcTo wR="40640" hR="508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83760" y="1968502"/>
          <a:ext cx="6690360" cy="2807970"/>
        </p:xfrm>
        <a:graphic>
          <a:graphicData uri="http://schemas.openxmlformats.org/drawingml/2006/table">
            <a:tbl>
              <a:tblPr/>
              <a:tblGrid>
                <a:gridCol w="12042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1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747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7990"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الاختيار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المقياس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النوع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b="1" dirty="0">
                          <a:solidFill>
                            <a:srgbClr val="F6F4EF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المتغير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ID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203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Nominal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التخصص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802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b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كمي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عدد ساعات الدراسة أسبوعيًا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Scale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كمي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المصروف الشهري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8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7990">
                <a:tc>
                  <a:txBody>
                    <a:bodyPr/>
                    <a:lstStyle/>
                    <a:p>
                      <a:pPr marL="0" indent="0" algn="ct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c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Ordinal</a:t>
                      </a:r>
                      <a:endParaRPr lang="en-US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وصفي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ts val="1960"/>
                        </a:lnSpc>
                        <a:buNone/>
                      </a:pPr>
                      <a:r>
                        <a:rPr lang="ar-EG" sz="1400" dirty="0">
                          <a:solidFill>
                            <a:srgbClr val="14233A"/>
                          </a:solidFill>
                          <a:latin typeface="Tahoma" pitchFamily="34" charset="0"/>
                          <a:ea typeface="Tahoma" pitchFamily="34" charset="-122"/>
                          <a:cs typeface="Tahoma" pitchFamily="34" charset="-120"/>
                        </a:rPr>
                        <a:t>مستوى التحصيل الدراسي</a:t>
                      </a:r>
                      <a:endParaRPr lang="ar-EG" sz="1400" dirty="0">
                        <a:latin typeface="Tahoma" charset="0"/>
                        <a:ea typeface="Tahoma" charset="0"/>
                        <a:cs typeface="Tahoma" charset="0"/>
                      </a:endParaRPr>
                    </a:p>
                  </a:txBody>
                  <a:tcPr marL="127000" marR="127000" marT="88900" marB="88900">
                    <a:lnL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9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A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28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5E687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5808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b="1" dirty="0">
                <a:solidFill>
                  <a:srgbClr val="E9A23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الخلاصة</a:t>
            </a:r>
            <a:endParaRPr lang="ar-EG" sz="1200" dirty="0"/>
          </a:p>
        </p:txBody>
      </p:sp>
      <p:sp>
        <p:nvSpPr>
          <p:cNvPr id="3" name="Text 1"/>
          <p:cNvSpPr/>
          <p:nvPr/>
        </p:nvSpPr>
        <p:spPr>
          <a:xfrm>
            <a:off x="495808" y="1127758"/>
            <a:ext cx="10883392" cy="55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4140"/>
              </a:lnSpc>
              <a:buNone/>
            </a:pPr>
            <a:r>
              <a:rPr lang="ar-EG" sz="36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الذي يجب أن تتذكره؟</a:t>
            </a:r>
            <a:endParaRPr lang="ar-EG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58342"/>
            <a:ext cx="3386614" cy="2540000"/>
          </a:xfrm>
          <a:prstGeom prst="roundRect">
            <a:avLst>
              <a:gd name="adj" fmla="val 4000"/>
            </a:avLst>
          </a:prstGeom>
          <a:solidFill>
            <a:srgbClr val="2E3C52"/>
          </a:solidFill>
          <a:ln/>
        </p:spPr>
      </p:sp>
      <p:sp>
        <p:nvSpPr>
          <p:cNvPr id="5" name="Shape 3"/>
          <p:cNvSpPr/>
          <p:nvPr/>
        </p:nvSpPr>
        <p:spPr>
          <a:xfrm>
            <a:off x="3589814" y="22123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</p:sp>
      <p:sp>
        <p:nvSpPr>
          <p:cNvPr id="6" name="Text 4"/>
          <p:cNvSpPr/>
          <p:nvPr/>
        </p:nvSpPr>
        <p:spPr>
          <a:xfrm>
            <a:off x="3685540" y="2301242"/>
            <a:ext cx="16406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0442" y="2694942"/>
            <a:ext cx="296497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محرر البيانات</a:t>
            </a:r>
            <a:endParaRPr lang="ar-EG" sz="2000" dirty="0"/>
          </a:p>
        </p:txBody>
      </p:sp>
      <p:sp>
        <p:nvSpPr>
          <p:cNvPr id="8" name="Text 6"/>
          <p:cNvSpPr/>
          <p:nvPr/>
        </p:nvSpPr>
        <p:spPr>
          <a:xfrm>
            <a:off x="980442" y="3139442"/>
            <a:ext cx="2964972" cy="1130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Variable View لتعريف خصائص المتغيرات، وData View لإدخال البيانات: الصفوف حالات والأعمدة متغيرات.</a:t>
            </a:r>
            <a:endParaRPr lang="ar-EG" sz="1500" dirty="0"/>
          </a:p>
        </p:txBody>
      </p:sp>
      <p:sp>
        <p:nvSpPr>
          <p:cNvPr id="9" name="Shape 7"/>
          <p:cNvSpPr/>
          <p:nvPr/>
        </p:nvSpPr>
        <p:spPr>
          <a:xfrm>
            <a:off x="4402614" y="1958342"/>
            <a:ext cx="3386693" cy="2540000"/>
          </a:xfrm>
          <a:prstGeom prst="roundRect">
            <a:avLst>
              <a:gd name="adj" fmla="val 4000"/>
            </a:avLst>
          </a:prstGeom>
          <a:solidFill>
            <a:srgbClr val="2E3C52"/>
          </a:solidFill>
          <a:ln/>
        </p:spPr>
      </p:sp>
      <p:sp>
        <p:nvSpPr>
          <p:cNvPr id="10" name="Shape 8"/>
          <p:cNvSpPr/>
          <p:nvPr/>
        </p:nvSpPr>
        <p:spPr>
          <a:xfrm>
            <a:off x="7179707" y="22123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</p:sp>
      <p:sp>
        <p:nvSpPr>
          <p:cNvPr id="11" name="Text 9"/>
          <p:cNvSpPr/>
          <p:nvPr/>
        </p:nvSpPr>
        <p:spPr>
          <a:xfrm>
            <a:off x="7275433" y="2301242"/>
            <a:ext cx="16406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0253" y="2694942"/>
            <a:ext cx="29650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برنامج SPSS</a:t>
            </a:r>
            <a:endParaRPr lang="ar-EG" sz="2000" dirty="0"/>
          </a:p>
        </p:txBody>
      </p:sp>
      <p:sp>
        <p:nvSpPr>
          <p:cNvPr id="13" name="Text 11"/>
          <p:cNvSpPr/>
          <p:nvPr/>
        </p:nvSpPr>
        <p:spPr>
          <a:xfrm>
            <a:off x="4570253" y="3139442"/>
            <a:ext cx="2965054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نافذة محرر البيانات لإدخال البيانات، ونافذة عرض المخرجات للنتائج.</a:t>
            </a:r>
            <a:endParaRPr lang="ar-EG" sz="1500" dirty="0"/>
          </a:p>
        </p:txBody>
      </p:sp>
      <p:sp>
        <p:nvSpPr>
          <p:cNvPr id="14" name="Shape 12"/>
          <p:cNvSpPr/>
          <p:nvPr/>
        </p:nvSpPr>
        <p:spPr>
          <a:xfrm>
            <a:off x="7992507" y="1958342"/>
            <a:ext cx="3386693" cy="2540000"/>
          </a:xfrm>
          <a:prstGeom prst="roundRect">
            <a:avLst>
              <a:gd name="adj" fmla="val 4000"/>
            </a:avLst>
          </a:prstGeom>
          <a:solidFill>
            <a:srgbClr val="2E3C5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9600" y="2212342"/>
            <a:ext cx="355600" cy="355600"/>
          </a:xfrm>
          <a:prstGeom prst="roundRect">
            <a:avLst>
              <a:gd name="adj" fmla="val 50000"/>
            </a:avLst>
          </a:prstGeom>
          <a:solidFill>
            <a:srgbClr val="E9A23B"/>
          </a:solidFill>
          <a:ln/>
        </p:spPr>
      </p:sp>
      <p:sp>
        <p:nvSpPr>
          <p:cNvPr id="16" name="Text 14"/>
          <p:cNvSpPr/>
          <p:nvPr/>
        </p:nvSpPr>
        <p:spPr>
          <a:xfrm>
            <a:off x="10865327" y="2301242"/>
            <a:ext cx="16406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1423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60146" y="2694942"/>
            <a:ext cx="29650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500"/>
              </a:lnSpc>
              <a:buNone/>
            </a:pPr>
            <a:r>
              <a:rPr lang="ar-EG" sz="2000" b="1" dirty="0">
                <a:solidFill>
                  <a:srgbClr val="F6F4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المتغير</a:t>
            </a:r>
            <a:endParaRPr lang="ar-EG" sz="2000" dirty="0"/>
          </a:p>
        </p:txBody>
      </p:sp>
      <p:sp>
        <p:nvSpPr>
          <p:cNvPr id="18" name="Text 16"/>
          <p:cNvSpPr/>
          <p:nvPr/>
        </p:nvSpPr>
        <p:spPr>
          <a:xfrm>
            <a:off x="8160146" y="3139442"/>
            <a:ext cx="2965054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2175"/>
              </a:lnSpc>
              <a:buNone/>
            </a:pPr>
            <a:r>
              <a:rPr lang="ar-EG" sz="15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وصفي (Nominal أو Ordinal) أو كمي (Scale). الأرقام التعريفية مثل ID متغيرات اسمية.</a:t>
            </a:r>
            <a:endParaRPr lang="ar-EG" sz="1500" dirty="0"/>
          </a:p>
        </p:txBody>
      </p:sp>
      <p:sp>
        <p:nvSpPr>
          <p:cNvPr id="19" name="Text 17"/>
          <p:cNvSpPr/>
          <p:nvPr/>
        </p:nvSpPr>
        <p:spPr>
          <a:xfrm>
            <a:off x="762000" y="6238242"/>
            <a:ext cx="2448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29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086755" y="6238242"/>
            <a:ext cx="229244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 rtl="1">
              <a:lnSpc>
                <a:spcPts val="1680"/>
              </a:lnSpc>
              <a:buNone/>
            </a:pPr>
            <a:r>
              <a:rPr lang="ar-EG" sz="1200" dirty="0">
                <a:solidFill>
                  <a:srgbClr val="B9CCE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Computer Application · سكشن 1</a:t>
            </a:r>
            <a:endParaRPr lang="ar-EG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1982</Words>
  <Application>Microsoft Office PowerPoint</Application>
  <PresentationFormat>Widescreen</PresentationFormat>
  <Paragraphs>639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Courier New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سكشن 1 — مقدمة في SPSS</dc:title>
  <dc:subject>PptxGenJS Presentation</dc:subject>
  <dc:creator>PptxGenJS</dc:creator>
  <cp:lastModifiedBy>Mohamed Asim Mohamed Hassan Ali</cp:lastModifiedBy>
  <cp:revision>2</cp:revision>
  <dcterms:created xsi:type="dcterms:W3CDTF">2026-09-26T20:31:42Z</dcterms:created>
  <dcterms:modified xsi:type="dcterms:W3CDTF">2026-09-26T20:58:13Z</dcterms:modified>
</cp:coreProperties>
</file>